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557" r:id="rId2"/>
    <p:sldId id="558" r:id="rId3"/>
    <p:sldId id="560" r:id="rId4"/>
    <p:sldId id="559" r:id="rId5"/>
    <p:sldId id="561" r:id="rId6"/>
    <p:sldId id="562" r:id="rId7"/>
    <p:sldId id="563" r:id="rId8"/>
    <p:sldId id="564" r:id="rId9"/>
    <p:sldId id="565" r:id="rId10"/>
  </p:sldIdLst>
  <p:sldSz cx="9144000" cy="6858000" type="screen4x3"/>
  <p:notesSz cx="9144000" cy="6858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42" autoAdjust="0"/>
    <p:restoredTop sz="81462" autoAdjust="0"/>
  </p:normalViewPr>
  <p:slideViewPr>
    <p:cSldViewPr>
      <p:cViewPr varScale="1">
        <p:scale>
          <a:sx n="83" d="100"/>
          <a:sy n="83" d="100"/>
        </p:scale>
        <p:origin x="104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4" d="100"/>
          <a:sy n="74" d="100"/>
        </p:scale>
        <p:origin x="-942" y="-102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88D371-AB36-448C-A9B3-0FE2A5CD332F}" type="datetimeFigureOut">
              <a:rPr lang="ko-KR" altLang="en-US" smtClean="0"/>
              <a:pPr/>
              <a:t>2025-09-29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9BFB53-EAA6-4F99-808C-591C218867F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206881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68C417F-F973-452D-AA14-33E34B2B6958}" type="datetimeFigureOut">
              <a:rPr lang="ko-KR" altLang="en-US"/>
              <a:pPr>
                <a:defRPr/>
              </a:pPr>
              <a:t>2025-09-29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0B0025B-6956-463F-B696-8ED2A7BD3F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19929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344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5609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5131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6286500"/>
            <a:ext cx="9144000" cy="1588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가는안상수체" pitchFamily="2" charset="-127"/>
                <a:ea typeface="가는안상수체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가는안상수체" pitchFamily="2" charset="-127"/>
                <a:ea typeface="가는안상수체" pitchFamily="2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 userDrawn="1"/>
        </p:nvCxnSpPr>
        <p:spPr>
          <a:xfrm>
            <a:off x="0" y="6286500"/>
            <a:ext cx="9144000" cy="1588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28596" y="642918"/>
            <a:ext cx="8229600" cy="857248"/>
          </a:xfrm>
        </p:spPr>
        <p:txBody>
          <a:bodyPr/>
          <a:lstStyle>
            <a:lvl1pPr>
              <a:defRPr sz="3200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>
                <a:latin typeface="+mn-ea"/>
                <a:ea typeface="+mn-ea"/>
              </a:defRPr>
            </a:lvl1pPr>
            <a:lvl2pPr>
              <a:defRPr sz="20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1"/>
          </p:nvPr>
        </p:nvSpPr>
        <p:spPr>
          <a:xfrm>
            <a:off x="0" y="0"/>
            <a:ext cx="9144000" cy="428625"/>
          </a:xfrm>
          <a:noFill/>
          <a:ln>
            <a:noFill/>
          </a:ln>
        </p:spPr>
        <p:txBody>
          <a:bodyPr/>
          <a:lstStyle>
            <a:lvl1pPr>
              <a:defRPr sz="1400">
                <a:latin typeface="+mn-ea"/>
                <a:ea typeface="+mn-ea"/>
              </a:defRPr>
            </a:lvl1pPr>
            <a:lvl2pPr algn="l">
              <a:buNone/>
              <a:defRPr sz="16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2"/>
          </p:nvPr>
        </p:nvSpPr>
        <p:spPr>
          <a:xfrm>
            <a:off x="0" y="6286500"/>
            <a:ext cx="9144000" cy="5715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 txBox="1">
            <a:spLocks/>
          </p:cNvSpPr>
          <p:nvPr userDrawn="1"/>
        </p:nvSpPr>
        <p:spPr>
          <a:xfrm>
            <a:off x="0" y="6286500"/>
            <a:ext cx="9144000" cy="571500"/>
          </a:xfrm>
          <a:prstGeom prst="rect">
            <a:avLst/>
          </a:prstGeom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rPr>
              <a:t>Dongduk</a:t>
            </a:r>
            <a:r>
              <a:rPr kumimoji="0" lang="en-US" altLang="ko-KR" sz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rPr>
              <a:t> Women's University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rPr>
              <a:t>Graduate School of Fashion</a:t>
            </a:r>
            <a:endParaRPr kumimoji="0" lang="ko-KR" altLang="en-US" sz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안상수2006가는" pitchFamily="18" charset="-127"/>
                <a:ea typeface="안상수2006가는" pitchFamily="18" charset="-127"/>
              </a:defRPr>
            </a:lvl1pPr>
            <a:lvl2pPr>
              <a:defRPr sz="2400">
                <a:latin typeface="안상수2006가는" pitchFamily="18" charset="-127"/>
                <a:ea typeface="안상수2006가는" pitchFamily="18" charset="-127"/>
              </a:defRPr>
            </a:lvl2pPr>
            <a:lvl3pPr>
              <a:defRPr sz="2000">
                <a:latin typeface="안상수2006가는" pitchFamily="18" charset="-127"/>
                <a:ea typeface="안상수2006가는" pitchFamily="18" charset="-127"/>
              </a:defRPr>
            </a:lvl3pPr>
            <a:lvl4pPr>
              <a:defRPr sz="1800">
                <a:latin typeface="안상수2006가는" pitchFamily="18" charset="-127"/>
                <a:ea typeface="안상수2006가는" pitchFamily="18" charset="-127"/>
              </a:defRPr>
            </a:lvl4pPr>
            <a:lvl5pPr>
              <a:defRPr sz="1800">
                <a:latin typeface="안상수2006가는" pitchFamily="18" charset="-127"/>
                <a:ea typeface="안상수2006가는" pitchFamily="18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가는안상수체" pitchFamily="2" charset="-127"/>
                <a:ea typeface="가는안상수체" pitchFamily="2" charset="-127"/>
              </a:defRPr>
            </a:lvl1pPr>
            <a:lvl2pPr>
              <a:defRPr sz="2400">
                <a:latin typeface="가는안상수체" pitchFamily="2" charset="-127"/>
                <a:ea typeface="가는안상수체" pitchFamily="2" charset="-127"/>
              </a:defRPr>
            </a:lvl2pPr>
            <a:lvl3pPr>
              <a:defRPr sz="2000">
                <a:latin typeface="가는안상수체" pitchFamily="2" charset="-127"/>
                <a:ea typeface="가는안상수체" pitchFamily="2" charset="-127"/>
              </a:defRPr>
            </a:lvl3pPr>
            <a:lvl4pPr>
              <a:defRPr sz="1800">
                <a:latin typeface="가는안상수체" pitchFamily="2" charset="-127"/>
                <a:ea typeface="가는안상수체" pitchFamily="2" charset="-127"/>
              </a:defRPr>
            </a:lvl4pPr>
            <a:lvl5pPr>
              <a:defRPr sz="1800">
                <a:latin typeface="가는안상수체" pitchFamily="2" charset="-127"/>
                <a:ea typeface="가는안상수체" pitchFamily="2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70450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500063"/>
            <a:ext cx="8229600" cy="91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0" y="6215063"/>
            <a:ext cx="9144000" cy="642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/>
          </a:p>
        </p:txBody>
      </p:sp>
      <p:cxnSp>
        <p:nvCxnSpPr>
          <p:cNvPr id="9" name="직선 연결선 8"/>
          <p:cNvCxnSpPr/>
          <p:nvPr/>
        </p:nvCxnSpPr>
        <p:spPr>
          <a:xfrm>
            <a:off x="0" y="6286500"/>
            <a:ext cx="9144000" cy="1588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3" r:id="rId3"/>
    <p:sldLayoutId id="2147483814" r:id="rId4"/>
    <p:sldLayoutId id="2147483816" r:id="rId5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+mj-ea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안상수2006가는" pitchFamily="18" charset="-127"/>
          <a:ea typeface="안상수2006가는" pitchFamily="18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안상수2006가는" pitchFamily="18" charset="-127"/>
          <a:ea typeface="안상수2006가는" pitchFamily="18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안상수2006가는" pitchFamily="18" charset="-127"/>
          <a:ea typeface="안상수2006가는" pitchFamily="18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안상수2006가는" pitchFamily="18" charset="-127"/>
          <a:ea typeface="안상수2006가는" pitchFamily="18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가는안상수체" pitchFamily="2" charset="-127"/>
          <a:ea typeface="가는안상수체" pitchFamily="2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가는안상수체" pitchFamily="2" charset="-127"/>
          <a:ea typeface="가는안상수체" pitchFamily="2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가는안상수체" pitchFamily="2" charset="-127"/>
          <a:ea typeface="가는안상수체" pitchFamily="2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가는안상수체" pitchFamily="2" charset="-127"/>
          <a:ea typeface="가는안상수체" pitchFamily="2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ea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18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b="1" dirty="0" smtClean="0"/>
              <a:t> 시흥의 미디어 분석 대상 찾기</a:t>
            </a:r>
            <a:r>
              <a:rPr lang="en-US" altLang="ko-KR" sz="2800" b="1" dirty="0" smtClean="0"/>
              <a:t>1 </a:t>
            </a:r>
            <a:br>
              <a:rPr lang="en-US" altLang="ko-KR" sz="2800" b="1" dirty="0" smtClean="0"/>
            </a:br>
            <a:r>
              <a:rPr lang="en-US" altLang="ko-KR" sz="2800" b="1" dirty="0" smtClean="0"/>
              <a:t>– </a:t>
            </a:r>
            <a:r>
              <a:rPr lang="ko-KR" altLang="en-US" sz="2800" b="1" dirty="0" smtClean="0"/>
              <a:t>면대면 커뮤니케이션</a:t>
            </a:r>
            <a:endParaRPr lang="ko-KR" altLang="en-US" sz="2800" b="1" dirty="0"/>
          </a:p>
        </p:txBody>
      </p:sp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457200" y="1600200"/>
            <a:ext cx="8229600" cy="4637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endParaRPr kumimoji="0" lang="en-US" altLang="ko-KR" sz="2000" dirty="0" smtClean="0"/>
          </a:p>
          <a:p>
            <a:pPr marL="457200" indent="-457200">
              <a:buAutoNum type="arabicParenR"/>
            </a:pPr>
            <a:r>
              <a:rPr lang="ko-KR" altLang="en-US" sz="2200" b="1" dirty="0" smtClean="0"/>
              <a:t>오프라인 모임</a:t>
            </a:r>
            <a:r>
              <a:rPr lang="en-US" altLang="ko-KR" sz="2200" b="1" dirty="0" smtClean="0"/>
              <a:t>/</a:t>
            </a:r>
            <a:r>
              <a:rPr lang="ko-KR" altLang="en-US" sz="2200" b="1" smtClean="0"/>
              <a:t>온라인 모임 </a:t>
            </a:r>
            <a:r>
              <a:rPr lang="ko-KR" altLang="en-US" sz="2200" b="1" dirty="0" smtClean="0"/>
              <a:t>비교하기</a:t>
            </a:r>
            <a:endParaRPr lang="en-US" altLang="ko-KR" sz="2200" b="1" dirty="0" smtClean="0"/>
          </a:p>
          <a:p>
            <a:pPr marL="0" indent="0">
              <a:buNone/>
            </a:pPr>
            <a:endParaRPr lang="en-US" altLang="ko-KR" sz="2200" b="1" dirty="0"/>
          </a:p>
          <a:p>
            <a:pPr marL="0" indent="0">
              <a:buNone/>
            </a:pPr>
            <a:r>
              <a:rPr lang="en-US" altLang="ko-KR" sz="2200" b="1" dirty="0" smtClean="0"/>
              <a:t> </a:t>
            </a:r>
            <a:r>
              <a:rPr lang="en-US" altLang="ko-KR" sz="2200" dirty="0" smtClean="0"/>
              <a:t>- </a:t>
            </a:r>
            <a:r>
              <a:rPr lang="ko-KR" altLang="en-US" sz="2200" dirty="0" smtClean="0"/>
              <a:t>면대면 대화에서만 풍부하게 사용할 수 있는 비언어적 언어가</a:t>
            </a:r>
            <a:endParaRPr lang="en-US" altLang="ko-KR" sz="2200" dirty="0" smtClean="0"/>
          </a:p>
          <a:p>
            <a:pPr marL="0" indent="0">
              <a:buNone/>
            </a:pPr>
            <a:r>
              <a:rPr lang="en-US" altLang="ko-KR" sz="2200" dirty="0"/>
              <a:t> </a:t>
            </a:r>
            <a:r>
              <a:rPr lang="ko-KR" altLang="en-US" sz="2200" dirty="0" smtClean="0"/>
              <a:t>오프라인 모임의 성격을 어떻게 다르게 하는가에 초점</a:t>
            </a:r>
            <a:endParaRPr lang="en-US" altLang="ko-KR" sz="2200" dirty="0" smtClean="0"/>
          </a:p>
          <a:p>
            <a:pPr marL="0" indent="0">
              <a:buNone/>
            </a:pPr>
            <a:r>
              <a:rPr lang="en-US" altLang="ko-KR" sz="2200" dirty="0" smtClean="0"/>
              <a:t>    * </a:t>
            </a:r>
            <a:r>
              <a:rPr lang="ko-KR" altLang="en-US" sz="2200" dirty="0" smtClean="0"/>
              <a:t>비언어적 언어</a:t>
            </a:r>
            <a:r>
              <a:rPr lang="en-US" altLang="ko-KR" sz="2200" dirty="0" smtClean="0"/>
              <a:t>(non-verbal language)</a:t>
            </a:r>
          </a:p>
          <a:p>
            <a:pPr marL="0" indent="0">
              <a:buNone/>
            </a:pPr>
            <a:r>
              <a:rPr lang="en-US" altLang="ko-KR" sz="2200" dirty="0"/>
              <a:t> </a:t>
            </a:r>
            <a:r>
              <a:rPr lang="en-US" altLang="ko-KR" sz="2200" dirty="0" smtClean="0"/>
              <a:t>      </a:t>
            </a:r>
            <a:r>
              <a:rPr lang="ko-KR" altLang="en-US" sz="2200" dirty="0" err="1" smtClean="0"/>
              <a:t>신체언어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의상</a:t>
            </a:r>
            <a:r>
              <a:rPr lang="en-US" altLang="ko-KR" sz="2200" dirty="0" smtClean="0"/>
              <a:t>/</a:t>
            </a:r>
            <a:r>
              <a:rPr lang="ko-KR" altLang="en-US" sz="2200" dirty="0" smtClean="0"/>
              <a:t>장신구</a:t>
            </a:r>
            <a:r>
              <a:rPr lang="en-US" altLang="ko-KR" sz="2200" dirty="0" smtClean="0"/>
              <a:t>, </a:t>
            </a:r>
            <a:r>
              <a:rPr lang="ko-KR" altLang="en-US" sz="2200" dirty="0" err="1" smtClean="0"/>
              <a:t>준언어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거리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접촉</a:t>
            </a:r>
            <a:endParaRPr lang="en-US" altLang="ko-KR" sz="2200" dirty="0" smtClean="0"/>
          </a:p>
          <a:p>
            <a:pPr marL="0" indent="0">
              <a:buNone/>
            </a:pPr>
            <a:r>
              <a:rPr lang="en-US" altLang="ko-KR" sz="2200" dirty="0"/>
              <a:t> </a:t>
            </a:r>
          </a:p>
          <a:p>
            <a:pPr marL="0" indent="0">
              <a:buNone/>
            </a:pPr>
            <a:r>
              <a:rPr lang="en-US" altLang="ko-KR" sz="2200" dirty="0" smtClean="0"/>
              <a:t> </a:t>
            </a:r>
            <a:r>
              <a:rPr lang="ko-KR" altLang="en-US" sz="2200" dirty="0" smtClean="0"/>
              <a:t>주의사항</a:t>
            </a:r>
            <a:r>
              <a:rPr lang="en-US" altLang="ko-KR" sz="2200" dirty="0" smtClean="0"/>
              <a:t>) </a:t>
            </a:r>
            <a:r>
              <a:rPr lang="ko-KR" altLang="en-US" sz="2200" dirty="0" smtClean="0"/>
              <a:t>대학 친구들의 모임이나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전국적인 모임은 분석대상</a:t>
            </a:r>
            <a:r>
              <a:rPr lang="en-US" altLang="ko-KR" sz="2200" dirty="0" smtClean="0"/>
              <a:t>X</a:t>
            </a:r>
          </a:p>
          <a:p>
            <a:pPr marL="0" indent="0">
              <a:buNone/>
            </a:pPr>
            <a:endParaRPr lang="en-US" altLang="ko-KR" sz="2200" dirty="0" smtClean="0"/>
          </a:p>
          <a:p>
            <a:endParaRPr lang="en-US" altLang="ko-KR" sz="2200" dirty="0" smtClean="0"/>
          </a:p>
        </p:txBody>
      </p:sp>
      <p:sp>
        <p:nvSpPr>
          <p:cNvPr id="4" name="아래쪽 리본 3"/>
          <p:cNvSpPr/>
          <p:nvPr/>
        </p:nvSpPr>
        <p:spPr>
          <a:xfrm>
            <a:off x="1763688" y="620688"/>
            <a:ext cx="285752" cy="187765"/>
          </a:xfrm>
          <a:prstGeom prst="ribbon">
            <a:avLst/>
          </a:prstGeom>
          <a:solidFill>
            <a:srgbClr val="7030A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343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b="1" dirty="0" smtClean="0"/>
              <a:t> 시흥의 미디어 분석 대상 찾기</a:t>
            </a:r>
            <a:r>
              <a:rPr lang="en-US" altLang="ko-KR" sz="2800" b="1" dirty="0" smtClean="0"/>
              <a:t> </a:t>
            </a:r>
            <a:br>
              <a:rPr lang="en-US" altLang="ko-KR" sz="2800" b="1" dirty="0" smtClean="0"/>
            </a:br>
            <a:r>
              <a:rPr lang="en-US" altLang="ko-KR" sz="2800" b="1" dirty="0" smtClean="0"/>
              <a:t>– </a:t>
            </a:r>
            <a:r>
              <a:rPr lang="ko-KR" altLang="en-US" sz="2800" b="1" dirty="0" smtClean="0"/>
              <a:t>면대면 커뮤니케이션</a:t>
            </a:r>
            <a:endParaRPr lang="ko-KR" altLang="en-US" sz="2800" b="1" dirty="0"/>
          </a:p>
        </p:txBody>
      </p:sp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457200" y="1600200"/>
            <a:ext cx="8229600" cy="4637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200" b="1" dirty="0" smtClean="0"/>
          </a:p>
          <a:p>
            <a:pPr marL="0" indent="0">
              <a:buNone/>
            </a:pPr>
            <a:r>
              <a:rPr lang="en-US" altLang="ko-KR" sz="2200" b="1" dirty="0" smtClean="0"/>
              <a:t>2) </a:t>
            </a:r>
            <a:r>
              <a:rPr lang="ko-KR" altLang="en-US" sz="2200" b="1" dirty="0" smtClean="0"/>
              <a:t>지역에 대한 대화</a:t>
            </a:r>
            <a:endParaRPr lang="en-US" altLang="ko-KR" sz="2200" b="1" dirty="0" smtClean="0"/>
          </a:p>
          <a:p>
            <a:r>
              <a:rPr lang="ko-KR" altLang="en-US" sz="2200" dirty="0" smtClean="0"/>
              <a:t>시흥시의 지역 이슈나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자연경관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공공시설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음식점이나 상점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지역 정치 이슈 등에 대한 대화 분석</a:t>
            </a:r>
            <a:endParaRPr lang="en-US" altLang="ko-KR" sz="2200" dirty="0" smtClean="0"/>
          </a:p>
          <a:p>
            <a:pPr marL="0" indent="0">
              <a:buNone/>
            </a:pPr>
            <a:r>
              <a:rPr lang="en-US" altLang="ko-KR" sz="2200" dirty="0" smtClean="0"/>
              <a:t>  - </a:t>
            </a:r>
            <a:r>
              <a:rPr lang="ko-KR" altLang="en-US" sz="2200" dirty="0" smtClean="0"/>
              <a:t>대화 주제에 초점 </a:t>
            </a:r>
          </a:p>
          <a:p>
            <a:pPr marL="0" indent="0">
              <a:buNone/>
            </a:pPr>
            <a:endParaRPr lang="en-US" altLang="ko-KR" sz="2200" b="1" dirty="0" smtClean="0"/>
          </a:p>
          <a:p>
            <a:pPr marL="0" indent="0">
              <a:buNone/>
            </a:pPr>
            <a:r>
              <a:rPr lang="en-US" altLang="ko-KR" sz="2200" b="1" dirty="0" smtClean="0"/>
              <a:t>3) </a:t>
            </a:r>
            <a:r>
              <a:rPr lang="ko-KR" altLang="en-US" sz="2200" b="1" dirty="0" smtClean="0"/>
              <a:t>지역 기반 모임</a:t>
            </a:r>
            <a:r>
              <a:rPr lang="en-US" altLang="ko-KR" sz="2200" b="1" dirty="0" smtClean="0"/>
              <a:t>, </a:t>
            </a:r>
            <a:r>
              <a:rPr lang="ko-KR" altLang="en-US" sz="2200" b="1" dirty="0" smtClean="0"/>
              <a:t>단체의 커뮤니케이션</a:t>
            </a:r>
            <a:endParaRPr lang="en-US" altLang="ko-KR" sz="22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200" dirty="0" smtClean="0"/>
              <a:t>이런 모임이 지역에 대한 소속감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애착심</a:t>
            </a:r>
            <a:r>
              <a:rPr lang="en-US" altLang="ko-KR" sz="2200" dirty="0" smtClean="0"/>
              <a:t>(</a:t>
            </a:r>
            <a:r>
              <a:rPr lang="ko-KR" altLang="en-US" sz="2200" dirty="0" smtClean="0"/>
              <a:t>또는 실망감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환멸</a:t>
            </a:r>
            <a:r>
              <a:rPr lang="en-US" altLang="ko-KR" sz="2200" dirty="0" smtClean="0"/>
              <a:t>)</a:t>
            </a:r>
            <a:r>
              <a:rPr lang="ko-KR" altLang="en-US" sz="2200" dirty="0" smtClean="0"/>
              <a:t>을 어떻게 생산하는가에 초점</a:t>
            </a:r>
            <a:endParaRPr lang="en-US" altLang="ko-KR" sz="2200" dirty="0" smtClean="0"/>
          </a:p>
          <a:p>
            <a:pPr marL="0" indent="0">
              <a:buNone/>
            </a:pPr>
            <a:r>
              <a:rPr lang="en-US" altLang="ko-KR" sz="2200" dirty="0" smtClean="0"/>
              <a:t>  - </a:t>
            </a:r>
            <a:r>
              <a:rPr lang="ko-KR" altLang="en-US" sz="2200" dirty="0" smtClean="0"/>
              <a:t>면대면 대화 및 온라인 대화 모두를 포괄해도 좋음</a:t>
            </a:r>
            <a:endParaRPr lang="en-US" altLang="ko-KR" sz="2200" dirty="0" smtClean="0"/>
          </a:p>
          <a:p>
            <a:pPr marL="0" indent="0">
              <a:buNone/>
            </a:pPr>
            <a:endParaRPr lang="en-US" altLang="ko-KR" sz="2200" dirty="0" smtClean="0"/>
          </a:p>
        </p:txBody>
      </p:sp>
      <p:sp>
        <p:nvSpPr>
          <p:cNvPr id="4" name="아래쪽 리본 3"/>
          <p:cNvSpPr/>
          <p:nvPr/>
        </p:nvSpPr>
        <p:spPr>
          <a:xfrm>
            <a:off x="1763688" y="620688"/>
            <a:ext cx="285752" cy="187765"/>
          </a:xfrm>
          <a:prstGeom prst="ribbon">
            <a:avLst/>
          </a:prstGeom>
          <a:solidFill>
            <a:srgbClr val="7030A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9465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b="1" dirty="0" smtClean="0"/>
              <a:t> 시흥의 미디어 분석 대상 찾기</a:t>
            </a:r>
            <a:r>
              <a:rPr lang="en-US" altLang="ko-KR" sz="2800" b="1" dirty="0" smtClean="0"/>
              <a:t>1 </a:t>
            </a:r>
            <a:br>
              <a:rPr lang="en-US" altLang="ko-KR" sz="2800" b="1" dirty="0" smtClean="0"/>
            </a:br>
            <a:r>
              <a:rPr lang="en-US" altLang="ko-KR" sz="2800" b="1" dirty="0" smtClean="0"/>
              <a:t>– </a:t>
            </a:r>
            <a:r>
              <a:rPr lang="ko-KR" altLang="en-US" sz="2800" b="1" dirty="0" smtClean="0"/>
              <a:t>면대면 커뮤니케이션</a:t>
            </a:r>
            <a:endParaRPr lang="ko-KR" altLang="en-US" sz="2800" b="1" dirty="0"/>
          </a:p>
        </p:txBody>
      </p:sp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457200" y="1600200"/>
            <a:ext cx="8229600" cy="4637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200" b="1" dirty="0" smtClean="0"/>
          </a:p>
          <a:p>
            <a:pPr marL="0" indent="0">
              <a:buNone/>
            </a:pPr>
            <a:r>
              <a:rPr lang="en-US" altLang="ko-KR" sz="2200" b="1" dirty="0"/>
              <a:t>4</a:t>
            </a:r>
            <a:r>
              <a:rPr lang="en-US" altLang="ko-KR" sz="2200" b="1" dirty="0" smtClean="0"/>
              <a:t>) </a:t>
            </a:r>
            <a:r>
              <a:rPr lang="ko-KR" altLang="en-US" sz="2200" b="1" dirty="0" smtClean="0"/>
              <a:t>이웃주민과의 일상적인 교류 방식</a:t>
            </a:r>
            <a:endParaRPr lang="en-US" altLang="ko-KR" sz="2200" b="1" dirty="0" smtClean="0"/>
          </a:p>
          <a:p>
            <a:pPr marL="0" indent="0">
              <a:buNone/>
            </a:pPr>
            <a:endParaRPr lang="en-US" altLang="ko-KR" sz="2200" b="1" dirty="0" smtClean="0"/>
          </a:p>
          <a:p>
            <a:r>
              <a:rPr lang="ko-KR" altLang="en-US" sz="2200" dirty="0" smtClean="0"/>
              <a:t>이전에 살던 곳과 비교</a:t>
            </a:r>
            <a:endParaRPr lang="en-US" altLang="ko-KR" sz="2200" dirty="0" smtClean="0"/>
          </a:p>
          <a:p>
            <a:pPr marL="0" indent="0">
              <a:buNone/>
            </a:pPr>
            <a:r>
              <a:rPr lang="en-US" altLang="ko-KR" sz="2200" dirty="0"/>
              <a:t> </a:t>
            </a:r>
            <a:r>
              <a:rPr lang="en-US" altLang="ko-KR" sz="2200" dirty="0" smtClean="0"/>
              <a:t>  - </a:t>
            </a:r>
            <a:r>
              <a:rPr lang="ko-KR" altLang="en-US" sz="2200" dirty="0" smtClean="0"/>
              <a:t>엘리베이터 안에서의 상호작용 방식</a:t>
            </a:r>
            <a:endParaRPr lang="en-US" altLang="ko-KR" sz="2200" dirty="0" smtClean="0"/>
          </a:p>
          <a:p>
            <a:pPr marL="0" indent="0">
              <a:buNone/>
            </a:pPr>
            <a:r>
              <a:rPr lang="en-US" altLang="ko-KR" sz="2200" dirty="0"/>
              <a:t> </a:t>
            </a:r>
            <a:r>
              <a:rPr lang="en-US" altLang="ko-KR" sz="2200" dirty="0" smtClean="0"/>
              <a:t>  - </a:t>
            </a:r>
            <a:r>
              <a:rPr lang="ko-KR" altLang="en-US" sz="2200" dirty="0" smtClean="0"/>
              <a:t>이웃주민과의 교류 양상</a:t>
            </a:r>
            <a:endParaRPr lang="en-US" altLang="ko-KR" sz="2200" dirty="0" smtClean="0"/>
          </a:p>
          <a:p>
            <a:pPr marL="0" indent="0">
              <a:buNone/>
            </a:pPr>
            <a:endParaRPr lang="en-US" altLang="ko-KR" sz="2200" dirty="0"/>
          </a:p>
          <a:p>
            <a:pPr marL="0" indent="0">
              <a:buNone/>
            </a:pPr>
            <a:r>
              <a:rPr lang="ko-KR" altLang="en-US" sz="2200" dirty="0" smtClean="0"/>
              <a:t>도시형 </a:t>
            </a:r>
            <a:r>
              <a:rPr lang="en-US" altLang="ko-KR" sz="2200" dirty="0" smtClean="0"/>
              <a:t>vs. </a:t>
            </a:r>
            <a:r>
              <a:rPr lang="ko-KR" altLang="en-US" sz="2200" dirty="0" smtClean="0"/>
              <a:t>전통적 </a:t>
            </a:r>
            <a:r>
              <a:rPr lang="ko-KR" altLang="en-US" sz="2200" dirty="0" err="1" smtClean="0"/>
              <a:t>공동체형</a:t>
            </a:r>
            <a:endParaRPr lang="en-US" altLang="ko-KR" sz="2200" dirty="0" smtClean="0"/>
          </a:p>
          <a:p>
            <a:pPr marL="0" indent="0">
              <a:buNone/>
            </a:pPr>
            <a:r>
              <a:rPr lang="en-US" altLang="ko-KR" sz="2200" dirty="0"/>
              <a:t> </a:t>
            </a:r>
            <a:r>
              <a:rPr lang="en-US" altLang="ko-KR" sz="2200" dirty="0" smtClean="0"/>
              <a:t> - </a:t>
            </a:r>
            <a:r>
              <a:rPr lang="ko-KR" altLang="en-US" sz="2200" dirty="0" smtClean="0"/>
              <a:t>이웃과의 면대면 대화가 </a:t>
            </a:r>
            <a:r>
              <a:rPr lang="ko-KR" altLang="en-US" sz="2200" dirty="0" err="1" smtClean="0"/>
              <a:t>삭막하지만</a:t>
            </a:r>
            <a:r>
              <a:rPr lang="ko-KR" altLang="en-US" sz="2200" dirty="0" smtClean="0"/>
              <a:t> 자유로운 도시형인지</a:t>
            </a:r>
            <a:r>
              <a:rPr lang="en-US" altLang="ko-KR" sz="2200" dirty="0" smtClean="0"/>
              <a:t>,</a:t>
            </a:r>
          </a:p>
          <a:p>
            <a:pPr marL="0" indent="0">
              <a:buNone/>
            </a:pPr>
            <a:r>
              <a:rPr lang="en-US" altLang="ko-KR" sz="2200" dirty="0"/>
              <a:t> </a:t>
            </a:r>
            <a:r>
              <a:rPr lang="en-US" altLang="ko-KR" sz="2200" dirty="0" smtClean="0"/>
              <a:t> </a:t>
            </a:r>
            <a:r>
              <a:rPr lang="ko-KR" altLang="en-US" sz="2200" dirty="0" smtClean="0"/>
              <a:t>따뜻하지만</a:t>
            </a:r>
            <a:r>
              <a:rPr lang="en-US" altLang="ko-KR" sz="2200" dirty="0"/>
              <a:t> </a:t>
            </a:r>
            <a:r>
              <a:rPr lang="ko-KR" altLang="en-US" sz="2200" dirty="0" err="1" smtClean="0"/>
              <a:t>간섭적인</a:t>
            </a:r>
            <a:r>
              <a:rPr lang="ko-KR" altLang="en-US" sz="2200" dirty="0" smtClean="0"/>
              <a:t> 공동체형인지 분석</a:t>
            </a:r>
            <a:endParaRPr lang="en-US" altLang="ko-KR" sz="2200" dirty="0" smtClean="0"/>
          </a:p>
        </p:txBody>
      </p:sp>
      <p:sp>
        <p:nvSpPr>
          <p:cNvPr id="4" name="아래쪽 리본 3"/>
          <p:cNvSpPr/>
          <p:nvPr/>
        </p:nvSpPr>
        <p:spPr>
          <a:xfrm>
            <a:off x="1763688" y="620688"/>
            <a:ext cx="285752" cy="187765"/>
          </a:xfrm>
          <a:prstGeom prst="ribbon">
            <a:avLst/>
          </a:prstGeom>
          <a:solidFill>
            <a:srgbClr val="7030A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841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b="1" dirty="0" smtClean="0"/>
              <a:t> 시흥의 미디어 분석 대상 찾기</a:t>
            </a:r>
            <a:r>
              <a:rPr lang="en-US" altLang="ko-KR" sz="2800" b="1" dirty="0" smtClean="0"/>
              <a:t>1 </a:t>
            </a:r>
            <a:br>
              <a:rPr lang="en-US" altLang="ko-KR" sz="2800" b="1" dirty="0" smtClean="0"/>
            </a:br>
            <a:r>
              <a:rPr lang="en-US" altLang="ko-KR" sz="2800" b="1" dirty="0" smtClean="0"/>
              <a:t>– </a:t>
            </a:r>
            <a:r>
              <a:rPr lang="ko-KR" altLang="en-US" sz="2800" b="1" dirty="0"/>
              <a:t>면대면 커뮤니케이션</a:t>
            </a:r>
          </a:p>
        </p:txBody>
      </p:sp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457200" y="1600200"/>
            <a:ext cx="7427168" cy="4637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altLang="ko-KR" sz="2200" b="1" dirty="0" smtClean="0"/>
              <a:t>   </a:t>
            </a:r>
            <a:r>
              <a:rPr lang="ko-KR" altLang="en-US" sz="2200" b="1" dirty="0" smtClean="0"/>
              <a:t>사례 소개</a:t>
            </a:r>
            <a:endParaRPr lang="en-US" altLang="ko-KR" sz="2200" b="1" dirty="0" smtClean="0"/>
          </a:p>
        </p:txBody>
      </p:sp>
      <p:sp>
        <p:nvSpPr>
          <p:cNvPr id="4" name="아래쪽 리본 3"/>
          <p:cNvSpPr/>
          <p:nvPr/>
        </p:nvSpPr>
        <p:spPr>
          <a:xfrm>
            <a:off x="1763688" y="620688"/>
            <a:ext cx="285752" cy="187765"/>
          </a:xfrm>
          <a:prstGeom prst="ribbon">
            <a:avLst/>
          </a:prstGeom>
          <a:solidFill>
            <a:srgbClr val="7030A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2251226"/>
            <a:ext cx="6768752" cy="396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208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b="1" dirty="0" smtClean="0"/>
              <a:t> 시흥의 미디어 분석 대상 찾기</a:t>
            </a:r>
            <a:r>
              <a:rPr lang="en-US" altLang="ko-KR" sz="2800" b="1" dirty="0"/>
              <a:t>2</a:t>
            </a:r>
            <a:r>
              <a:rPr lang="en-US" altLang="ko-KR" sz="2800" b="1" dirty="0" smtClean="0"/>
              <a:t> </a:t>
            </a:r>
            <a:br>
              <a:rPr lang="en-US" altLang="ko-KR" sz="2800" b="1" dirty="0" smtClean="0"/>
            </a:br>
            <a:r>
              <a:rPr lang="en-US" altLang="ko-KR" sz="2800" b="1" dirty="0" smtClean="0"/>
              <a:t>– </a:t>
            </a:r>
            <a:r>
              <a:rPr lang="ko-KR" altLang="en-US" sz="2800" b="1" dirty="0" smtClean="0"/>
              <a:t>문자와 인쇄물</a:t>
            </a:r>
            <a:endParaRPr lang="ko-KR" altLang="en-US" sz="2800" b="1" dirty="0"/>
          </a:p>
        </p:txBody>
      </p:sp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457200" y="1538263"/>
            <a:ext cx="8229600" cy="4699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200" b="1" dirty="0" smtClean="0"/>
          </a:p>
          <a:p>
            <a:pPr marL="0" indent="0">
              <a:buNone/>
            </a:pPr>
            <a:r>
              <a:rPr lang="en-US" altLang="ko-KR" sz="2200" b="1" dirty="0"/>
              <a:t>1</a:t>
            </a:r>
            <a:r>
              <a:rPr lang="en-US" altLang="ko-KR" sz="2200" b="1" dirty="0" smtClean="0"/>
              <a:t>) </a:t>
            </a:r>
            <a:r>
              <a:rPr lang="ko-KR" altLang="en-US" sz="2200" b="1" dirty="0" smtClean="0"/>
              <a:t>현수막</a:t>
            </a:r>
            <a:r>
              <a:rPr lang="en-US" altLang="ko-KR" sz="2200" b="1" dirty="0" smtClean="0"/>
              <a:t>/</a:t>
            </a:r>
            <a:r>
              <a:rPr lang="ko-KR" altLang="en-US" sz="2200" b="1" dirty="0" smtClean="0"/>
              <a:t>플래카드</a:t>
            </a:r>
            <a:r>
              <a:rPr lang="en-US" altLang="ko-KR" dirty="0" smtClean="0"/>
              <a:t>(</a:t>
            </a:r>
            <a:r>
              <a:rPr lang="en-US" altLang="ko-KR" dirty="0"/>
              <a:t>placard)</a:t>
            </a:r>
            <a:endParaRPr lang="en-US" altLang="ko-KR" sz="2200" b="1" dirty="0" smtClean="0"/>
          </a:p>
          <a:p>
            <a:pPr marL="0" indent="0">
              <a:buNone/>
            </a:pPr>
            <a:endParaRPr lang="en-US" altLang="ko-KR" sz="2200" dirty="0" smtClean="0"/>
          </a:p>
        </p:txBody>
      </p:sp>
      <p:sp>
        <p:nvSpPr>
          <p:cNvPr id="4" name="아래쪽 리본 3"/>
          <p:cNvSpPr/>
          <p:nvPr/>
        </p:nvSpPr>
        <p:spPr>
          <a:xfrm>
            <a:off x="1763688" y="620688"/>
            <a:ext cx="285752" cy="187765"/>
          </a:xfrm>
          <a:prstGeom prst="ribbon">
            <a:avLst/>
          </a:prstGeom>
          <a:solidFill>
            <a:srgbClr val="7030A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708920"/>
            <a:ext cx="5220072" cy="3226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394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457200" y="476673"/>
            <a:ext cx="8229600" cy="576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200" b="1" dirty="0" smtClean="0"/>
          </a:p>
          <a:p>
            <a:pPr marL="0" indent="0">
              <a:buNone/>
            </a:pPr>
            <a:endParaRPr lang="en-US" altLang="ko-KR" sz="2200" dirty="0" smtClean="0"/>
          </a:p>
        </p:txBody>
      </p:sp>
      <p:pic>
        <p:nvPicPr>
          <p:cNvPr id="1026" name="Picture 2" descr="불법현수막 내건 금왕읍…주민 현수막은 철거 &lt; 사회 &lt; 기사본문 - 충북인뉴스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43101"/>
            <a:ext cx="4632934" cy="309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경축 현수막 근황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30" y="3598058"/>
            <a:ext cx="6195243" cy="2625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2470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457200" y="476673"/>
            <a:ext cx="8229600" cy="576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200" b="1" dirty="0" smtClean="0"/>
              <a:t>2) </a:t>
            </a:r>
            <a:r>
              <a:rPr lang="ko-KR" altLang="en-US" sz="2200" b="1" dirty="0" smtClean="0"/>
              <a:t>안내문</a:t>
            </a:r>
            <a:endParaRPr lang="en-US" altLang="ko-KR" sz="2200" b="1" dirty="0" smtClean="0"/>
          </a:p>
          <a:p>
            <a:pPr marL="0" indent="0">
              <a:buNone/>
            </a:pPr>
            <a:endParaRPr lang="en-US" altLang="ko-KR" sz="2200" dirty="0" smtClean="0"/>
          </a:p>
        </p:txBody>
      </p:sp>
      <p:pic>
        <p:nvPicPr>
          <p:cNvPr id="2058" name="Picture 10" descr="우리 아파트 게시판에 붙어 있는 금연 안내문을 보면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168276"/>
            <a:ext cx="6728295" cy="5046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638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457200" y="476673"/>
            <a:ext cx="8229600" cy="576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200" b="1" dirty="0" smtClean="0"/>
          </a:p>
          <a:p>
            <a:pPr marL="0" indent="0">
              <a:buNone/>
            </a:pPr>
            <a:r>
              <a:rPr lang="en-US" altLang="ko-KR" sz="2200" b="1" dirty="0"/>
              <a:t>2</a:t>
            </a:r>
            <a:r>
              <a:rPr lang="en-US" altLang="ko-KR" sz="2200" b="1" dirty="0" smtClean="0"/>
              <a:t>) </a:t>
            </a:r>
            <a:r>
              <a:rPr lang="ko-KR" altLang="en-US" sz="2200" b="1" dirty="0" smtClean="0"/>
              <a:t>안내문</a:t>
            </a:r>
            <a:endParaRPr lang="en-US" altLang="ko-KR" sz="2200" b="1" dirty="0" smtClean="0"/>
          </a:p>
          <a:p>
            <a:pPr marL="0" indent="0">
              <a:buNone/>
            </a:pPr>
            <a:endParaRPr lang="en-US" altLang="ko-KR" sz="2200" dirty="0" smtClean="0"/>
          </a:p>
        </p:txBody>
      </p:sp>
      <p:pic>
        <p:nvPicPr>
          <p:cNvPr id="2054" name="Picture 6" descr="모이] 엘리베이터에 붙은 호소문 - 오마이뉴스 모바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484784"/>
            <a:ext cx="3507879" cy="4585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6614" y="1509498"/>
            <a:ext cx="3986808" cy="1973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1331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457200" y="332657"/>
            <a:ext cx="8229600" cy="5904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200" b="1" dirty="0" smtClean="0"/>
          </a:p>
          <a:p>
            <a:pPr marL="0" indent="0">
              <a:buNone/>
            </a:pPr>
            <a:r>
              <a:rPr lang="en-US" altLang="ko-KR" sz="2200" b="1" dirty="0" smtClean="0"/>
              <a:t>3) </a:t>
            </a:r>
            <a:r>
              <a:rPr lang="ko-KR" altLang="en-US" sz="2200" b="1" dirty="0" smtClean="0"/>
              <a:t>쪽지</a:t>
            </a:r>
            <a:endParaRPr lang="en-US" altLang="ko-KR" sz="2200" b="1" dirty="0" smtClean="0"/>
          </a:p>
          <a:p>
            <a:pPr marL="0" indent="0">
              <a:buNone/>
            </a:pPr>
            <a:endParaRPr lang="en-US" altLang="ko-KR" sz="2200" dirty="0" smtClean="0"/>
          </a:p>
        </p:txBody>
      </p:sp>
      <p:pic>
        <p:nvPicPr>
          <p:cNvPr id="1026" name="Picture 2" descr="초등학생 손편지가 녹인 '코로나19 공포'…&quot;고마워요 천사님&quot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745" y="1510375"/>
            <a:ext cx="3318199" cy="4426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s://upload2.inven.co.kr/upload/2015/09/15/bbs/i12509606697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353" y="1711330"/>
            <a:ext cx="3031228" cy="4024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430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21244</TotalTime>
  <Words>219</Words>
  <Application>Microsoft Office PowerPoint</Application>
  <PresentationFormat>화면 슬라이드 쇼(4:3)</PresentationFormat>
  <Paragraphs>46</Paragraphs>
  <Slides>9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가는안상수체</vt:lpstr>
      <vt:lpstr>굴림</vt:lpstr>
      <vt:lpstr>맑은 고딕</vt:lpstr>
      <vt:lpstr>안상수2006가는</vt:lpstr>
      <vt:lpstr>Arial</vt:lpstr>
      <vt:lpstr>Wingdings</vt:lpstr>
      <vt:lpstr>Office 테마</vt:lpstr>
      <vt:lpstr> 시흥의 미디어 분석 대상 찾기1  – 면대면 커뮤니케이션</vt:lpstr>
      <vt:lpstr> 시흥의 미디어 분석 대상 찾기  – 면대면 커뮤니케이션</vt:lpstr>
      <vt:lpstr> 시흥의 미디어 분석 대상 찾기1  – 면대면 커뮤니케이션</vt:lpstr>
      <vt:lpstr> 시흥의 미디어 분석 대상 찾기1  – 면대면 커뮤니케이션</vt:lpstr>
      <vt:lpstr> 시흥의 미디어 분석 대상 찾기2  – 문자와 인쇄물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커뮤니케이션의 개념과 모델</dc:title>
  <dc:creator>bawimul</dc:creator>
  <cp:lastModifiedBy>Windows 사용자</cp:lastModifiedBy>
  <cp:revision>1132</cp:revision>
  <dcterms:created xsi:type="dcterms:W3CDTF">2009-03-15T10:41:15Z</dcterms:created>
  <dcterms:modified xsi:type="dcterms:W3CDTF">2025-09-29T14:55:22Z</dcterms:modified>
</cp:coreProperties>
</file>