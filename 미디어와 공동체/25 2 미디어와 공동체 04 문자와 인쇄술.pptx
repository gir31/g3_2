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547" r:id="rId3"/>
    <p:sldId id="549" r:id="rId4"/>
    <p:sldId id="566" r:id="rId5"/>
    <p:sldId id="548" r:id="rId6"/>
    <p:sldId id="561" r:id="rId7"/>
    <p:sldId id="562" r:id="rId8"/>
    <p:sldId id="563" r:id="rId9"/>
    <p:sldId id="564" r:id="rId10"/>
    <p:sldId id="551" r:id="rId11"/>
    <p:sldId id="552" r:id="rId12"/>
    <p:sldId id="553" r:id="rId13"/>
    <p:sldId id="555" r:id="rId14"/>
    <p:sldId id="567" r:id="rId15"/>
    <p:sldId id="568" r:id="rId16"/>
    <p:sldId id="575" r:id="rId17"/>
    <p:sldId id="570" r:id="rId18"/>
    <p:sldId id="571" r:id="rId19"/>
    <p:sldId id="556" r:id="rId20"/>
    <p:sldId id="557" r:id="rId21"/>
    <p:sldId id="558" r:id="rId22"/>
    <p:sldId id="560" r:id="rId23"/>
    <p:sldId id="559" r:id="rId24"/>
    <p:sldId id="574" r:id="rId25"/>
    <p:sldId id="577" r:id="rId26"/>
    <p:sldId id="576" r:id="rId27"/>
  </p:sldIdLst>
  <p:sldSz cx="9144000" cy="6858000" type="screen4x3"/>
  <p:notesSz cx="9144000" cy="6858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2" autoAdjust="0"/>
    <p:restoredTop sz="81462" autoAdjust="0"/>
  </p:normalViewPr>
  <p:slideViewPr>
    <p:cSldViewPr>
      <p:cViewPr varScale="1">
        <p:scale>
          <a:sx n="83" d="100"/>
          <a:sy n="83" d="100"/>
        </p:scale>
        <p:origin x="104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942" y="-102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8D371-AB36-448C-A9B3-0FE2A5CD332F}" type="datetimeFigureOut">
              <a:rPr lang="ko-KR" altLang="en-US" smtClean="0"/>
              <a:pPr/>
              <a:t>2025-09-22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9BFB53-EAA6-4F99-808C-591C218867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0688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68C417F-F973-452D-AA14-33E34B2B6958}" type="datetimeFigureOut">
              <a:rPr lang="ko-KR" altLang="en-US"/>
              <a:pPr>
                <a:defRPr/>
              </a:pPr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0B0025B-6956-463F-B696-8ED2A7BD3F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992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5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915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0" lang="ko-KR" altLang="en-US" sz="1200" dirty="0" smtClean="0"/>
              <a:t>미첼 스티븐스</a:t>
            </a:r>
            <a:r>
              <a:rPr kumimoji="0" lang="en-US" altLang="ko-KR" sz="1200" dirty="0" smtClean="0"/>
              <a:t>, &lt;</a:t>
            </a:r>
            <a:r>
              <a:rPr kumimoji="0" lang="ko-KR" altLang="en-US" sz="1200" dirty="0" smtClean="0"/>
              <a:t>뉴스의 역사</a:t>
            </a:r>
            <a:r>
              <a:rPr kumimoji="0" lang="en-US" altLang="ko-KR" sz="1200" dirty="0" smtClean="0"/>
              <a:t>&gt;,</a:t>
            </a:r>
            <a:r>
              <a:rPr kumimoji="0" lang="en-US" altLang="ko-KR" sz="1200" baseline="0" dirty="0" smtClean="0"/>
              <a:t> 92</a:t>
            </a:r>
            <a:r>
              <a:rPr kumimoji="0" lang="ko-KR" altLang="en-US" sz="1200" baseline="0" dirty="0" smtClean="0"/>
              <a:t>쪽</a:t>
            </a:r>
            <a:endParaRPr kumimoji="0"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65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764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마셜 </a:t>
            </a:r>
            <a:r>
              <a:rPr lang="ko-KR" altLang="en-US" dirty="0" err="1" smtClean="0"/>
              <a:t>맥클루언</a:t>
            </a:r>
            <a:r>
              <a:rPr lang="en-US" altLang="ko-KR" dirty="0" smtClean="0"/>
              <a:t>, &lt;</a:t>
            </a:r>
            <a:r>
              <a:rPr lang="ko-KR" altLang="en-US" dirty="0" smtClean="0"/>
              <a:t>미디어의 이해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인간의 확장</a:t>
            </a:r>
            <a:r>
              <a:rPr lang="en-US" altLang="ko-KR" dirty="0" smtClean="0"/>
              <a:t>&gt; </a:t>
            </a:r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0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285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이시다 </a:t>
            </a:r>
            <a:r>
              <a:rPr lang="ko-KR" altLang="en-US" dirty="0" err="1" smtClean="0"/>
              <a:t>히데타카</a:t>
            </a:r>
            <a:r>
              <a:rPr lang="en-US" altLang="ko-KR" dirty="0" smtClean="0"/>
              <a:t>, &lt;</a:t>
            </a:r>
            <a:r>
              <a:rPr lang="ko-KR" altLang="en-US" dirty="0" smtClean="0"/>
              <a:t>디지털 미디어의 이해</a:t>
            </a:r>
            <a:r>
              <a:rPr lang="en-US" altLang="ko-KR" dirty="0" smtClean="0"/>
              <a:t>&gt;.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935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kumimoji="0" lang="en-US" altLang="ko-KR" sz="1200" dirty="0" err="1" smtClean="0"/>
              <a:t>mneme</a:t>
            </a:r>
            <a:r>
              <a:rPr kumimoji="0" lang="en-US" altLang="ko-KR" sz="1200" dirty="0" smtClean="0"/>
              <a:t>(</a:t>
            </a:r>
            <a:r>
              <a:rPr kumimoji="0" lang="ko-KR" altLang="en-US" sz="1200" dirty="0" err="1" smtClean="0"/>
              <a:t>므네메</a:t>
            </a:r>
            <a:r>
              <a:rPr kumimoji="0" lang="en-US" altLang="ko-KR" sz="1200" dirty="0" smtClean="0"/>
              <a:t>) – </a:t>
            </a:r>
            <a:r>
              <a:rPr kumimoji="0" lang="ko-KR" altLang="en-US" sz="1200" dirty="0" smtClean="0"/>
              <a:t>인간이 무엇에도 의지하지 않고 떠올릴 수 있는 능력</a:t>
            </a:r>
            <a:endParaRPr kumimoji="0" lang="en-US" altLang="ko-KR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kumimoji="0" lang="en-US" altLang="ko-KR" sz="1200" dirty="0" err="1" smtClean="0"/>
              <a:t>hypomnesis</a:t>
            </a:r>
            <a:r>
              <a:rPr kumimoji="0" lang="en-US" altLang="ko-KR" sz="1200" dirty="0" smtClean="0"/>
              <a:t> – </a:t>
            </a:r>
            <a:r>
              <a:rPr kumimoji="0" lang="ko-KR" altLang="en-US" sz="1200" dirty="0" err="1" smtClean="0"/>
              <a:t>유사기억</a:t>
            </a:r>
            <a:endParaRPr kumimoji="0" lang="en-US" altLang="ko-KR" sz="1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kumimoji="0" lang="en-US" altLang="ko-KR" sz="1200" dirty="0" err="1" smtClean="0"/>
              <a:t>pharmakon</a:t>
            </a:r>
            <a:r>
              <a:rPr kumimoji="0" lang="en-US" altLang="ko-KR" sz="1200" dirty="0" smtClean="0"/>
              <a:t> – </a:t>
            </a:r>
            <a:r>
              <a:rPr kumimoji="0" lang="ko-KR" altLang="en-US" sz="1200" dirty="0" smtClean="0"/>
              <a:t>묘약 </a:t>
            </a:r>
            <a:r>
              <a:rPr kumimoji="0" lang="en-US" altLang="ko-KR" sz="1200" dirty="0" smtClean="0"/>
              <a:t>= </a:t>
            </a:r>
            <a:r>
              <a:rPr kumimoji="0" lang="ko-KR" altLang="en-US" sz="1200" dirty="0" smtClean="0"/>
              <a:t>약 또는 독</a:t>
            </a:r>
            <a:endParaRPr kumimoji="0" lang="en-US" altLang="ko-KR" sz="120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252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504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ko-KR" dirty="0" smtClean="0"/>
              <a:t>&lt;</a:t>
            </a:r>
            <a:r>
              <a:rPr lang="ko-KR" altLang="en-US" dirty="0" smtClean="0"/>
              <a:t>뉴스의 역사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제</a:t>
            </a:r>
            <a:r>
              <a:rPr lang="en-US" altLang="ko-KR" dirty="0" smtClean="0"/>
              <a:t>6</a:t>
            </a:r>
            <a:r>
              <a:rPr lang="ko-KR" altLang="en-US" dirty="0" smtClean="0"/>
              <a:t>장 뉴스의 통제</a:t>
            </a:r>
            <a:endParaRPr lang="en-US" altLang="ko-KR" dirty="0" smtClean="0"/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 smtClean="0"/>
              <a:t>1001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Leif Eriksson </a:t>
            </a:r>
            <a:r>
              <a:rPr lang="ko-KR" altLang="en-US" dirty="0" err="1" smtClean="0"/>
              <a:t>바이킹족</a:t>
            </a:r>
            <a:r>
              <a:rPr lang="en-US" altLang="ko-KR" dirty="0" smtClean="0"/>
              <a:t>, “</a:t>
            </a:r>
            <a:r>
              <a:rPr lang="en-US" altLang="ko-KR" dirty="0" err="1" smtClean="0"/>
              <a:t>Wineland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발견</a:t>
            </a:r>
            <a:endParaRPr lang="en-US" altLang="ko-KR" dirty="0" smtClean="0"/>
          </a:p>
          <a:p>
            <a:pPr>
              <a:buFont typeface="Arial" charset="0"/>
              <a:buNone/>
            </a:pPr>
            <a:r>
              <a:rPr lang="en-US" altLang="ko-KR" dirty="0" smtClean="0"/>
              <a:t>1070</a:t>
            </a:r>
            <a:r>
              <a:rPr lang="ko-KR" altLang="en-US" dirty="0" smtClean="0"/>
              <a:t>년 독일 목사 아담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덴마크왕</a:t>
            </a:r>
            <a:r>
              <a:rPr lang="ko-KR" altLang="en-US" dirty="0" smtClean="0"/>
              <a:t> 접견에서 발견 소식 접함</a:t>
            </a:r>
            <a:r>
              <a:rPr lang="en-US" altLang="ko-KR" dirty="0" smtClean="0"/>
              <a:t>.</a:t>
            </a:r>
          </a:p>
          <a:p>
            <a:pPr>
              <a:buFont typeface="Arial" charset="0"/>
              <a:buNone/>
            </a:pPr>
            <a:r>
              <a:rPr lang="ko-KR" altLang="en-US" dirty="0" smtClean="0"/>
              <a:t>이 기록 독일에 일부 전달</a:t>
            </a:r>
            <a:r>
              <a:rPr lang="en-US" altLang="ko-KR" dirty="0" smtClean="0"/>
              <a:t>.</a:t>
            </a:r>
          </a:p>
          <a:p>
            <a:pPr>
              <a:buFont typeface="Arial" charset="0"/>
              <a:buNone/>
            </a:pPr>
            <a:r>
              <a:rPr lang="en-US" altLang="ko-KR" dirty="0" smtClean="0"/>
              <a:t>33</a:t>
            </a:r>
            <a:r>
              <a:rPr lang="ko-KR" altLang="en-US" dirty="0" smtClean="0"/>
              <a:t>일 걸려서 신대륙 </a:t>
            </a:r>
            <a:r>
              <a:rPr lang="en-US" altLang="ko-KR" dirty="0" smtClean="0"/>
              <a:t>16</a:t>
            </a:r>
            <a:r>
              <a:rPr lang="ko-KR" altLang="en-US" dirty="0" smtClean="0"/>
              <a:t>개 꼬리가 달린 사람들이 사는 땅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3970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2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147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baseline="0" dirty="0" smtClean="0"/>
              <a:t>   &gt; 11</a:t>
            </a:r>
            <a:r>
              <a:rPr lang="ko-KR" altLang="en-US" baseline="0" dirty="0" smtClean="0"/>
              <a:t>장 인쇄 </a:t>
            </a:r>
            <a:r>
              <a:rPr lang="en-US" altLang="ko-KR" baseline="0" dirty="0" smtClean="0"/>
              <a:t>385-399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9806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9085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982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324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800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055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baseline="0" dirty="0" smtClean="0"/>
              <a:t>   &gt; 11</a:t>
            </a:r>
            <a:r>
              <a:rPr lang="ko-KR" altLang="en-US" baseline="0" dirty="0" smtClean="0"/>
              <a:t>장 인쇄 </a:t>
            </a:r>
            <a:r>
              <a:rPr lang="en-US" altLang="ko-KR" baseline="0" dirty="0" smtClean="0"/>
              <a:t>385-399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013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미디어의 이해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인간의 확장</a:t>
            </a:r>
            <a:r>
              <a:rPr lang="en-US" altLang="ko-KR" dirty="0" smtClean="0"/>
              <a:t>&gt; 18</a:t>
            </a:r>
            <a:r>
              <a:rPr lang="ko-KR" altLang="en-US" dirty="0" smtClean="0"/>
              <a:t>장 인쇄된 문자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454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바로크 시대 </a:t>
            </a:r>
            <a:r>
              <a:rPr lang="en-US" altLang="ko-KR" dirty="0" smtClean="0"/>
              <a:t>17-18</a:t>
            </a:r>
            <a:r>
              <a:rPr lang="ko-KR" altLang="en-US" dirty="0" smtClean="0"/>
              <a:t>세기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547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mtClean="0"/>
              <a:t>ppt 2-5</a:t>
            </a:r>
            <a:r>
              <a:rPr lang="ko-KR" altLang="en-US" smtClean="0"/>
              <a:t>쪽 미첼 스티븐스 </a:t>
            </a:r>
            <a:r>
              <a:rPr lang="en-US" altLang="ko-KR" smtClean="0"/>
              <a:t>(2010). &lt;</a:t>
            </a:r>
            <a:r>
              <a:rPr lang="ko-KR" altLang="en-US" smtClean="0"/>
              <a:t>뉴스의 역사</a:t>
            </a:r>
            <a:r>
              <a:rPr lang="en-US" altLang="ko-KR" smtClean="0"/>
              <a:t>&gt;, </a:t>
            </a:r>
            <a:r>
              <a:rPr lang="ko-KR" altLang="en-US" smtClean="0"/>
              <a:t>제</a:t>
            </a:r>
            <a:r>
              <a:rPr lang="en-US" altLang="ko-KR" smtClean="0"/>
              <a:t>4</a:t>
            </a:r>
            <a:r>
              <a:rPr lang="ko-KR" altLang="en-US" smtClean="0"/>
              <a:t>장 뉴스의 보급</a:t>
            </a:r>
            <a:r>
              <a:rPr lang="en-US" altLang="ko-KR" smtClean="0"/>
              <a:t>. </a:t>
            </a:r>
            <a:r>
              <a:rPr lang="ko-KR" altLang="en-US" smtClean="0"/>
              <a:t>커뮤니케이션북스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ppt 6-7</a:t>
            </a:r>
            <a:r>
              <a:rPr lang="ko-KR" altLang="en-US" smtClean="0"/>
              <a:t>쪽 미첼 스티븐스 </a:t>
            </a:r>
            <a:r>
              <a:rPr lang="en-US" altLang="ko-KR" smtClean="0"/>
              <a:t>(2010). &lt;</a:t>
            </a:r>
            <a:r>
              <a:rPr lang="ko-KR" altLang="en-US" smtClean="0"/>
              <a:t>뉴스의 역사</a:t>
            </a:r>
            <a:r>
              <a:rPr lang="en-US" altLang="ko-KR" smtClean="0"/>
              <a:t>&gt;, </a:t>
            </a:r>
            <a:r>
              <a:rPr lang="ko-KR" altLang="en-US" smtClean="0"/>
              <a:t>제</a:t>
            </a:r>
            <a:r>
              <a:rPr lang="en-US" altLang="ko-KR" smtClean="0"/>
              <a:t>6</a:t>
            </a:r>
            <a:r>
              <a:rPr lang="ko-KR" altLang="en-US" smtClean="0"/>
              <a:t>장 뉴스의 통제</a:t>
            </a:r>
            <a:r>
              <a:rPr lang="en-US" altLang="ko-KR" smtClean="0"/>
              <a:t>. </a:t>
            </a:r>
            <a:r>
              <a:rPr lang="ko-KR" altLang="en-US" smtClean="0"/>
              <a:t>커뮤니케이션북스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ppt 8-11, 13, 15</a:t>
            </a:r>
            <a:r>
              <a:rPr lang="ko-KR" altLang="en-US" smtClean="0"/>
              <a:t>쪽 베르너 파울슈티히</a:t>
            </a:r>
            <a:r>
              <a:rPr lang="en-US" altLang="ko-KR" smtClean="0"/>
              <a:t>. (2007). &lt;</a:t>
            </a:r>
            <a:r>
              <a:rPr lang="ko-KR" altLang="en-US" smtClean="0"/>
              <a:t>근대 초기 매체의 역사 </a:t>
            </a:r>
            <a:r>
              <a:rPr lang="en-US" altLang="ko-KR" smtClean="0"/>
              <a:t>: </a:t>
            </a:r>
            <a:r>
              <a:rPr lang="ko-KR" altLang="en-US" smtClean="0"/>
              <a:t>매체로 본 지배와 반란의 사회 문화사</a:t>
            </a:r>
            <a:r>
              <a:rPr lang="en-US" altLang="ko-KR" smtClean="0"/>
              <a:t>&gt;, 11</a:t>
            </a:r>
            <a:r>
              <a:rPr lang="ko-KR" altLang="en-US" smtClean="0"/>
              <a:t>장 인쇄 중 </a:t>
            </a:r>
            <a:r>
              <a:rPr lang="en-US" altLang="ko-KR" smtClean="0"/>
              <a:t>388-399</a:t>
            </a:r>
            <a:r>
              <a:rPr lang="ko-KR" altLang="en-US" smtClean="0"/>
              <a:t>쪽 </a:t>
            </a:r>
          </a:p>
          <a:p>
            <a:r>
              <a:rPr lang="en-US" altLang="ko-KR" smtClean="0"/>
              <a:t>ppt 12, 14 </a:t>
            </a:r>
            <a:r>
              <a:rPr lang="ko-KR" altLang="en-US" smtClean="0"/>
              <a:t>마샬 맥클루언</a:t>
            </a:r>
            <a:r>
              <a:rPr lang="en-US" altLang="ko-KR" smtClean="0"/>
              <a:t>. (2012). &lt;</a:t>
            </a:r>
            <a:r>
              <a:rPr lang="ko-KR" altLang="en-US" smtClean="0"/>
              <a:t>미디어의 이해</a:t>
            </a:r>
            <a:r>
              <a:rPr lang="en-US" altLang="ko-KR" smtClean="0"/>
              <a:t>: </a:t>
            </a:r>
            <a:r>
              <a:rPr lang="ko-KR" altLang="en-US" smtClean="0"/>
              <a:t>인간의 확장</a:t>
            </a:r>
            <a:r>
              <a:rPr lang="en-US" altLang="ko-KR" smtClean="0"/>
              <a:t>&gt;. 18</a:t>
            </a:r>
            <a:r>
              <a:rPr lang="ko-KR" altLang="en-US" smtClean="0"/>
              <a:t>장 인쇄된 문자</a:t>
            </a:r>
            <a:r>
              <a:rPr lang="en-US" altLang="ko-KR" smtClean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3096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7250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3024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4880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B0025B-6956-463F-B696-8ED2A7BD3F86}" type="slidenum">
              <a:rPr lang="ko-KR" altLang="en-US" smtClean="0"/>
              <a:pPr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438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가는안상수체" pitchFamily="2" charset="-127"/>
                <a:ea typeface="가는안상수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가는안상수체" pitchFamily="2" charset="-127"/>
                <a:ea typeface="가는안상수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857248"/>
          </a:xfrm>
        </p:spPr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200">
                <a:latin typeface="+mn-ea"/>
                <a:ea typeface="+mn-ea"/>
              </a:defRPr>
            </a:lvl1pPr>
            <a:lvl2pPr>
              <a:defRPr sz="2000">
                <a:latin typeface="+mn-ea"/>
                <a:ea typeface="+mn-ea"/>
              </a:defRPr>
            </a:lvl2pPr>
            <a:lvl3pPr>
              <a:defRPr sz="1800">
                <a:latin typeface="+mn-ea"/>
                <a:ea typeface="+mn-ea"/>
              </a:defRPr>
            </a:lvl3pPr>
            <a:lvl4pPr>
              <a:defRPr sz="1800">
                <a:latin typeface="+mn-ea"/>
                <a:ea typeface="+mn-ea"/>
              </a:defRPr>
            </a:lvl4pPr>
            <a:lvl5pPr>
              <a:defRPr sz="1800">
                <a:latin typeface="+mn-ea"/>
                <a:ea typeface="+mn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1"/>
          </p:nvPr>
        </p:nvSpPr>
        <p:spPr>
          <a:xfrm>
            <a:off x="0" y="0"/>
            <a:ext cx="9144000" cy="428625"/>
          </a:xfrm>
          <a:noFill/>
          <a:ln>
            <a:noFill/>
          </a:ln>
        </p:spPr>
        <p:txBody>
          <a:bodyPr/>
          <a:lstStyle>
            <a:lvl1pPr>
              <a:defRPr sz="1400">
                <a:latin typeface="+mn-ea"/>
                <a:ea typeface="+mn-ea"/>
              </a:defRPr>
            </a:lvl1pPr>
            <a:lvl2pPr algn="l">
              <a:buNone/>
              <a:defRPr sz="160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2"/>
          </p:nvPr>
        </p:nvSpPr>
        <p:spPr>
          <a:xfrm>
            <a:off x="0" y="6286500"/>
            <a:ext cx="9144000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/>
          <p:cNvSpPr txBox="1">
            <a:spLocks/>
          </p:cNvSpPr>
          <p:nvPr userDrawn="1"/>
        </p:nvSpPr>
        <p:spPr>
          <a:xfrm>
            <a:off x="0" y="6286500"/>
            <a:ext cx="9144000" cy="571500"/>
          </a:xfrm>
          <a:prstGeom prst="rect">
            <a:avLst/>
          </a:prstGeom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Dongduk</a:t>
            </a: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 Women's University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rPr>
              <a:t>Graduate School of Fashion</a:t>
            </a:r>
            <a:endParaRPr kumimoji="0" lang="ko-KR" altLang="en-US" sz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안상수2006가는" pitchFamily="18" charset="-127"/>
                <a:ea typeface="안상수2006가는" pitchFamily="18" charset="-127"/>
              </a:defRPr>
            </a:lvl1pPr>
            <a:lvl2pPr>
              <a:defRPr sz="2400">
                <a:latin typeface="안상수2006가는" pitchFamily="18" charset="-127"/>
                <a:ea typeface="안상수2006가는" pitchFamily="18" charset="-127"/>
              </a:defRPr>
            </a:lvl2pPr>
            <a:lvl3pPr>
              <a:defRPr sz="2000">
                <a:latin typeface="안상수2006가는" pitchFamily="18" charset="-127"/>
                <a:ea typeface="안상수2006가는" pitchFamily="18" charset="-127"/>
              </a:defRPr>
            </a:lvl3pPr>
            <a:lvl4pPr>
              <a:defRPr sz="1800">
                <a:latin typeface="안상수2006가는" pitchFamily="18" charset="-127"/>
                <a:ea typeface="안상수2006가는" pitchFamily="18" charset="-127"/>
              </a:defRPr>
            </a:lvl4pPr>
            <a:lvl5pPr>
              <a:defRPr sz="1800">
                <a:latin typeface="안상수2006가는" pitchFamily="18" charset="-127"/>
                <a:ea typeface="안상수2006가는" pitchFamily="18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가는안상수체" pitchFamily="2" charset="-127"/>
                <a:ea typeface="가는안상수체" pitchFamily="2" charset="-127"/>
              </a:defRPr>
            </a:lvl1pPr>
            <a:lvl2pPr>
              <a:defRPr sz="2400">
                <a:latin typeface="가는안상수체" pitchFamily="2" charset="-127"/>
                <a:ea typeface="가는안상수체" pitchFamily="2" charset="-127"/>
              </a:defRPr>
            </a:lvl2pPr>
            <a:lvl3pPr>
              <a:defRPr sz="2000">
                <a:latin typeface="가는안상수체" pitchFamily="2" charset="-127"/>
                <a:ea typeface="가는안상수체" pitchFamily="2" charset="-127"/>
              </a:defRPr>
            </a:lvl3pPr>
            <a:lvl4pPr>
              <a:defRPr sz="1800">
                <a:latin typeface="가는안상수체" pitchFamily="2" charset="-127"/>
                <a:ea typeface="가는안상수체" pitchFamily="2" charset="-127"/>
              </a:defRPr>
            </a:lvl4pPr>
            <a:lvl5pPr>
              <a:defRPr sz="1800">
                <a:latin typeface="가는안상수체" pitchFamily="2" charset="-127"/>
                <a:ea typeface="가는안상수체" pitchFamily="2" charset="-127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7045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500063"/>
            <a:ext cx="8229600" cy="917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0" y="6215063"/>
            <a:ext cx="9144000" cy="6429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0" y="6286500"/>
            <a:ext cx="9144000" cy="158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3" r:id="rId3"/>
    <p:sldLayoutId id="2147483814" r:id="rId4"/>
    <p:sldLayoutId id="2147483816" r:id="rId5"/>
  </p:sldLayoutIdLst>
  <p:hf sldNum="0"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+mj-ea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안상수2006가는" pitchFamily="18" charset="-127"/>
          <a:ea typeface="안상수2006가는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가는안상수체" pitchFamily="2" charset="-127"/>
          <a:ea typeface="가는안상수체" pitchFamily="2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ojyCDRc8uc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youtu.be/jczybmou_Tc" TargetMode="External"/><Relationship Id="rId4" Type="http://schemas.openxmlformats.org/officeDocument/2006/relationships/hyperlink" Target="https://youtu.be/4VAjySfeUv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/>
          <p:cNvSpPr>
            <a:spLocks noGrp="1"/>
          </p:cNvSpPr>
          <p:nvPr>
            <p:ph type="ctrTitle"/>
          </p:nvPr>
        </p:nvSpPr>
        <p:spPr>
          <a:xfrm>
            <a:off x="571472" y="1857364"/>
            <a:ext cx="8001000" cy="1571625"/>
          </a:xfrm>
        </p:spPr>
        <p:txBody>
          <a:bodyPr/>
          <a:lstStyle/>
          <a:p>
            <a:pPr>
              <a:defRPr/>
            </a:pPr>
            <a:r>
              <a:rPr lang="en-US" altLang="ko-KR" sz="3200" dirty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>
                <a:latin typeface="안상수2006가는" pitchFamily="18" charset="-127"/>
                <a:ea typeface="안상수2006가는" pitchFamily="18" charset="-127"/>
              </a:rPr>
            </a:br>
            <a:r>
              <a:rPr lang="en-US" altLang="ko-KR" sz="3200" dirty="0"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altLang="ko-KR" sz="3200" dirty="0">
                <a:latin typeface="안상수2006가는" pitchFamily="18" charset="-127"/>
                <a:ea typeface="안상수2006가는" pitchFamily="18" charset="-127"/>
              </a:rPr>
            </a:br>
            <a:r>
              <a:rPr lang="ko-KR" altLang="en-US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>문자와 인쇄술</a:t>
            </a:r>
            <a:r>
              <a:rPr lang="en-US" altLang="ko-KR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  <a:t/>
            </a:r>
            <a:br>
              <a:rPr lang="en-US" altLang="ko-KR" b="1" dirty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  <a:latin typeface="+mj-ea"/>
                <a:ea typeface="+mj-ea"/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  <a:t/>
            </a:r>
            <a:br>
              <a:rPr lang="en-US" dirty="0">
                <a:solidFill>
                  <a:schemeClr val="bg1">
                    <a:lumMod val="65000"/>
                  </a:schemeClr>
                </a:solidFill>
                <a:latin typeface="안상수2006가는" pitchFamily="18" charset="-127"/>
                <a:ea typeface="안상수2006가는" pitchFamily="18" charset="-127"/>
              </a:rPr>
            </a:br>
            <a:endParaRPr lang="ko-KR" altLang="en-US" dirty="0">
              <a:solidFill>
                <a:schemeClr val="bg1">
                  <a:lumMod val="65000"/>
                </a:schemeClr>
              </a:solidFill>
              <a:latin typeface="안상수2006가는" pitchFamily="18" charset="-127"/>
              <a:ea typeface="안상수2006가는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 smtClean="0"/>
              <a:t>미디어와 공동체</a:t>
            </a:r>
            <a:endParaRPr lang="ko-KR" altLang="en-US" dirty="0"/>
          </a:p>
        </p:txBody>
      </p:sp>
    </p:spTree>
  </p:cSld>
  <p:clrMapOvr>
    <a:masterClrMapping/>
  </p:clrMapOvr>
  <p:transition advTm="125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457200" y="428612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1. </a:t>
            </a:r>
            <a:r>
              <a:rPr lang="ko-KR" altLang="en-US" dirty="0" smtClean="0">
                <a:latin typeface="Arial Rounded MT Bold" pitchFamily="34" charset="0"/>
                <a:ea typeface="휴먼모음T" pitchFamily="18" charset="-127"/>
              </a:rPr>
              <a:t>문자 발명의 의의</a:t>
            </a:r>
            <a:endParaRPr lang="en-US" altLang="ko-KR" b="1" dirty="0" smtClean="0"/>
          </a:p>
        </p:txBody>
      </p:sp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1500174"/>
            <a:ext cx="8072438" cy="4593122"/>
          </a:xfrm>
        </p:spPr>
        <p:txBody>
          <a:bodyPr/>
          <a:lstStyle/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b="1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en-US" altLang="ko-KR" b="1" dirty="0" smtClean="0"/>
              <a:t> </a:t>
            </a:r>
            <a:r>
              <a:rPr lang="ko-KR" altLang="en-US" b="1" dirty="0" smtClean="0"/>
              <a:t>문자 </a:t>
            </a:r>
            <a:r>
              <a:rPr lang="en-US" altLang="ko-KR" b="1" dirty="0" smtClean="0">
                <a:sym typeface="Wingdings" panose="05000000000000000000" pitchFamily="2" charset="2"/>
              </a:rPr>
              <a:t></a:t>
            </a:r>
            <a:r>
              <a:rPr lang="ko-KR" altLang="en-US" b="1" dirty="0" smtClean="0"/>
              <a:t> 인간 사고능력 발달</a:t>
            </a:r>
            <a:endParaRPr lang="en-US" altLang="ko-KR" b="1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b="1" dirty="0" smtClean="0"/>
              <a:t>               </a:t>
            </a:r>
            <a:r>
              <a:rPr lang="en-US" altLang="ko-KR" b="1" dirty="0" smtClean="0">
                <a:sym typeface="Wingdings" panose="05000000000000000000" pitchFamily="2" charset="2"/>
              </a:rPr>
              <a:t> </a:t>
            </a:r>
            <a:r>
              <a:rPr lang="ko-KR" altLang="en-US" b="1" dirty="0" smtClean="0"/>
              <a:t>인류 문명 발전에 공헌</a:t>
            </a:r>
            <a:endParaRPr lang="en-US" altLang="ko-KR" b="1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b="1" dirty="0" smtClean="0"/>
              <a:t>1) </a:t>
            </a:r>
            <a:r>
              <a:rPr lang="ko-KR" altLang="en-US" b="1" dirty="0" smtClean="0"/>
              <a:t>지식의 확장</a:t>
            </a:r>
            <a:endParaRPr lang="en-US" altLang="ko-KR" b="1" dirty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ko-KR" altLang="en-US" dirty="0" smtClean="0"/>
              <a:t>한 세대가 기억할 수 있는 용량 확장</a:t>
            </a:r>
            <a:endParaRPr lang="en-US" altLang="ko-KR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ko-KR" altLang="en-US" dirty="0" smtClean="0"/>
              <a:t>세대</a:t>
            </a:r>
            <a:r>
              <a:rPr lang="ko-KR" altLang="en-US" dirty="0"/>
              <a:t>를</a:t>
            </a:r>
            <a:r>
              <a:rPr lang="ko-KR" altLang="en-US" dirty="0" smtClean="0"/>
              <a:t> 거듭할수록 축적되는 지식</a:t>
            </a:r>
            <a:endParaRPr lang="en-US" altLang="ko-KR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ko-KR" altLang="en-US" dirty="0" smtClean="0"/>
              <a:t>광범위한 지역으로부터 정보 축적</a:t>
            </a:r>
            <a:endParaRPr lang="en-US" altLang="ko-KR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ko-KR" altLang="en-US" dirty="0" smtClean="0"/>
              <a:t>변조되지 않은 정보의 장거리 전파</a:t>
            </a: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전달자에 의한 내용의 왜곡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편파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누락 없음</a:t>
            </a: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10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836712"/>
            <a:ext cx="8229600" cy="528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dirty="0"/>
              <a:t> </a:t>
            </a:r>
            <a:r>
              <a:rPr kumimoji="0" lang="en-US" altLang="ko-KR" b="1" dirty="0"/>
              <a:t> </a:t>
            </a:r>
            <a:r>
              <a:rPr kumimoji="0" lang="en-US" altLang="ko-KR" b="1" dirty="0" smtClean="0"/>
              <a:t> 2) </a:t>
            </a:r>
            <a:r>
              <a:rPr kumimoji="0" lang="ko-KR" altLang="en-US" b="1" dirty="0" smtClean="0"/>
              <a:t>말에 영원성을 부여</a:t>
            </a:r>
            <a:endParaRPr kumimoji="0" lang="en-US" altLang="ko-KR" b="1" dirty="0" smtClean="0"/>
          </a:p>
          <a:p>
            <a:pPr marL="0" indent="0">
              <a:buNone/>
            </a:pPr>
            <a:endParaRPr kumimoji="0" lang="en-US" altLang="ko-KR" b="1" dirty="0" smtClean="0"/>
          </a:p>
          <a:p>
            <a:pPr marL="0" indent="0">
              <a:buNone/>
            </a:pPr>
            <a:r>
              <a:rPr kumimoji="0" lang="ko-KR" altLang="en-US" sz="2200" b="1" dirty="0" smtClean="0"/>
              <a:t> </a:t>
            </a:r>
            <a:r>
              <a:rPr kumimoji="0" lang="en-US" altLang="ko-KR" sz="2200" b="1" dirty="0" smtClean="0"/>
              <a:t>“</a:t>
            </a:r>
            <a:r>
              <a:rPr kumimoji="0" lang="ko-KR" altLang="en-US" sz="2200" b="1" dirty="0" smtClean="0"/>
              <a:t>기록된 언어는 장기간 지속됨으로써 과거를 보존하고 미래를 규정할 수 있게 한다</a:t>
            </a:r>
            <a:r>
              <a:rPr kumimoji="0" lang="en-US" altLang="ko-KR" sz="2200" b="1" dirty="0" smtClean="0"/>
              <a:t>.”(</a:t>
            </a:r>
            <a:r>
              <a:rPr kumimoji="0" lang="ko-KR" altLang="en-US" sz="2200" dirty="0" smtClean="0"/>
              <a:t>미첼 스티븐스</a:t>
            </a:r>
            <a:r>
              <a:rPr kumimoji="0" lang="en-US" altLang="ko-KR" sz="2200" dirty="0" smtClean="0"/>
              <a:t>, &lt;</a:t>
            </a:r>
            <a:r>
              <a:rPr kumimoji="0" lang="ko-KR" altLang="en-US" sz="2200" dirty="0" smtClean="0"/>
              <a:t>뉴스의 역사</a:t>
            </a:r>
            <a:r>
              <a:rPr kumimoji="0" lang="en-US" altLang="ko-KR" sz="2200" dirty="0" smtClean="0"/>
              <a:t>&gt;)</a:t>
            </a:r>
          </a:p>
          <a:p>
            <a:pPr marL="0" indent="0">
              <a:buNone/>
            </a:pPr>
            <a:r>
              <a:rPr kumimoji="0" lang="ko-KR" altLang="en-US" sz="2200" dirty="0" smtClean="0"/>
              <a:t> </a:t>
            </a:r>
            <a:endParaRPr kumimoji="0" lang="en-US" altLang="ko-KR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smtClean="0"/>
              <a:t>생각의 고정성과 안정성</a:t>
            </a: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왜곡이나 편의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실수에 원래 생각이 </a:t>
            </a:r>
            <a:r>
              <a:rPr kumimoji="0" lang="ko-KR" altLang="en-US" sz="2200" dirty="0" err="1" smtClean="0"/>
              <a:t>영향받지</a:t>
            </a:r>
            <a:r>
              <a:rPr kumimoji="0" lang="ko-KR" altLang="en-US" sz="2200" dirty="0" smtClean="0"/>
              <a:t> 않도록 보호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 </a:t>
            </a:r>
            <a:r>
              <a:rPr kumimoji="0" lang="ko-KR" altLang="en-US" sz="2200" dirty="0" smtClean="0"/>
              <a:t>예</a:t>
            </a:r>
            <a:r>
              <a:rPr kumimoji="0" lang="en-US" altLang="ko-KR" sz="2200" dirty="0" smtClean="0"/>
              <a:t>) </a:t>
            </a:r>
            <a:r>
              <a:rPr kumimoji="0" lang="ko-KR" altLang="en-US" sz="2200" dirty="0" smtClean="0"/>
              <a:t>국가 조약의 </a:t>
            </a:r>
            <a:r>
              <a:rPr kumimoji="0" lang="ko-KR" altLang="en-US" sz="2200" dirty="0" err="1" smtClean="0"/>
              <a:t>점토판</a:t>
            </a:r>
            <a:r>
              <a:rPr kumimoji="0" lang="ko-KR" altLang="en-US" sz="2200" dirty="0" smtClean="0"/>
              <a:t> 기록 </a:t>
            </a:r>
            <a:r>
              <a:rPr kumimoji="0" lang="en-US" altLang="ko-KR" sz="2200" dirty="0"/>
              <a:t>(</a:t>
            </a:r>
            <a:r>
              <a:rPr kumimoji="0" lang="ko-KR" altLang="en-US" sz="2200" dirty="0"/>
              <a:t>기원전 </a:t>
            </a:r>
            <a:r>
              <a:rPr kumimoji="0" lang="en-US" altLang="ko-KR" sz="2200" dirty="0"/>
              <a:t>2500</a:t>
            </a:r>
            <a:r>
              <a:rPr kumimoji="0" lang="ko-KR" altLang="en-US" sz="2200" dirty="0"/>
              <a:t>년 전</a:t>
            </a:r>
            <a:r>
              <a:rPr kumimoji="0" lang="en-US" altLang="ko-KR" sz="2200" dirty="0"/>
              <a:t>)</a:t>
            </a:r>
          </a:p>
          <a:p>
            <a:pPr marL="0" indent="0">
              <a:buNone/>
            </a:pPr>
            <a:r>
              <a:rPr kumimoji="0" lang="ko-KR" altLang="en-US" sz="2200" dirty="0" smtClean="0"/>
              <a:t>     </a:t>
            </a:r>
            <a:r>
              <a:rPr kumimoji="0" lang="ko-KR" altLang="en-US" sz="2200" dirty="0" err="1" smtClean="0"/>
              <a:t>석조판</a:t>
            </a:r>
            <a:r>
              <a:rPr kumimoji="0" lang="en-US" altLang="ko-KR" sz="2200" dirty="0"/>
              <a:t>, </a:t>
            </a:r>
            <a:r>
              <a:rPr kumimoji="0" lang="ko-KR" altLang="en-US" sz="2200" dirty="0" err="1"/>
              <a:t>목조판에</a:t>
            </a:r>
            <a:r>
              <a:rPr kumimoji="0" lang="ko-KR" altLang="en-US" sz="2200" dirty="0"/>
              <a:t> 법령을 공표 </a:t>
            </a:r>
            <a:r>
              <a:rPr kumimoji="0" lang="en-US" altLang="ko-KR" sz="2200" dirty="0" smtClean="0"/>
              <a:t>(</a:t>
            </a:r>
            <a:r>
              <a:rPr kumimoji="0" lang="ko-KR" altLang="en-US" sz="2200" dirty="0" smtClean="0"/>
              <a:t>기원전</a:t>
            </a:r>
            <a:r>
              <a:rPr kumimoji="0" lang="en-US" altLang="ko-KR" sz="2200" dirty="0" smtClean="0"/>
              <a:t> </a:t>
            </a:r>
            <a:r>
              <a:rPr kumimoji="0" lang="en-US" altLang="ko-KR" sz="2200" dirty="0"/>
              <a:t>7</a:t>
            </a:r>
            <a:r>
              <a:rPr kumimoji="0" lang="ko-KR" altLang="en-US" sz="2200" dirty="0"/>
              <a:t>세기 그리스</a:t>
            </a:r>
            <a:r>
              <a:rPr kumimoji="0" lang="en-US" altLang="ko-KR" sz="22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4223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t1.daumcdn.net/cfile/tistory/9999B73C5B5EDD6B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64704"/>
            <a:ext cx="8579002" cy="482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301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899592" y="836712"/>
            <a:ext cx="7344816" cy="5137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b="1" dirty="0"/>
              <a:t>3</a:t>
            </a:r>
            <a:r>
              <a:rPr kumimoji="0" lang="en-US" altLang="ko-KR" b="1" dirty="0" smtClean="0"/>
              <a:t>) </a:t>
            </a:r>
            <a:r>
              <a:rPr kumimoji="0" lang="ko-KR" altLang="en-US" b="1" dirty="0" smtClean="0"/>
              <a:t>기록된 생각의 </a:t>
            </a:r>
            <a:r>
              <a:rPr kumimoji="0" lang="ko-KR" altLang="en-US" b="1" dirty="0" err="1" smtClean="0"/>
              <a:t>재사고</a:t>
            </a:r>
            <a:r>
              <a:rPr kumimoji="0" lang="en-US" altLang="ko-KR" b="1" dirty="0" smtClean="0"/>
              <a:t>(rethinking)</a:t>
            </a:r>
          </a:p>
          <a:p>
            <a:pPr marL="0" indent="0">
              <a:buNone/>
            </a:pP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b="1" dirty="0" smtClean="0"/>
              <a:t>  </a:t>
            </a:r>
            <a:r>
              <a:rPr kumimoji="0" lang="ko-KR" altLang="ko-KR" sz="2200" b="1" dirty="0" smtClean="0"/>
              <a:t>①</a:t>
            </a:r>
            <a:r>
              <a:rPr kumimoji="0" lang="en-US" altLang="ko-KR" sz="2200" b="1" dirty="0" smtClean="0"/>
              <a:t> </a:t>
            </a:r>
            <a:r>
              <a:rPr kumimoji="0" lang="ko-KR" altLang="en-US" sz="2200" b="1" dirty="0" smtClean="0"/>
              <a:t>추가 작업 가능</a:t>
            </a: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dirty="0"/>
              <a:t>     - </a:t>
            </a:r>
            <a:r>
              <a:rPr kumimoji="0" lang="ko-KR" altLang="en-US" sz="2200" dirty="0"/>
              <a:t>검토</a:t>
            </a:r>
            <a:r>
              <a:rPr kumimoji="0" lang="en-US" altLang="ko-KR" sz="2200" dirty="0"/>
              <a:t>, </a:t>
            </a:r>
            <a:r>
              <a:rPr kumimoji="0" lang="ko-KR" altLang="en-US" sz="2200" dirty="0"/>
              <a:t>비교</a:t>
            </a:r>
            <a:r>
              <a:rPr kumimoji="0" lang="en-US" altLang="ko-KR" sz="2200" dirty="0"/>
              <a:t>, </a:t>
            </a:r>
            <a:r>
              <a:rPr kumimoji="0" lang="ko-KR" altLang="en-US" sz="2200" dirty="0"/>
              <a:t>수정</a:t>
            </a:r>
            <a:r>
              <a:rPr kumimoji="0" lang="en-US" altLang="ko-KR" sz="2200" dirty="0"/>
              <a:t>, </a:t>
            </a:r>
            <a:r>
              <a:rPr kumimoji="0" lang="ko-KR" altLang="en-US" sz="2200" dirty="0" smtClean="0"/>
              <a:t>재편집 가능</a:t>
            </a: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/>
              <a:t>     - </a:t>
            </a:r>
            <a:r>
              <a:rPr kumimoji="0" lang="ko-KR" altLang="en-US" sz="2200" dirty="0"/>
              <a:t>추가 연구 가능</a:t>
            </a:r>
            <a:endParaRPr kumimoji="0" lang="en-US" altLang="ko-KR" sz="2200" dirty="0"/>
          </a:p>
          <a:p>
            <a:pPr marL="0" indent="0">
              <a:buNone/>
            </a:pPr>
            <a:endParaRPr kumimoji="0" lang="en-US" altLang="ko-KR" sz="1800" dirty="0"/>
          </a:p>
          <a:p>
            <a:pPr marL="0" indent="0">
              <a:buNone/>
            </a:pPr>
            <a:r>
              <a:rPr kumimoji="0" lang="ko-KR" altLang="en-US" sz="2200" b="1" dirty="0" smtClean="0"/>
              <a:t>  ② </a:t>
            </a:r>
            <a:r>
              <a:rPr kumimoji="0" lang="ko-KR" altLang="en-US" sz="2200" b="1" dirty="0" smtClean="0">
                <a:sym typeface="Wingdings" panose="05000000000000000000" pitchFamily="2" charset="2"/>
              </a:rPr>
              <a:t>목록 만들기</a:t>
            </a:r>
            <a:r>
              <a:rPr kumimoji="0" lang="en-US" altLang="ko-KR" sz="2200" b="1" dirty="0" smtClean="0">
                <a:sym typeface="Wingdings" panose="05000000000000000000" pitchFamily="2" charset="2"/>
              </a:rPr>
              <a:t>, </a:t>
            </a:r>
            <a:r>
              <a:rPr kumimoji="0" lang="ko-KR" altLang="en-US" sz="2200" b="1" dirty="0" smtClean="0">
                <a:sym typeface="Wingdings" panose="05000000000000000000" pitchFamily="2" charset="2"/>
              </a:rPr>
              <a:t>범주화</a:t>
            </a:r>
            <a:endParaRPr kumimoji="0" lang="en-US" altLang="ko-KR" sz="2200" b="1" dirty="0" smtClean="0"/>
          </a:p>
          <a:p>
            <a:pPr marL="0" indent="0">
              <a:buNone/>
            </a:pP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  </a:t>
            </a:r>
            <a:r>
              <a:rPr kumimoji="0" lang="en-US" altLang="ko-KR" sz="2200" b="1" dirty="0"/>
              <a:t>③ </a:t>
            </a:r>
            <a:r>
              <a:rPr kumimoji="0" lang="ko-KR" altLang="en-US" sz="2200" b="1" dirty="0"/>
              <a:t>언어의 객관화</a:t>
            </a:r>
            <a:endParaRPr kumimoji="0" lang="en-US" altLang="ko-KR" sz="2200" b="1" dirty="0"/>
          </a:p>
          <a:p>
            <a:pPr marL="0" indent="0">
              <a:buNone/>
            </a:pPr>
            <a:r>
              <a:rPr kumimoji="0" lang="ko-KR" altLang="en-US" sz="2200" dirty="0" smtClean="0"/>
              <a:t>     </a:t>
            </a:r>
            <a:r>
              <a:rPr kumimoji="0" lang="en-US" altLang="ko-KR" sz="2200" dirty="0" smtClean="0"/>
              <a:t>-</a:t>
            </a:r>
            <a:r>
              <a:rPr kumimoji="0" lang="ko-KR" altLang="en-US" sz="2200" dirty="0" smtClean="0"/>
              <a:t> 글</a:t>
            </a:r>
            <a:r>
              <a:rPr kumimoji="0" lang="en-US" altLang="ko-KR" sz="2200" dirty="0"/>
              <a:t>(</a:t>
            </a:r>
            <a:r>
              <a:rPr kumimoji="0" lang="ko-KR" altLang="en-US" sz="2200" dirty="0"/>
              <a:t>기록된 생각</a:t>
            </a:r>
            <a:r>
              <a:rPr kumimoji="0" lang="en-US" altLang="ko-KR" sz="2200" dirty="0"/>
              <a:t>)</a:t>
            </a:r>
            <a:r>
              <a:rPr kumimoji="0" lang="ko-KR" altLang="en-US" sz="2200" dirty="0"/>
              <a:t>로부터 자신을 분리 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= </a:t>
            </a:r>
            <a:r>
              <a:rPr kumimoji="0" lang="ko-KR" altLang="en-US" sz="2200" dirty="0"/>
              <a:t>상황에서 한 걸음 물러나 </a:t>
            </a:r>
            <a:r>
              <a:rPr kumimoji="0" lang="ko-KR" altLang="en-US" sz="2200" dirty="0" smtClean="0"/>
              <a:t>심사숙고하는 것이 가능</a:t>
            </a:r>
            <a:endParaRPr kumimoji="0"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335629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57200" y="908720"/>
            <a:ext cx="8229600" cy="5217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3200" dirty="0">
                <a:latin typeface="Arial Rounded MT Bold" pitchFamily="34" charset="0"/>
                <a:ea typeface="휴먼모음T" pitchFamily="18" charset="-127"/>
                <a:cs typeface="+mj-cs"/>
              </a:rPr>
              <a:t> 2. </a:t>
            </a:r>
            <a:r>
              <a:rPr lang="ko-KR" altLang="en-US" sz="3200" dirty="0">
                <a:latin typeface="Arial Rounded MT Bold" pitchFamily="34" charset="0"/>
                <a:ea typeface="휴먼모음T" pitchFamily="18" charset="-127"/>
                <a:cs typeface="+mj-cs"/>
              </a:rPr>
              <a:t>문자에 대한 비판</a:t>
            </a:r>
            <a:endParaRPr lang="en-US" altLang="ko-KR" sz="3200" dirty="0">
              <a:latin typeface="Arial Rounded MT Bold" pitchFamily="34" charset="0"/>
              <a:ea typeface="휴먼모음T" pitchFamily="18" charset="-127"/>
              <a:cs typeface="+mj-cs"/>
            </a:endParaRPr>
          </a:p>
          <a:p>
            <a:pPr marL="0" indent="0">
              <a:buNone/>
            </a:pPr>
            <a:r>
              <a:rPr kumimoji="0" lang="en-US" altLang="ko-KR" sz="2200" b="1" dirty="0" smtClean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kumimoji="0" lang="en-US" altLang="ko-KR" sz="2200" b="1" dirty="0" smtClean="0"/>
              <a:t>&lt;</a:t>
            </a:r>
            <a:r>
              <a:rPr kumimoji="0" lang="ko-KR" altLang="en-US" sz="2200" b="1" dirty="0" err="1" smtClean="0"/>
              <a:t>파이드로스</a:t>
            </a:r>
            <a:r>
              <a:rPr kumimoji="0" lang="en-US" altLang="ko-KR" sz="2200" b="1" dirty="0" smtClean="0"/>
              <a:t>&gt; by </a:t>
            </a:r>
            <a:r>
              <a:rPr kumimoji="0" lang="ko-KR" altLang="en-US" sz="2200" b="1" dirty="0" smtClean="0"/>
              <a:t>플라톤</a:t>
            </a: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ko-KR" altLang="en-US" sz="2200" dirty="0" smtClean="0"/>
              <a:t> 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소크라테스가 전하는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이집트의 </a:t>
            </a:r>
            <a:r>
              <a:rPr kumimoji="0" lang="ko-KR" altLang="en-US" sz="2200" dirty="0" err="1" smtClean="0"/>
              <a:t>테우트</a:t>
            </a:r>
            <a:r>
              <a:rPr kumimoji="0" lang="ko-KR" altLang="en-US" sz="2200" dirty="0" smtClean="0"/>
              <a:t> 신과 파라오</a:t>
            </a:r>
            <a:r>
              <a:rPr kumimoji="0" lang="en-US" altLang="ko-KR" sz="2200" dirty="0" smtClean="0"/>
              <a:t>(</a:t>
            </a:r>
            <a:r>
              <a:rPr kumimoji="0" lang="ko-KR" altLang="en-US" sz="2200" dirty="0" err="1" smtClean="0"/>
              <a:t>타무스왕</a:t>
            </a:r>
            <a:r>
              <a:rPr kumimoji="0" lang="en-US" altLang="ko-KR" sz="2200" dirty="0" smtClean="0"/>
              <a:t>) </a:t>
            </a:r>
            <a:r>
              <a:rPr kumimoji="0" lang="ko-KR" altLang="en-US" sz="2200" dirty="0" smtClean="0"/>
              <a:t>사이의 대화를 소개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err="1" smtClean="0"/>
              <a:t>테우트신</a:t>
            </a:r>
            <a:r>
              <a:rPr kumimoji="0" lang="en-US" altLang="ko-KR" sz="2200" b="1" dirty="0" smtClean="0"/>
              <a:t>: </a:t>
            </a:r>
            <a:r>
              <a:rPr kumimoji="0" lang="ko-KR" altLang="en-US" sz="2200" dirty="0" smtClean="0"/>
              <a:t>수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계산법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기하학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천문학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err="1" smtClean="0"/>
              <a:t>장기놀이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주사위 그리고</a:t>
            </a:r>
            <a:r>
              <a:rPr kumimoji="0" lang="en-US" altLang="ko-KR" sz="2200" dirty="0" smtClean="0"/>
              <a:t> </a:t>
            </a:r>
            <a:r>
              <a:rPr kumimoji="0" lang="ko-KR" altLang="en-US" sz="2200" dirty="0" smtClean="0"/>
              <a:t>문자를 발명</a:t>
            </a:r>
            <a:endParaRPr kumimoji="0" lang="en-US" altLang="ko-KR" sz="2200" dirty="0" smtClean="0"/>
          </a:p>
          <a:p>
            <a:pPr marL="0" indent="0">
              <a:buNone/>
            </a:pP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 smtClean="0"/>
              <a:t>  “</a:t>
            </a:r>
            <a:r>
              <a:rPr kumimoji="0" lang="ko-KR" altLang="en-US" sz="2200" dirty="0" smtClean="0"/>
              <a:t>왕이여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이런 </a:t>
            </a:r>
            <a:r>
              <a:rPr kumimoji="0" lang="en-US" altLang="ko-KR" sz="2200" dirty="0" smtClean="0"/>
              <a:t>(</a:t>
            </a:r>
            <a:r>
              <a:rPr kumimoji="0" lang="ko-KR" altLang="en-US" sz="2200" dirty="0" smtClean="0"/>
              <a:t>문자의</a:t>
            </a:r>
            <a:r>
              <a:rPr kumimoji="0" lang="en-US" altLang="ko-KR" sz="2200" dirty="0" smtClean="0"/>
              <a:t>) </a:t>
            </a:r>
            <a:r>
              <a:rPr kumimoji="0" lang="ko-KR" altLang="en-US" sz="2200" dirty="0" smtClean="0"/>
              <a:t>배움은 이집트 사람들을 더욱 지혜롭게 하고 기억력을 높여줄 것입니다</a:t>
            </a:r>
            <a:r>
              <a:rPr kumimoji="0" lang="en-US" altLang="ko-KR" sz="2200" dirty="0" smtClean="0"/>
              <a:t>. </a:t>
            </a:r>
            <a:r>
              <a:rPr kumimoji="0" lang="ko-KR" altLang="en-US" sz="2200" dirty="0" smtClean="0"/>
              <a:t>왜냐하면 그것은 기억과 지혜의 묘약</a:t>
            </a:r>
            <a:r>
              <a:rPr kumimoji="0" lang="en-US" altLang="ko-KR" sz="2200" dirty="0" smtClean="0"/>
              <a:t>(</a:t>
            </a:r>
            <a:r>
              <a:rPr kumimoji="0" lang="en-US" altLang="ko-KR" sz="2200" dirty="0" err="1" smtClean="0"/>
              <a:t>pharmakon</a:t>
            </a:r>
            <a:r>
              <a:rPr kumimoji="0" lang="en-US" altLang="ko-KR" sz="2200" dirty="0" smtClean="0"/>
              <a:t>)</a:t>
            </a:r>
            <a:r>
              <a:rPr kumimoji="0" lang="ko-KR" altLang="en-US" sz="2200" dirty="0" smtClean="0"/>
              <a:t>으로 발명된 것이니까요</a:t>
            </a:r>
            <a:r>
              <a:rPr kumimoji="0" lang="en-US" altLang="ko-KR" sz="2200" dirty="0" smtClean="0"/>
              <a:t>.”  </a:t>
            </a:r>
            <a:endParaRPr kumimoji="0"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34960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251520" y="620688"/>
            <a:ext cx="4968552" cy="4785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err="1" smtClean="0"/>
              <a:t>타무스왕</a:t>
            </a:r>
            <a:endParaRPr kumimoji="0" lang="en-US" altLang="ko-KR" sz="2200" b="1" dirty="0" smtClean="0"/>
          </a:p>
          <a:p>
            <a:pPr marL="0" indent="0">
              <a:buNone/>
            </a:pP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 smtClean="0"/>
              <a:t>  “</a:t>
            </a:r>
            <a:r>
              <a:rPr kumimoji="0" lang="ko-KR" altLang="en-US" sz="2200" dirty="0" smtClean="0"/>
              <a:t>기술이 뛰어난 </a:t>
            </a:r>
            <a:r>
              <a:rPr kumimoji="0" lang="ko-KR" altLang="en-US" sz="2200" dirty="0" err="1" smtClean="0"/>
              <a:t>테우트여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기술에 속하는 것들을 만들어내는 능력을 가진 사람이 있다면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그것들이 사용하려는 사람들에게 끼치는 손해와 이익을 판단하는 능력을 가진 사람은 따로 있는 법이요</a:t>
            </a:r>
            <a:r>
              <a:rPr kumimoji="0" lang="en-US" altLang="ko-KR" sz="2200" dirty="0" smtClean="0"/>
              <a:t>“ </a:t>
            </a:r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“</a:t>
            </a:r>
            <a:r>
              <a:rPr kumimoji="0" lang="ko-KR" altLang="en-US" sz="2200" dirty="0" smtClean="0"/>
              <a:t>이제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그대는 문자의 아버지로서 그것들에 대해 선의를 품고 있기에 그것들이 할 수 있는 것과 정반대되는 것을 </a:t>
            </a:r>
            <a:r>
              <a:rPr kumimoji="0" lang="ko-KR" altLang="en-US" sz="2200" dirty="0" err="1" smtClean="0"/>
              <a:t>말했소</a:t>
            </a:r>
            <a:r>
              <a:rPr kumimoji="0" lang="en-US" altLang="ko-KR" sz="2200" dirty="0" smtClean="0"/>
              <a:t>. </a:t>
            </a:r>
            <a:r>
              <a:rPr kumimoji="0" lang="ko-KR" altLang="en-US" sz="2200" dirty="0" smtClean="0"/>
              <a:t>왜냐하면 그것은 그것을 배운 </a:t>
            </a:r>
            <a:r>
              <a:rPr kumimoji="0" lang="ko-KR" altLang="en-US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사람들로 하여금 기억에 무관심하게 해서 그들의 영혼 속에 망각을 낳을 것</a:t>
            </a:r>
            <a:r>
              <a:rPr kumimoji="0" lang="ko-KR" altLang="en-US" sz="2200" dirty="0" smtClean="0"/>
              <a:t>이기 때문이오</a:t>
            </a:r>
            <a:r>
              <a:rPr kumimoji="0" lang="en-US" altLang="ko-KR" sz="2200" dirty="0" smtClean="0"/>
              <a:t>“</a:t>
            </a:r>
          </a:p>
          <a:p>
            <a:pPr marL="0" indent="0">
              <a:buNone/>
            </a:pPr>
            <a:endParaRPr kumimoji="0" lang="ko-KR" altLang="en-US" sz="22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412776"/>
            <a:ext cx="29622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323528" y="980728"/>
            <a:ext cx="4752528" cy="4929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err="1" smtClean="0"/>
              <a:t>타무스왕</a:t>
            </a:r>
            <a:endParaRPr kumimoji="0" lang="en-US" altLang="ko-KR" sz="2200" b="1" dirty="0" smtClean="0"/>
          </a:p>
          <a:p>
            <a:pPr marL="0" indent="0">
              <a:buNone/>
            </a:pP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 smtClean="0"/>
              <a:t>  “</a:t>
            </a:r>
            <a:r>
              <a:rPr kumimoji="0" lang="ko-KR" altLang="en-US" sz="2200" dirty="0" smtClean="0"/>
              <a:t>그들은 글쓰기에 대한 믿음 탓에 바깥에서 오는 낯선 흔적들에 의존할 뿐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안으로부터 자기 자신의 힘을 빌려 상기하지 않기 때문이오</a:t>
            </a:r>
            <a:r>
              <a:rPr kumimoji="0" lang="en-US" altLang="ko-KR" sz="2200" dirty="0" smtClean="0"/>
              <a:t>“</a:t>
            </a:r>
          </a:p>
          <a:p>
            <a:pPr marL="0" indent="0">
              <a:buNone/>
            </a:pP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 “</a:t>
            </a:r>
            <a:r>
              <a:rPr kumimoji="0" lang="ko-KR" altLang="en-US" sz="2200" dirty="0" smtClean="0"/>
              <a:t>그러니 당신이 발명한 것은 기억</a:t>
            </a:r>
            <a:r>
              <a:rPr kumimoji="0" lang="en-US" altLang="ko-KR" sz="2200" dirty="0" smtClean="0"/>
              <a:t>(</a:t>
            </a:r>
            <a:r>
              <a:rPr kumimoji="0" lang="en-US" altLang="ko-KR" sz="2200" dirty="0" err="1" smtClean="0"/>
              <a:t>mneme</a:t>
            </a:r>
            <a:r>
              <a:rPr kumimoji="0" lang="en-US" altLang="ko-KR" sz="2200" dirty="0" smtClean="0"/>
              <a:t>)</a:t>
            </a:r>
            <a:r>
              <a:rPr kumimoji="0" lang="ko-KR" altLang="en-US" sz="2200" dirty="0" smtClean="0"/>
              <a:t>의 묘약이 아니라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상기</a:t>
            </a:r>
            <a:r>
              <a:rPr kumimoji="0" lang="en-US" altLang="ko-KR" sz="2200" dirty="0" smtClean="0"/>
              <a:t>(</a:t>
            </a:r>
            <a:r>
              <a:rPr kumimoji="0" lang="ko-KR" altLang="en-US" sz="2200" dirty="0" err="1" smtClean="0"/>
              <a:t>보조기억</a:t>
            </a:r>
            <a:r>
              <a:rPr kumimoji="0" lang="en-US" altLang="ko-KR" sz="2200" dirty="0" smtClean="0"/>
              <a:t>, </a:t>
            </a:r>
            <a:r>
              <a:rPr kumimoji="0" lang="en-US" altLang="ko-KR" sz="2200" dirty="0" err="1" smtClean="0"/>
              <a:t>hypomnesis</a:t>
            </a:r>
            <a:r>
              <a:rPr kumimoji="0" lang="en-US" altLang="ko-KR" sz="2200" dirty="0" smtClean="0"/>
              <a:t>)</a:t>
            </a:r>
            <a:r>
              <a:rPr kumimoji="0" lang="ko-KR" altLang="en-US" sz="2200" dirty="0" smtClean="0"/>
              <a:t>의 묘약이지요</a:t>
            </a:r>
            <a:r>
              <a:rPr kumimoji="0" lang="en-US" altLang="ko-KR" sz="2200" dirty="0" smtClean="0"/>
              <a:t>“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412776"/>
            <a:ext cx="29622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9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827584" y="548680"/>
            <a:ext cx="4176464" cy="5616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smtClean="0"/>
              <a:t>소크라테스</a:t>
            </a:r>
            <a:r>
              <a:rPr kumimoji="0" lang="en-US" altLang="ko-KR" sz="2200" b="1" smtClean="0"/>
              <a:t>/</a:t>
            </a:r>
            <a:r>
              <a:rPr kumimoji="0" lang="ko-KR" altLang="en-US" sz="2200" b="1" smtClean="0"/>
              <a:t>플라톤</a:t>
            </a:r>
            <a:endParaRPr kumimoji="0" lang="en-US" altLang="ko-KR" sz="2200" b="1" dirty="0" smtClean="0"/>
          </a:p>
          <a:p>
            <a:pPr>
              <a:buFont typeface="Wingdings" panose="05000000000000000000" pitchFamily="2" charset="2"/>
              <a:buChar char="ü"/>
            </a:pP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 smtClean="0"/>
              <a:t>  “</a:t>
            </a:r>
            <a:r>
              <a:rPr kumimoji="0" lang="ko-KR" altLang="en-US" sz="2200" dirty="0" smtClean="0"/>
              <a:t>엄중한 침묵</a:t>
            </a:r>
            <a:r>
              <a:rPr kumimoji="0" lang="en-US" altLang="ko-KR" sz="2200" dirty="0" smtClean="0"/>
              <a:t>＂</a:t>
            </a:r>
            <a:r>
              <a:rPr kumimoji="0" lang="ko-KR" altLang="en-US" sz="2200" dirty="0" smtClean="0"/>
              <a:t>의 텍스트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질문에 대답을 못함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틀림이 판명되더라도 그대로 남아 있음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</a:p>
          <a:p>
            <a:pPr marL="0" indent="0">
              <a:buNone/>
            </a:pPr>
            <a:r>
              <a:rPr kumimoji="0" lang="en-US" altLang="ko-KR" sz="2200" dirty="0" smtClean="0"/>
              <a:t>  “</a:t>
            </a:r>
            <a:r>
              <a:rPr kumimoji="0" lang="ko-KR" altLang="en-US" sz="2200" dirty="0" smtClean="0"/>
              <a:t>말은 준비된 마음 속에 조심스럽게 심어지는 씨앗처럼 다루어야 한다</a:t>
            </a:r>
            <a:r>
              <a:rPr kumimoji="0" lang="en-US" altLang="ko-KR" sz="2200" dirty="0" smtClean="0"/>
              <a:t>.”</a:t>
            </a:r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= </a:t>
            </a:r>
            <a:r>
              <a:rPr kumimoji="0" lang="ko-KR" altLang="en-US" sz="2200" dirty="0" smtClean="0"/>
              <a:t>대화</a:t>
            </a:r>
            <a:r>
              <a:rPr kumimoji="0" lang="en-US" altLang="ko-KR" sz="2200" dirty="0" smtClean="0"/>
              <a:t>(dialogue) </a:t>
            </a:r>
            <a:r>
              <a:rPr kumimoji="0" lang="ko-KR" altLang="en-US" sz="2200" dirty="0" smtClean="0"/>
              <a:t>속에서 이야기 나누기</a:t>
            </a:r>
            <a:r>
              <a:rPr kumimoji="0" lang="en-US" altLang="ko-KR" sz="2200" dirty="0" smtClean="0"/>
              <a:t>(conversation)</a:t>
            </a:r>
            <a:r>
              <a:rPr kumimoji="0" lang="ko-KR" altLang="en-US" sz="2200" dirty="0" smtClean="0"/>
              <a:t>을 통해 길러야 </a:t>
            </a:r>
            <a:endParaRPr kumimoji="0" lang="en-US" altLang="ko-KR" sz="2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1484784"/>
            <a:ext cx="29622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02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/>
          <p:cNvSpPr>
            <a:spLocks noGrp="1"/>
          </p:cNvSpPr>
          <p:nvPr>
            <p:ph type="title"/>
          </p:nvPr>
        </p:nvSpPr>
        <p:spPr>
          <a:xfrm>
            <a:off x="457200" y="428612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Arial Rounded MT Bold" pitchFamily="34" charset="0"/>
                <a:ea typeface="휴먼모음T" pitchFamily="18" charset="-127"/>
              </a:rPr>
              <a:t>3</a:t>
            </a:r>
            <a:r>
              <a:rPr lang="en-US" altLang="ko-KR" dirty="0" smtClean="0">
                <a:latin typeface="Arial Rounded MT Bold" pitchFamily="34" charset="0"/>
                <a:ea typeface="휴먼모음T" pitchFamily="18" charset="-127"/>
              </a:rPr>
              <a:t>. </a:t>
            </a:r>
            <a:r>
              <a:rPr lang="ko-KR" altLang="en-US" dirty="0" smtClean="0">
                <a:latin typeface="Arial Rounded MT Bold" pitchFamily="34" charset="0"/>
                <a:ea typeface="휴먼모음T" pitchFamily="18" charset="-127"/>
              </a:rPr>
              <a:t>인쇄미디어의 발전</a:t>
            </a:r>
            <a:endParaRPr lang="en-US" altLang="ko-KR" b="1" dirty="0" smtClean="0"/>
          </a:p>
        </p:txBody>
      </p:sp>
      <p:sp>
        <p:nvSpPr>
          <p:cNvPr id="13315" name="내용 개체 틀 2"/>
          <p:cNvSpPr>
            <a:spLocks noGrp="1"/>
          </p:cNvSpPr>
          <p:nvPr>
            <p:ph idx="1"/>
          </p:nvPr>
        </p:nvSpPr>
        <p:spPr>
          <a:xfrm>
            <a:off x="571500" y="1500174"/>
            <a:ext cx="8072438" cy="4572014"/>
          </a:xfrm>
        </p:spPr>
        <p:txBody>
          <a:bodyPr/>
          <a:lstStyle/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Ø"/>
            </a:pPr>
            <a:r>
              <a:rPr lang="en-US" altLang="ko-KR" dirty="0" smtClean="0"/>
              <a:t>1001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Leif Eriksson </a:t>
            </a:r>
            <a:r>
              <a:rPr lang="ko-KR" altLang="en-US" dirty="0" smtClean="0"/>
              <a:t>그린란드 </a:t>
            </a:r>
            <a:r>
              <a:rPr lang="ko-KR" altLang="en-US" dirty="0" err="1" smtClean="0"/>
              <a:t>바이킹족의</a:t>
            </a:r>
            <a:r>
              <a:rPr lang="ko-KR" altLang="en-US" dirty="0" smtClean="0"/>
              <a:t> 신대륙 발견과 </a:t>
            </a:r>
            <a:r>
              <a:rPr lang="en-US" altLang="ko-KR" dirty="0" smtClean="0"/>
              <a:t>1492</a:t>
            </a:r>
            <a:r>
              <a:rPr lang="ko-KR" altLang="en-US" dirty="0" smtClean="0"/>
              <a:t>년 콜럼버스 미대륙 발견이 유럽에 전파되는 방식의 차이는</a:t>
            </a:r>
            <a:r>
              <a:rPr lang="en-US" altLang="ko-KR" dirty="0" smtClean="0"/>
              <a:t>?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ko-KR" altLang="en-US" b="1" dirty="0" smtClean="0"/>
              <a:t>   인쇄술 발명 이전의 뉴스 전달</a:t>
            </a:r>
            <a:endParaRPr lang="en-US" altLang="ko-KR" b="1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dirty="0"/>
              <a:t> </a:t>
            </a:r>
            <a:r>
              <a:rPr lang="ko-KR" altLang="en-US" dirty="0" smtClean="0"/>
              <a:t>아메리카 대륙에서 가져온 앵무새</a:t>
            </a:r>
            <a:r>
              <a:rPr lang="en-US" altLang="ko-KR" dirty="0" smtClean="0"/>
              <a:t>, </a:t>
            </a:r>
            <a:r>
              <a:rPr lang="ko-KR" altLang="en-US" dirty="0" smtClean="0"/>
              <a:t>콜럼버스의 편지</a:t>
            </a: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ko-KR" altLang="en-US" dirty="0" smtClean="0"/>
              <a:t>여행객들의 구전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공지사항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개인들 간의 편지</a:t>
            </a: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ko-KR" altLang="en-US" dirty="0" smtClean="0"/>
              <a:t> 뉴스 전파 속도가 늦고 지역이 한정적</a:t>
            </a:r>
            <a:endParaRPr lang="en-US" altLang="ko-KR" dirty="0" smtClean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Char char="ü"/>
            </a:pPr>
            <a:r>
              <a:rPr lang="en-US" altLang="ko-KR" dirty="0" smtClean="0"/>
              <a:t> </a:t>
            </a:r>
            <a:r>
              <a:rPr lang="ko-KR" altLang="en-US" dirty="0" smtClean="0"/>
              <a:t>내용의 </a:t>
            </a:r>
            <a:r>
              <a:rPr lang="ko-KR" altLang="en-US" dirty="0"/>
              <a:t>정확성</a:t>
            </a:r>
            <a:r>
              <a:rPr lang="en-US" altLang="ko-KR" dirty="0"/>
              <a:t>, </a:t>
            </a:r>
            <a:r>
              <a:rPr lang="ko-KR" altLang="en-US" dirty="0" smtClean="0"/>
              <a:t>신빙성 낮음</a:t>
            </a: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 - </a:t>
            </a:r>
            <a:r>
              <a:rPr lang="ko-KR" altLang="en-US" dirty="0" smtClean="0"/>
              <a:t>옮기는 과정에서 발생하는 </a:t>
            </a:r>
            <a:r>
              <a:rPr lang="ko-KR" altLang="en-US" dirty="0"/>
              <a:t>오보</a:t>
            </a:r>
            <a:endParaRPr lang="en-US" altLang="ko-KR" dirty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b="1" dirty="0"/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en-US" altLang="ko-KR" dirty="0" smtClean="0"/>
              <a:t>  </a:t>
            </a:r>
          </a:p>
          <a:p>
            <a:pPr marL="0" indent="0" eaLnBrk="1" hangingPunct="1">
              <a:spcBef>
                <a:spcPct val="10000"/>
              </a:spcBef>
              <a:buNone/>
            </a:pPr>
            <a:endParaRPr lang="en-US" altLang="ko-KR" dirty="0" smtClean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ko-KR" altLang="en-US" smtClean="0"/>
              <a:t>미디어와 공동체</a:t>
            </a:r>
            <a:endParaRPr lang="ko-KR" altLang="en-US" dirty="0"/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13319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/>
          </a:p>
        </p:txBody>
      </p:sp>
      <p:sp>
        <p:nvSpPr>
          <p:cNvPr id="7" name="아래쪽 리본 6"/>
          <p:cNvSpPr/>
          <p:nvPr/>
        </p:nvSpPr>
        <p:spPr>
          <a:xfrm>
            <a:off x="571500" y="3429000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39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610420" y="548681"/>
            <a:ext cx="822960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sz="2200" b="1" dirty="0" smtClean="0"/>
              <a:t>   </a:t>
            </a:r>
            <a:r>
              <a:rPr kumimoji="0" lang="ko-KR" altLang="en-US" sz="2200" b="1" dirty="0" smtClean="0"/>
              <a:t>콜럼버스 신대륙 발견의 전파 속도</a:t>
            </a:r>
            <a:endParaRPr kumimoji="0" lang="en-US" altLang="ko-KR" sz="2200" b="1" dirty="0" smtClean="0"/>
          </a:p>
          <a:p>
            <a:pPr marL="0" indent="0">
              <a:buNone/>
            </a:pP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b="1" dirty="0" smtClean="0"/>
              <a:t> </a:t>
            </a:r>
            <a:r>
              <a:rPr kumimoji="0" lang="en-US" altLang="ko-KR" sz="2200" dirty="0" smtClean="0"/>
              <a:t>- 1493</a:t>
            </a:r>
            <a:r>
              <a:rPr kumimoji="0" lang="ko-KR" altLang="en-US" sz="2200" dirty="0" smtClean="0"/>
              <a:t>년 </a:t>
            </a:r>
            <a:r>
              <a:rPr kumimoji="0" lang="en-US" altLang="ko-KR" sz="2200" dirty="0" smtClean="0"/>
              <a:t>3</a:t>
            </a:r>
            <a:r>
              <a:rPr kumimoji="0" lang="ko-KR" altLang="en-US" sz="2200" dirty="0" smtClean="0"/>
              <a:t>월 스페인 귀환 </a:t>
            </a:r>
            <a:r>
              <a:rPr kumimoji="0" lang="en-US" altLang="ko-KR" sz="2200" dirty="0" smtClean="0"/>
              <a:t>(14</a:t>
            </a:r>
            <a:r>
              <a:rPr kumimoji="0" lang="ko-KR" altLang="en-US" sz="2200" dirty="0" smtClean="0"/>
              <a:t>일경 편지 작성</a:t>
            </a:r>
            <a:r>
              <a:rPr kumimoji="0" lang="en-US" altLang="ko-KR" sz="2200" dirty="0" smtClean="0"/>
              <a:t>)</a:t>
            </a:r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- 4</a:t>
            </a:r>
            <a:r>
              <a:rPr kumimoji="0" lang="ko-KR" altLang="en-US" sz="2200" dirty="0" smtClean="0"/>
              <a:t>월 </a:t>
            </a:r>
            <a:r>
              <a:rPr kumimoji="0" lang="en-US" altLang="ko-KR" sz="2200" dirty="0" smtClean="0"/>
              <a:t>1</a:t>
            </a:r>
            <a:r>
              <a:rPr kumimoji="0" lang="ko-KR" altLang="en-US" sz="2200" dirty="0" smtClean="0"/>
              <a:t>일 콜럼버스 편지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바르셀로나에서 인쇄되어 수 백 장 배포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- 5</a:t>
            </a:r>
            <a:r>
              <a:rPr kumimoji="0" lang="ko-KR" altLang="en-US" sz="2200" dirty="0" smtClean="0"/>
              <a:t>월초 로마에서 라틴어 인쇄</a:t>
            </a:r>
            <a:r>
              <a:rPr kumimoji="0" lang="en-US" altLang="ko-KR" sz="2200" dirty="0"/>
              <a:t> 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 </a:t>
            </a:r>
            <a:r>
              <a:rPr kumimoji="0" lang="ko-KR" altLang="en-US" sz="2200" dirty="0" smtClean="0">
                <a:sym typeface="Wingdings" panose="05000000000000000000" pitchFamily="2" charset="2"/>
              </a:rPr>
              <a:t>베스트셀러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ko-KR" altLang="en-US" sz="2200" dirty="0" smtClean="0"/>
              <a:t> </a:t>
            </a:r>
            <a:r>
              <a:rPr kumimoji="0" lang="en-US" altLang="ko-KR" sz="2200" dirty="0" smtClean="0"/>
              <a:t>- 1493</a:t>
            </a:r>
            <a:r>
              <a:rPr kumimoji="0" lang="ko-KR" altLang="en-US" sz="2200" dirty="0" smtClean="0"/>
              <a:t>년 내 프랑스 파리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벨기에 </a:t>
            </a:r>
            <a:r>
              <a:rPr kumimoji="0" lang="ko-KR" altLang="en-US" sz="2200" dirty="0" err="1" smtClean="0"/>
              <a:t>안트베르펜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스위스 바젤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이탈리아 피렌체</a:t>
            </a:r>
            <a:r>
              <a:rPr kumimoji="0" lang="en-US" altLang="ko-KR" sz="2200" dirty="0" smtClean="0"/>
              <a:t>(</a:t>
            </a:r>
            <a:r>
              <a:rPr kumimoji="0" lang="ko-KR" altLang="en-US" sz="2200" dirty="0" smtClean="0"/>
              <a:t>플로렌스</a:t>
            </a:r>
            <a:r>
              <a:rPr kumimoji="0" lang="en-US" altLang="ko-KR" sz="2200" dirty="0" smtClean="0"/>
              <a:t>) </a:t>
            </a:r>
            <a:r>
              <a:rPr kumimoji="0" lang="ko-KR" altLang="en-US" sz="2200" dirty="0" smtClean="0"/>
              <a:t>등에서 인쇄</a:t>
            </a:r>
            <a:endParaRPr kumimoji="0" lang="en-US" altLang="ko-KR" sz="2200" dirty="0" smtClean="0"/>
          </a:p>
        </p:txBody>
      </p:sp>
      <p:sp>
        <p:nvSpPr>
          <p:cNvPr id="4" name="아래쪽 리본 3"/>
          <p:cNvSpPr/>
          <p:nvPr/>
        </p:nvSpPr>
        <p:spPr>
          <a:xfrm>
            <a:off x="569487" y="620688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20" y="4005064"/>
            <a:ext cx="3936876" cy="2212235"/>
          </a:xfrm>
          <a:prstGeom prst="rect">
            <a:avLst/>
          </a:prstGeom>
        </p:spPr>
      </p:pic>
      <p:sp>
        <p:nvSpPr>
          <p:cNvPr id="6" name="Rectangle 5"/>
          <p:cNvSpPr txBox="1">
            <a:spLocks noChangeArrowheads="1"/>
          </p:cNvSpPr>
          <p:nvPr/>
        </p:nvSpPr>
        <p:spPr bwMode="auto">
          <a:xfrm>
            <a:off x="4932040" y="3429000"/>
            <a:ext cx="3907980" cy="1977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0" lang="en-US" altLang="ko-KR" sz="2200" dirty="0"/>
          </a:p>
          <a:p>
            <a:pPr marL="0" indent="0">
              <a:buNone/>
            </a:pPr>
            <a:r>
              <a:rPr kumimoji="0" lang="ko-KR" altLang="en-US" sz="2200" dirty="0" smtClean="0"/>
              <a:t> 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 </a:t>
            </a:r>
            <a:r>
              <a:rPr kumimoji="0" lang="ko-KR" altLang="en-US" sz="2200" dirty="0" smtClean="0">
                <a:sym typeface="Wingdings" panose="05000000000000000000" pitchFamily="2" charset="2"/>
              </a:rPr>
              <a:t>짧은 시간 내에 발견</a:t>
            </a:r>
            <a:r>
              <a:rPr kumimoji="0" lang="ko-KR" altLang="en-US" sz="2200" dirty="0" smtClean="0"/>
              <a:t> 소식 상당 부분을 전 유럽 지식 계층에게 생생하게 전달</a:t>
            </a:r>
            <a:endParaRPr kumimoji="0" lang="en-US" altLang="ko-KR" sz="2200" dirty="0" smtClean="0"/>
          </a:p>
        </p:txBody>
      </p:sp>
    </p:spTree>
    <p:extLst>
      <p:ext uri="{BB962C8B-B14F-4D97-AF65-F5344CB8AC3E}">
        <p14:creationId xmlns:p14="http://schemas.microsoft.com/office/powerpoint/2010/main" val="323403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827584" y="1016221"/>
            <a:ext cx="7560840" cy="5140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altLang="ko-KR" b="1" dirty="0" smtClean="0"/>
              <a:t>1) </a:t>
            </a:r>
            <a:r>
              <a:rPr kumimoji="0" lang="ko-KR" altLang="en-US" b="1" dirty="0" err="1" smtClean="0"/>
              <a:t>구텐베르크의</a:t>
            </a:r>
            <a:r>
              <a:rPr kumimoji="0" lang="ko-KR" altLang="en-US" b="1" dirty="0" smtClean="0"/>
              <a:t> 활판 인쇄 기술</a:t>
            </a:r>
            <a:endParaRPr kumimoji="0" lang="en-US" altLang="ko-KR" b="1" dirty="0" smtClean="0"/>
          </a:p>
          <a:p>
            <a:pPr marL="0" indent="0">
              <a:buNone/>
            </a:pPr>
            <a:endParaRPr kumimoji="0" lang="en-US" altLang="ko-KR" sz="2200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dirty="0"/>
              <a:t>낱개의 글자를 필요에 따라 끼웠다 </a:t>
            </a:r>
            <a:r>
              <a:rPr kumimoji="0" lang="ko-KR" altLang="en-US" sz="2200" dirty="0" err="1"/>
              <a:t>재조립</a:t>
            </a:r>
            <a:r>
              <a:rPr kumimoji="0" lang="ko-KR" altLang="en-US" sz="2200" dirty="0"/>
              <a:t> 할 수 </a:t>
            </a:r>
            <a:r>
              <a:rPr kumimoji="0" lang="ko-KR" altLang="en-US" sz="2200" dirty="0" smtClean="0"/>
              <a:t>있는 활판을 기계로 눌러</a:t>
            </a:r>
            <a:r>
              <a:rPr kumimoji="0" lang="en-US" altLang="ko-KR" sz="2200" dirty="0" smtClean="0"/>
              <a:t>(press)</a:t>
            </a:r>
            <a:r>
              <a:rPr kumimoji="0" lang="ko-KR" altLang="en-US" sz="2200" dirty="0" smtClean="0"/>
              <a:t> 출판하는 기술</a:t>
            </a:r>
            <a:endParaRPr kumimoji="0" lang="en-US" altLang="ko-KR" sz="2200" dirty="0"/>
          </a:p>
          <a:p>
            <a:pPr marL="0" indent="0">
              <a:buNone/>
            </a:pPr>
            <a:r>
              <a:rPr kumimoji="0" lang="ko-KR" altLang="en-US" sz="2200" dirty="0" smtClean="0"/>
              <a:t> </a:t>
            </a:r>
            <a:r>
              <a:rPr kumimoji="0" lang="en-US" altLang="ko-KR" sz="2200" dirty="0" smtClean="0"/>
              <a:t>cf. </a:t>
            </a:r>
            <a:r>
              <a:rPr kumimoji="0" lang="ko-KR" altLang="en-US" sz="2200" dirty="0" smtClean="0"/>
              <a:t>한국의 금속활자</a:t>
            </a:r>
            <a:endParaRPr kumimoji="0" lang="en-US" altLang="ko-KR" sz="2200" dirty="0" smtClean="0"/>
          </a:p>
          <a:p>
            <a:pPr marL="0" indent="0">
              <a:buNone/>
            </a:pPr>
            <a:endParaRPr kumimoji="0" lang="en-US" altLang="ko-KR" sz="22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dirty="0" smtClean="0"/>
              <a:t>이전의 여러 기술을 조합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발전시킴</a:t>
            </a:r>
            <a:endParaRPr kumimoji="0" lang="en-US" altLang="ko-KR" sz="2200" dirty="0" smtClean="0"/>
          </a:p>
          <a:p>
            <a:r>
              <a:rPr kumimoji="0" lang="ko-KR" altLang="en-US" sz="2000" dirty="0" err="1" smtClean="0"/>
              <a:t>주형제작</a:t>
            </a:r>
            <a:r>
              <a:rPr kumimoji="0" lang="ko-KR" altLang="en-US" sz="2000" dirty="0" smtClean="0"/>
              <a:t> </a:t>
            </a:r>
            <a:r>
              <a:rPr kumimoji="0" lang="en-US" altLang="ko-KR" sz="2000" dirty="0" smtClean="0"/>
              <a:t>– </a:t>
            </a:r>
            <a:r>
              <a:rPr kumimoji="0" lang="ko-KR" altLang="en-US" sz="2000" dirty="0" smtClean="0"/>
              <a:t>금속을 녹여 주물을 제작하는</a:t>
            </a:r>
            <a:endParaRPr kumimoji="0" lang="en-US" altLang="ko-KR" sz="2000" dirty="0" smtClean="0"/>
          </a:p>
          <a:p>
            <a:pPr marL="0" indent="0">
              <a:buNone/>
            </a:pPr>
            <a:r>
              <a:rPr kumimoji="0" lang="en-US" altLang="ko-KR" sz="2000" dirty="0"/>
              <a:t> </a:t>
            </a:r>
            <a:r>
              <a:rPr kumimoji="0" lang="en-US" altLang="ko-KR" sz="2000" dirty="0" smtClean="0"/>
              <a:t>               </a:t>
            </a:r>
            <a:r>
              <a:rPr kumimoji="0" lang="ko-KR" altLang="en-US" sz="2000" dirty="0" smtClean="0"/>
              <a:t> 기술</a:t>
            </a:r>
            <a:endParaRPr kumimoji="0" lang="en-US" altLang="ko-KR" sz="2000" dirty="0" smtClean="0"/>
          </a:p>
          <a:p>
            <a:r>
              <a:rPr kumimoji="0" lang="ko-KR" altLang="en-US" sz="2000" dirty="0" smtClean="0"/>
              <a:t>개별 자형 가공 </a:t>
            </a:r>
            <a:r>
              <a:rPr kumimoji="0" lang="en-US" altLang="ko-KR" sz="2000" dirty="0" smtClean="0"/>
              <a:t>– </a:t>
            </a:r>
            <a:r>
              <a:rPr kumimoji="0" lang="ko-KR" altLang="en-US" sz="2000" dirty="0" smtClean="0"/>
              <a:t>주화 및 도장 제조에 사용</a:t>
            </a:r>
            <a:endParaRPr kumimoji="0" lang="en-US" altLang="ko-KR" sz="2000" dirty="0" smtClean="0"/>
          </a:p>
          <a:p>
            <a:r>
              <a:rPr kumimoji="0" lang="ko-KR" altLang="en-US" sz="2000" dirty="0" smtClean="0"/>
              <a:t>기계식 압축기 </a:t>
            </a:r>
            <a:r>
              <a:rPr kumimoji="0" lang="en-US" altLang="ko-KR" sz="2000" dirty="0" smtClean="0"/>
              <a:t>– </a:t>
            </a:r>
            <a:r>
              <a:rPr kumimoji="0" lang="ko-KR" altLang="en-US" sz="2000" dirty="0" smtClean="0"/>
              <a:t>포도송이 압축기</a:t>
            </a:r>
            <a:endParaRPr kumimoji="0" lang="en-US" altLang="ko-KR" sz="2000" dirty="0" smtClean="0"/>
          </a:p>
          <a:p>
            <a:r>
              <a:rPr kumimoji="0" lang="ko-KR" altLang="en-US" sz="2000" dirty="0" smtClean="0"/>
              <a:t>종이 </a:t>
            </a:r>
            <a:r>
              <a:rPr kumimoji="0" lang="en-US" altLang="ko-KR" sz="2000" dirty="0" smtClean="0"/>
              <a:t>– </a:t>
            </a:r>
            <a:r>
              <a:rPr kumimoji="0" lang="ko-KR" altLang="en-US" sz="2000" dirty="0" smtClean="0"/>
              <a:t>양피지 대체 </a:t>
            </a:r>
            <a:r>
              <a:rPr kumimoji="0" lang="ko-KR" altLang="en-US" sz="2000" dirty="0" err="1" smtClean="0"/>
              <a:t>신재료</a:t>
            </a:r>
            <a:r>
              <a:rPr kumimoji="0" lang="ko-KR" altLang="en-US" sz="2000" dirty="0" smtClean="0"/>
              <a:t> </a:t>
            </a:r>
            <a:endParaRPr kumimoji="0" lang="en-US" altLang="ko-KR" sz="2000" dirty="0" smtClean="0"/>
          </a:p>
          <a:p>
            <a:pPr marL="0" indent="0">
              <a:buNone/>
            </a:pPr>
            <a:r>
              <a:rPr kumimoji="0" lang="en-US" altLang="ko-KR" sz="2000" dirty="0" smtClean="0"/>
              <a:t>            </a:t>
            </a:r>
            <a:r>
              <a:rPr kumimoji="0" lang="ko-KR" altLang="en-US" sz="2000" dirty="0" smtClean="0"/>
              <a:t>예</a:t>
            </a:r>
            <a:r>
              <a:rPr kumimoji="0" lang="en-US" altLang="ko-KR" sz="2000" dirty="0" smtClean="0"/>
              <a:t>) 1389</a:t>
            </a:r>
            <a:r>
              <a:rPr kumimoji="0" lang="ko-KR" altLang="en-US" sz="2000" dirty="0" smtClean="0"/>
              <a:t>년 뉘른베르크 작업장</a:t>
            </a:r>
            <a:endParaRPr kumimoji="0" lang="en-US" altLang="ko-KR" sz="2000" dirty="0" smtClean="0"/>
          </a:p>
        </p:txBody>
      </p:sp>
      <p:pic>
        <p:nvPicPr>
          <p:cNvPr id="2052" name="Picture 4" descr="지구촌 시대 첫 삽 뜬 '인쇄술의 아버지' - 중앙일보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356992"/>
            <a:ext cx="2234874" cy="2799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90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67544" y="1016220"/>
            <a:ext cx="8229600" cy="528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b="1" dirty="0" smtClean="0"/>
              <a:t>   영상 자료</a:t>
            </a:r>
            <a:endParaRPr kumimoji="0" lang="en-US" altLang="ko-KR" b="1" dirty="0" smtClean="0"/>
          </a:p>
          <a:p>
            <a:pPr marL="0" indent="0">
              <a:buNone/>
            </a:pP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ko-KR" altLang="en-US" sz="2200" dirty="0" smtClean="0">
                <a:hlinkClick r:id="rId3"/>
              </a:rPr>
              <a:t>독일 바이에른 방송의 </a:t>
            </a:r>
            <a:r>
              <a:rPr kumimoji="0" lang="en-US" altLang="ko-KR" sz="2200" dirty="0" smtClean="0">
                <a:hlinkClick r:id="rId3"/>
              </a:rPr>
              <a:t>&lt;</a:t>
            </a:r>
            <a:r>
              <a:rPr lang="en-US" altLang="ko-KR" dirty="0">
                <a:hlinkClick r:id="rId3"/>
              </a:rPr>
              <a:t>The Printing Press ~ Johannes </a:t>
            </a:r>
            <a:r>
              <a:rPr lang="en-US" altLang="ko-KR" dirty="0" smtClean="0">
                <a:hlinkClick r:id="rId3"/>
              </a:rPr>
              <a:t>Gutenberg&gt;</a:t>
            </a:r>
            <a:endParaRPr lang="en-US" altLang="ko-KR" dirty="0"/>
          </a:p>
          <a:p>
            <a:pPr marL="0" indent="0">
              <a:buNone/>
            </a:pP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EBS &lt;</a:t>
            </a:r>
            <a:r>
              <a:rPr kumimoji="0" lang="ko-KR" altLang="en-US" sz="2200" dirty="0" smtClean="0"/>
              <a:t>다큐 프라임</a:t>
            </a:r>
            <a:r>
              <a:rPr kumimoji="0" lang="en-US" altLang="ko-KR" sz="2200" dirty="0" smtClean="0"/>
              <a:t>&gt;, 941</a:t>
            </a:r>
            <a:r>
              <a:rPr kumimoji="0" lang="ko-KR" altLang="en-US" sz="2200" dirty="0" smtClean="0"/>
              <a:t>회 </a:t>
            </a:r>
            <a:r>
              <a:rPr kumimoji="0" lang="en-US" altLang="ko-KR" sz="2200" dirty="0" smtClean="0"/>
              <a:t>(2019.3.20), ‘</a:t>
            </a:r>
            <a:r>
              <a:rPr kumimoji="0" lang="ko-KR" altLang="en-US" sz="2200" dirty="0" smtClean="0"/>
              <a:t>나무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지식을 담다</a:t>
            </a:r>
            <a:r>
              <a:rPr kumimoji="0" lang="en-US" altLang="ko-KR" sz="2200" dirty="0" smtClean="0"/>
              <a:t>‘.  (5</a:t>
            </a:r>
            <a:r>
              <a:rPr kumimoji="0" lang="ko-KR" altLang="en-US" sz="2200" dirty="0" smtClean="0"/>
              <a:t>원소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문명의 기원</a:t>
            </a:r>
            <a:r>
              <a:rPr kumimoji="0" lang="en-US" altLang="ko-KR" sz="2200" dirty="0" smtClean="0"/>
              <a:t>) </a:t>
            </a:r>
            <a:r>
              <a:rPr kumimoji="0" lang="en-US" altLang="ko-KR" sz="2200" dirty="0" smtClean="0">
                <a:hlinkClick r:id="rId4"/>
              </a:rPr>
              <a:t>#2</a:t>
            </a:r>
            <a:r>
              <a:rPr kumimoji="0" lang="en-US" altLang="ko-KR" sz="2200" dirty="0" smtClean="0"/>
              <a:t>, </a:t>
            </a:r>
            <a:r>
              <a:rPr kumimoji="0" lang="en-US" altLang="ko-KR" sz="2200" dirty="0" smtClean="0">
                <a:hlinkClick r:id="rId5"/>
              </a:rPr>
              <a:t>#3</a:t>
            </a:r>
            <a:endParaRPr kumimoji="0" lang="en-US" altLang="ko-KR" sz="2200" dirty="0" smtClean="0"/>
          </a:p>
          <a:p>
            <a:pPr marL="0" indent="0">
              <a:buNone/>
            </a:pPr>
            <a:endParaRPr kumimoji="0" lang="en-US" altLang="ko-KR" sz="2200" dirty="0"/>
          </a:p>
        </p:txBody>
      </p:sp>
      <p:sp>
        <p:nvSpPr>
          <p:cNvPr id="3" name="아래쪽 리본 2"/>
          <p:cNvSpPr/>
          <p:nvPr/>
        </p:nvSpPr>
        <p:spPr>
          <a:xfrm>
            <a:off x="467544" y="1124744"/>
            <a:ext cx="285752" cy="187765"/>
          </a:xfrm>
          <a:prstGeom prst="ribbon">
            <a:avLst/>
          </a:prstGeom>
          <a:solidFill>
            <a:srgbClr val="7030A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131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3131453"/>
            <a:ext cx="5359485" cy="30338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99786"/>
            <a:ext cx="5608885" cy="294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854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856" y="3366336"/>
            <a:ext cx="5608393" cy="31434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280144"/>
            <a:ext cx="5462217" cy="3067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9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94235"/>
            <a:ext cx="5773826" cy="324036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510" y="3284984"/>
            <a:ext cx="6047656" cy="342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742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980728"/>
            <a:ext cx="8222169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53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- rebuilt - Hadermühle Stromers in a Nuremberg city view from 1493. Like all paper mills it was outside the city walls (the building complex in the lower right corner) due to the stench and nois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0648"/>
            <a:ext cx="8495506" cy="564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778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67544" y="1016220"/>
            <a:ext cx="8229600" cy="528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b="1" dirty="0" smtClean="0"/>
              <a:t>  </a:t>
            </a:r>
            <a:r>
              <a:rPr kumimoji="0" lang="en-US" altLang="ko-KR" b="1" dirty="0" smtClean="0"/>
              <a:t>2) </a:t>
            </a:r>
            <a:r>
              <a:rPr kumimoji="0" lang="ko-KR" altLang="en-US" b="1" dirty="0" smtClean="0"/>
              <a:t>인쇄 미디어 발전의 사회적 배경</a:t>
            </a:r>
            <a:endParaRPr kumimoji="0" lang="en-US" altLang="ko-KR" b="1" dirty="0" smtClean="0"/>
          </a:p>
          <a:p>
            <a:pPr marL="0" indent="0">
              <a:buNone/>
            </a:pPr>
            <a:endParaRPr kumimoji="0" lang="en-US" altLang="ko-KR" sz="2200" dirty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smtClean="0"/>
              <a:t>도시의 발전</a:t>
            </a: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인쇄술 발전에 필요한 다양한 기술 이용 가능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 - </a:t>
            </a:r>
            <a:r>
              <a:rPr kumimoji="0" lang="ko-KR" altLang="en-US" sz="2200" dirty="0" smtClean="0"/>
              <a:t>주문자 또는 구매자 존재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</a:t>
            </a:r>
            <a:r>
              <a:rPr kumimoji="0" lang="en-US" altLang="ko-KR" sz="2200" dirty="0" smtClean="0"/>
              <a:t> (</a:t>
            </a:r>
            <a:r>
              <a:rPr kumimoji="0" lang="ko-KR" altLang="en-US" sz="2200" dirty="0" smtClean="0"/>
              <a:t>카톨릭</a:t>
            </a:r>
            <a:r>
              <a:rPr kumimoji="0" lang="en-US" altLang="ko-KR" sz="2200" dirty="0" smtClean="0"/>
              <a:t>) </a:t>
            </a:r>
            <a:r>
              <a:rPr kumimoji="0" lang="ko-KR" altLang="en-US" sz="2200" dirty="0" err="1" smtClean="0"/>
              <a:t>주교좌</a:t>
            </a:r>
            <a:r>
              <a:rPr kumimoji="0" lang="ko-KR" altLang="en-US" sz="2200" dirty="0" smtClean="0"/>
              <a:t> 도시와 대학 도시 중심으로 발전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smtClean="0"/>
              <a:t>상공업의 발달</a:t>
            </a: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서적은 이전과 달리 상품으로 생산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</a:t>
            </a:r>
            <a:r>
              <a:rPr kumimoji="0" lang="ko-KR" altLang="en-US" sz="2200" dirty="0" smtClean="0"/>
              <a:t>교회의 면죄부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칙령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지도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달력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상품 카탈로그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교과서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서적</a:t>
            </a: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 smtClean="0"/>
              <a:t>    </a:t>
            </a:r>
            <a:r>
              <a:rPr kumimoji="0" lang="ko-KR" altLang="en-US" sz="2200" dirty="0" smtClean="0"/>
              <a:t>실용서</a:t>
            </a:r>
            <a:r>
              <a:rPr kumimoji="0" lang="en-US" altLang="ko-KR" sz="2200" dirty="0" smtClean="0"/>
              <a:t>: </a:t>
            </a:r>
            <a:r>
              <a:rPr kumimoji="0" lang="ko-KR" altLang="en-US" sz="2200" dirty="0" smtClean="0"/>
              <a:t>페스트 지침서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목욕 지침서</a:t>
            </a:r>
            <a:r>
              <a:rPr kumimoji="0" lang="en-US" altLang="ko-KR" sz="2200" dirty="0" smtClean="0"/>
              <a:t>, </a:t>
            </a:r>
            <a:r>
              <a:rPr kumimoji="0" lang="ko-KR" altLang="en-US" sz="2200" dirty="0" smtClean="0"/>
              <a:t>의학 안내서 등</a:t>
            </a:r>
            <a:endParaRPr kumimoji="0" lang="en-US" altLang="ko-KR" sz="1800" dirty="0" smtClean="0"/>
          </a:p>
          <a:p>
            <a:pPr marL="0" indent="0">
              <a:buNone/>
            </a:pPr>
            <a:endParaRPr kumimoji="0" lang="en-US" altLang="ko-KR" sz="1800" dirty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smtClean="0"/>
              <a:t>르네상스</a:t>
            </a:r>
            <a:endParaRPr kumimoji="0" lang="en-US" altLang="ko-KR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366820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67544" y="1016220"/>
            <a:ext cx="8229600" cy="528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ko-KR" altLang="en-US" b="1" dirty="0"/>
              <a:t> </a:t>
            </a:r>
            <a:r>
              <a:rPr kumimoji="0" lang="en-US" altLang="ko-KR" b="1" dirty="0" smtClean="0"/>
              <a:t>3) </a:t>
            </a:r>
            <a:r>
              <a:rPr kumimoji="0" lang="ko-KR" altLang="en-US" b="1" dirty="0" smtClean="0"/>
              <a:t>인쇄술의 영향</a:t>
            </a:r>
            <a:endParaRPr kumimoji="0" lang="en-US" altLang="ko-KR" b="1" dirty="0" smtClean="0"/>
          </a:p>
          <a:p>
            <a:pPr marL="0" indent="0">
              <a:buNone/>
            </a:pP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en-US" altLang="ko-KR" sz="2200" b="1" dirty="0" smtClean="0"/>
              <a:t>“</a:t>
            </a:r>
            <a:r>
              <a:rPr kumimoji="0" lang="ko-KR" altLang="en-US" sz="2200" b="1" dirty="0" smtClean="0"/>
              <a:t>인쇄의 폭발적 확대는 인간의 마음과 소리를 널리 퍼지게 하여</a:t>
            </a:r>
            <a:r>
              <a:rPr kumimoji="0" lang="en-US" altLang="ko-KR" sz="2200" b="1" dirty="0" smtClean="0"/>
              <a:t>, </a:t>
            </a:r>
            <a:r>
              <a:rPr kumimoji="0" lang="ko-KR" altLang="en-US" sz="2200" b="1" dirty="0" smtClean="0"/>
              <a:t>세계적인 규모로 시대를 초월하여 대화할 수 있게 하였다</a:t>
            </a:r>
            <a:r>
              <a:rPr kumimoji="0" lang="en-US" altLang="ko-KR" sz="2200" b="1" dirty="0" smtClean="0"/>
              <a:t>.”</a:t>
            </a:r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</a:t>
            </a:r>
            <a:r>
              <a:rPr kumimoji="0" lang="ko-KR" altLang="en-US" sz="2200" dirty="0" smtClean="0"/>
              <a:t>마셜 </a:t>
            </a:r>
            <a:r>
              <a:rPr kumimoji="0" lang="ko-KR" altLang="en-US" sz="2200" dirty="0" err="1" smtClean="0"/>
              <a:t>매클루언</a:t>
            </a:r>
            <a:r>
              <a:rPr kumimoji="0" lang="en-US" altLang="ko-KR" sz="2200" dirty="0" smtClean="0"/>
              <a:t>,</a:t>
            </a:r>
            <a:r>
              <a:rPr kumimoji="0" lang="ko-KR" altLang="en-US" sz="2200" dirty="0" smtClean="0"/>
              <a:t> </a:t>
            </a:r>
            <a:r>
              <a:rPr kumimoji="0" lang="en-US" altLang="ko-KR" sz="2200" dirty="0" smtClean="0"/>
              <a:t>&lt;</a:t>
            </a:r>
            <a:r>
              <a:rPr kumimoji="0" lang="ko-KR" altLang="en-US" sz="2200" dirty="0" smtClean="0"/>
              <a:t>미디어의 이해</a:t>
            </a:r>
            <a:r>
              <a:rPr kumimoji="0" lang="en-US" altLang="ko-KR" sz="2200" dirty="0" smtClean="0"/>
              <a:t>&gt;</a:t>
            </a:r>
          </a:p>
          <a:p>
            <a:pPr marL="0" indent="0">
              <a:buNone/>
            </a:pPr>
            <a:endParaRPr kumimoji="0" lang="en-US" altLang="ko-KR" sz="2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kumimoji="0" lang="ko-KR" altLang="en-US" sz="2200" dirty="0"/>
              <a:t>지식</a:t>
            </a:r>
            <a:r>
              <a:rPr kumimoji="0" lang="en-US" altLang="ko-KR" sz="2200" dirty="0"/>
              <a:t>, </a:t>
            </a:r>
            <a:r>
              <a:rPr kumimoji="0" lang="ko-KR" altLang="en-US" sz="2200" dirty="0"/>
              <a:t>정보의 대량생산 시대 개막</a:t>
            </a: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/>
              <a:t>  </a:t>
            </a:r>
            <a:r>
              <a:rPr kumimoji="0" lang="ko-KR" altLang="en-US" sz="2200" dirty="0"/>
              <a:t>예</a:t>
            </a:r>
            <a:r>
              <a:rPr kumimoji="0" lang="en-US" altLang="ko-KR" sz="2200" dirty="0"/>
              <a:t>) 1483</a:t>
            </a:r>
            <a:r>
              <a:rPr kumimoji="0" lang="ko-KR" altLang="en-US" sz="2200" dirty="0"/>
              <a:t>년 인쇄기 </a:t>
            </a:r>
            <a:r>
              <a:rPr kumimoji="0" lang="en-US" altLang="ko-KR" sz="2200" dirty="0"/>
              <a:t>20</a:t>
            </a:r>
            <a:r>
              <a:rPr kumimoji="0" lang="ko-KR" altLang="en-US" sz="2200" dirty="0"/>
              <a:t>쪽당 </a:t>
            </a:r>
            <a:r>
              <a:rPr kumimoji="0" lang="en-US" altLang="ko-KR" sz="2200" dirty="0"/>
              <a:t>3</a:t>
            </a:r>
            <a:r>
              <a:rPr kumimoji="0" lang="ko-KR" altLang="en-US" sz="2200" dirty="0" err="1"/>
              <a:t>플로린</a:t>
            </a:r>
            <a:r>
              <a:rPr kumimoji="0" lang="ko-KR" altLang="en-US" sz="2200" dirty="0"/>
              <a:t>  </a:t>
            </a:r>
            <a:r>
              <a:rPr kumimoji="0" lang="en-US" altLang="ko-KR" sz="2200" dirty="0"/>
              <a:t>1025</a:t>
            </a:r>
            <a:r>
              <a:rPr kumimoji="0" lang="ko-KR" altLang="en-US" sz="2200" dirty="0"/>
              <a:t>부</a:t>
            </a: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/>
              <a:t>                    </a:t>
            </a:r>
            <a:r>
              <a:rPr kumimoji="0" lang="ko-KR" altLang="en-US" sz="2200" dirty="0"/>
              <a:t>필사 </a:t>
            </a:r>
            <a:r>
              <a:rPr kumimoji="0" lang="en-US" altLang="ko-KR" sz="2200" dirty="0"/>
              <a:t>20</a:t>
            </a:r>
            <a:r>
              <a:rPr kumimoji="0" lang="ko-KR" altLang="en-US" sz="2200" dirty="0"/>
              <a:t>쪽당 </a:t>
            </a:r>
            <a:r>
              <a:rPr kumimoji="0" lang="en-US" altLang="ko-KR" sz="2200" dirty="0"/>
              <a:t>1</a:t>
            </a:r>
            <a:r>
              <a:rPr kumimoji="0" lang="ko-KR" altLang="en-US" sz="2200" dirty="0" err="1"/>
              <a:t>플로린</a:t>
            </a:r>
            <a:r>
              <a:rPr kumimoji="0" lang="ko-KR" altLang="en-US" sz="2200" dirty="0"/>
              <a:t>  </a:t>
            </a:r>
            <a:r>
              <a:rPr kumimoji="0" lang="en-US" altLang="ko-KR" sz="2200" dirty="0"/>
              <a:t>1</a:t>
            </a:r>
            <a:r>
              <a:rPr kumimoji="0" lang="ko-KR" altLang="en-US" sz="2200" dirty="0"/>
              <a:t>부</a:t>
            </a:r>
            <a:endParaRPr kumimoji="0" lang="en-US" altLang="ko-KR" sz="2200" dirty="0"/>
          </a:p>
          <a:p>
            <a:pPr marL="0" indent="0">
              <a:buNone/>
            </a:pPr>
            <a:endParaRPr kumimoji="0" lang="en-US" altLang="ko-KR" sz="2200" dirty="0"/>
          </a:p>
          <a:p>
            <a:pPr>
              <a:buFont typeface="Arial" panose="020B0604020202020204" pitchFamily="34" charset="0"/>
              <a:buChar char="•"/>
            </a:pPr>
            <a:r>
              <a:rPr kumimoji="0" lang="ko-KR" altLang="en-US" sz="2200" dirty="0"/>
              <a:t>원본과 동일한 사본 </a:t>
            </a:r>
            <a:endParaRPr kumimoji="0" lang="en-US" altLang="ko-KR" sz="2200" dirty="0"/>
          </a:p>
          <a:p>
            <a:pPr marL="0" indent="0">
              <a:buNone/>
            </a:pPr>
            <a:r>
              <a:rPr kumimoji="0" lang="en-US" altLang="ko-KR" sz="2200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3545693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971600" y="1016221"/>
            <a:ext cx="7128792" cy="48610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>
                <a:sym typeface="Wingdings" panose="05000000000000000000" pitchFamily="2" charset="2"/>
              </a:rPr>
              <a:t>획일적</a:t>
            </a:r>
            <a:r>
              <a:rPr kumimoji="0" lang="en-US" altLang="ko-KR" sz="2200" b="1" dirty="0">
                <a:sym typeface="Wingdings" panose="05000000000000000000" pitchFamily="2" charset="2"/>
              </a:rPr>
              <a:t>, </a:t>
            </a:r>
            <a:r>
              <a:rPr kumimoji="0" lang="ko-KR" altLang="en-US" sz="2200" b="1" dirty="0">
                <a:sym typeface="Wingdings" panose="05000000000000000000" pitchFamily="2" charset="2"/>
              </a:rPr>
              <a:t>반복적 인쇄물에 의한 생각의 </a:t>
            </a:r>
            <a:r>
              <a:rPr kumimoji="0" lang="ko-KR" altLang="en-US" sz="2200" b="1" dirty="0" smtClean="0">
                <a:sym typeface="Wingdings" panose="05000000000000000000" pitchFamily="2" charset="2"/>
              </a:rPr>
              <a:t>확산</a:t>
            </a:r>
            <a:endParaRPr kumimoji="0" lang="en-US" altLang="ko-KR" sz="22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>
                <a:sym typeface="Wingdings" panose="05000000000000000000" pitchFamily="2" charset="2"/>
              </a:rPr>
              <a:t>  </a:t>
            </a:r>
            <a:r>
              <a:rPr kumimoji="0" lang="ko-KR" altLang="en-US" sz="2200" dirty="0">
                <a:sym typeface="Wingdings" panose="05000000000000000000" pitchFamily="2" charset="2"/>
              </a:rPr>
              <a:t>각 영역의 동질화</a:t>
            </a:r>
            <a:endParaRPr kumimoji="0" lang="en-US" altLang="ko-KR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>
                <a:sym typeface="Wingdings" panose="05000000000000000000" pitchFamily="2" charset="2"/>
              </a:rPr>
              <a:t>       </a:t>
            </a:r>
            <a:r>
              <a:rPr kumimoji="0" lang="ko-KR" altLang="en-US" sz="2200" dirty="0">
                <a:sym typeface="Wingdings" panose="05000000000000000000" pitchFamily="2" charset="2"/>
              </a:rPr>
              <a:t>예</a:t>
            </a:r>
            <a:r>
              <a:rPr kumimoji="0" lang="en-US" altLang="ko-KR" sz="2200" dirty="0">
                <a:sym typeface="Wingdings" panose="05000000000000000000" pitchFamily="2" charset="2"/>
              </a:rPr>
              <a:t>) </a:t>
            </a:r>
            <a:r>
              <a:rPr kumimoji="0" lang="ko-KR" altLang="en-US" sz="2200" dirty="0">
                <a:sym typeface="Wingdings" panose="05000000000000000000" pitchFamily="2" charset="2"/>
              </a:rPr>
              <a:t>민족 국가의 형성</a:t>
            </a:r>
            <a:r>
              <a:rPr kumimoji="0" lang="en-US" altLang="ko-KR" sz="2200" dirty="0">
                <a:sym typeface="Wingdings" panose="05000000000000000000" pitchFamily="2" charset="2"/>
              </a:rPr>
              <a:t>(</a:t>
            </a:r>
            <a:r>
              <a:rPr kumimoji="0" lang="ko-KR" altLang="en-US" sz="2200" dirty="0">
                <a:sym typeface="Wingdings" panose="05000000000000000000" pitchFamily="2" charset="2"/>
              </a:rPr>
              <a:t>민족주의 대두</a:t>
            </a:r>
            <a:r>
              <a:rPr kumimoji="0" lang="en-US" altLang="ko-KR" sz="2200" dirty="0"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r>
              <a:rPr kumimoji="0" lang="en-US" altLang="ko-KR" sz="2200" dirty="0">
                <a:sym typeface="Wingdings" panose="05000000000000000000" pitchFamily="2" charset="2"/>
              </a:rPr>
              <a:t>            </a:t>
            </a:r>
            <a:r>
              <a:rPr kumimoji="0" lang="ko-KR" altLang="en-US" sz="2200" dirty="0">
                <a:sym typeface="Wingdings" panose="05000000000000000000" pitchFamily="2" charset="2"/>
              </a:rPr>
              <a:t>교육의 표준화</a:t>
            </a:r>
            <a:endParaRPr kumimoji="0" lang="en-US" altLang="ko-KR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kumimoji="0" lang="en-US" altLang="ko-KR" sz="2200" dirty="0" smtClean="0"/>
          </a:p>
          <a:p>
            <a:pPr marL="0" indent="0">
              <a:buNone/>
            </a:pPr>
            <a:endParaRPr kumimoji="0" lang="en-US" altLang="ko-KR" sz="2200" dirty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>
                <a:sym typeface="Wingdings" panose="05000000000000000000" pitchFamily="2" charset="2"/>
              </a:rPr>
              <a:t>르네상스</a:t>
            </a:r>
            <a:r>
              <a:rPr kumimoji="0" lang="en-US" altLang="ko-KR" sz="2200" b="1" dirty="0">
                <a:sym typeface="Wingdings" panose="05000000000000000000" pitchFamily="2" charset="2"/>
              </a:rPr>
              <a:t>(</a:t>
            </a:r>
            <a:r>
              <a:rPr kumimoji="0" lang="ko-KR" altLang="en-US" sz="2200" b="1" dirty="0">
                <a:sym typeface="Wingdings" panose="05000000000000000000" pitchFamily="2" charset="2"/>
              </a:rPr>
              <a:t>문예부흥</a:t>
            </a:r>
            <a:r>
              <a:rPr kumimoji="0" lang="en-US" altLang="ko-KR" sz="2200" b="1" dirty="0">
                <a:sym typeface="Wingdings" panose="05000000000000000000" pitchFamily="2" charset="2"/>
              </a:rPr>
              <a:t>) </a:t>
            </a:r>
            <a:r>
              <a:rPr kumimoji="0" lang="ko-KR" altLang="en-US" sz="2200" b="1" dirty="0" smtClean="0">
                <a:sym typeface="Wingdings" panose="05000000000000000000" pitchFamily="2" charset="2"/>
              </a:rPr>
              <a:t>가속화</a:t>
            </a:r>
            <a:endParaRPr kumimoji="0" lang="en-US" altLang="ko-KR" sz="2200" b="1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 smtClean="0">
                <a:sym typeface="Wingdings" panose="05000000000000000000" pitchFamily="2" charset="2"/>
              </a:rPr>
              <a:t> - </a:t>
            </a:r>
            <a:r>
              <a:rPr kumimoji="0" lang="ko-KR" altLang="en-US" sz="2200" dirty="0" smtClean="0">
                <a:sym typeface="Wingdings" panose="05000000000000000000" pitchFamily="2" charset="2"/>
              </a:rPr>
              <a:t>그리스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-</a:t>
            </a:r>
            <a:r>
              <a:rPr kumimoji="0" lang="ko-KR" altLang="en-US" sz="2200" dirty="0" smtClean="0">
                <a:sym typeface="Wingdings" panose="05000000000000000000" pitchFamily="2" charset="2"/>
              </a:rPr>
              <a:t>로마 시대의 유산을 당시 상황과 관심에 맞게 재해석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, </a:t>
            </a:r>
            <a:r>
              <a:rPr kumimoji="0" lang="ko-KR" altLang="en-US" sz="2200" dirty="0" smtClean="0">
                <a:sym typeface="Wingdings" panose="05000000000000000000" pitchFamily="2" charset="2"/>
              </a:rPr>
              <a:t>발전시키는 것을 가속화 함</a:t>
            </a:r>
            <a:endParaRPr kumimoji="0" lang="en-US" altLang="ko-KR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kumimoji="0" lang="en-US" altLang="ko-KR" sz="2200" dirty="0"/>
              <a:t> - </a:t>
            </a:r>
            <a:r>
              <a:rPr kumimoji="0" lang="ko-KR" altLang="en-US" sz="2200" dirty="0"/>
              <a:t>고대와 중세를 융합 </a:t>
            </a:r>
            <a:r>
              <a:rPr kumimoji="0" lang="en-US" altLang="ko-KR" sz="2200" dirty="0">
                <a:sym typeface="Wingdings" panose="05000000000000000000" pitchFamily="2" charset="2"/>
              </a:rPr>
              <a:t> </a:t>
            </a:r>
            <a:r>
              <a:rPr kumimoji="0" lang="ko-KR" altLang="en-US" sz="2200" dirty="0">
                <a:sym typeface="Wingdings" panose="05000000000000000000" pitchFamily="2" charset="2"/>
              </a:rPr>
              <a:t>근대 세계 창출</a:t>
            </a:r>
            <a:endParaRPr kumimoji="0" lang="en-US" altLang="ko-KR" sz="22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kumimoji="0" lang="en-US" altLang="ko-KR" sz="22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8748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755576" y="836712"/>
            <a:ext cx="7488832" cy="5077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 smtClean="0"/>
              <a:t>종교개혁 </a:t>
            </a:r>
            <a:endParaRPr kumimoji="0" lang="en-US" altLang="ko-KR" sz="2200" b="1" dirty="0" smtClean="0"/>
          </a:p>
          <a:p>
            <a:pPr marL="0" indent="0">
              <a:buNone/>
            </a:pPr>
            <a:r>
              <a:rPr kumimoji="0" lang="ko-KR" altLang="en-US" sz="2200" dirty="0"/>
              <a:t> </a:t>
            </a:r>
            <a:r>
              <a:rPr kumimoji="0" lang="ko-KR" altLang="en-US" sz="2200" dirty="0" smtClean="0"/>
              <a:t> </a:t>
            </a:r>
            <a:r>
              <a:rPr kumimoji="0" lang="en-US" altLang="ko-KR" sz="2200" dirty="0" smtClean="0"/>
              <a:t>- </a:t>
            </a:r>
            <a:r>
              <a:rPr kumimoji="0" lang="ko-KR" altLang="en-US" sz="2200" dirty="0" smtClean="0"/>
              <a:t>개인이 대량생산된 성경을 통해 종교적 가르침을 직접 접하게 됨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 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</a:t>
            </a:r>
            <a:r>
              <a:rPr kumimoji="0" lang="en-US" altLang="ko-KR" sz="2200" dirty="0" smtClean="0"/>
              <a:t> </a:t>
            </a:r>
            <a:r>
              <a:rPr kumimoji="0" lang="ko-KR" altLang="en-US" sz="2200" dirty="0" smtClean="0"/>
              <a:t>성직자의 영향력 감소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 smtClean="0"/>
              <a:t>  - </a:t>
            </a:r>
            <a:r>
              <a:rPr kumimoji="0" lang="ko-KR" altLang="en-US" sz="2200" dirty="0" smtClean="0"/>
              <a:t>마르틴 루터의 팜플렛 대량 유포 가능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- </a:t>
            </a:r>
            <a:r>
              <a:rPr kumimoji="0" lang="ko-KR" altLang="en-US" sz="2200" dirty="0" smtClean="0"/>
              <a:t>이단의 생각을</a:t>
            </a:r>
            <a:r>
              <a:rPr kumimoji="0" lang="en-US" altLang="ko-KR" sz="2200" dirty="0" smtClean="0"/>
              <a:t> </a:t>
            </a:r>
            <a:r>
              <a:rPr kumimoji="0" lang="ko-KR" altLang="en-US" sz="2200" dirty="0" smtClean="0"/>
              <a:t>사회에서 뿌리뽑기 어려워 짐</a:t>
            </a:r>
            <a:endParaRPr kumimoji="0" lang="en-US" altLang="ko-KR" sz="2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541983"/>
            <a:ext cx="5415533" cy="30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49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 txBox="1">
            <a:spLocks noChangeArrowheads="1"/>
          </p:cNvSpPr>
          <p:nvPr/>
        </p:nvSpPr>
        <p:spPr bwMode="auto">
          <a:xfrm>
            <a:off x="467544" y="1016220"/>
            <a:ext cx="8229600" cy="5289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/>
              <a:t>원근법적 </a:t>
            </a:r>
            <a:r>
              <a:rPr kumimoji="0" lang="ko-KR" altLang="en-US" sz="2200" b="1" dirty="0" smtClean="0"/>
              <a:t>사고 확산 </a:t>
            </a:r>
            <a:r>
              <a:rPr kumimoji="0" lang="en-US" altLang="ko-KR" sz="2200" b="1" dirty="0" smtClean="0"/>
              <a:t>(McLuhan)</a:t>
            </a:r>
          </a:p>
          <a:p>
            <a:pPr marL="0" indent="0">
              <a:buNone/>
            </a:pPr>
            <a:r>
              <a:rPr kumimoji="0" lang="ko-KR" altLang="en-US" sz="2200" dirty="0"/>
              <a:t> </a:t>
            </a:r>
            <a:r>
              <a:rPr kumimoji="0" lang="ko-KR" altLang="en-US" sz="2200" dirty="0" smtClean="0"/>
              <a:t> </a:t>
            </a:r>
            <a:r>
              <a:rPr kumimoji="0" lang="en-US" altLang="ko-KR" sz="2200" dirty="0" smtClean="0"/>
              <a:t>* </a:t>
            </a:r>
            <a:r>
              <a:rPr kumimoji="0" lang="ko-KR" altLang="en-US" sz="2200" dirty="0" smtClean="0"/>
              <a:t>원근법</a:t>
            </a:r>
            <a:r>
              <a:rPr kumimoji="0" lang="en-US" altLang="ko-KR" sz="2200" dirty="0" smtClean="0"/>
              <a:t>(perspective): </a:t>
            </a:r>
            <a:r>
              <a:rPr lang="ko-KR" altLang="en-US" sz="2200" dirty="0" smtClean="0"/>
              <a:t>인간의 </a:t>
            </a:r>
            <a:r>
              <a:rPr lang="ko-KR" altLang="en-US" sz="2200" dirty="0"/>
              <a:t>눈으로 보는 </a:t>
            </a:r>
            <a:r>
              <a:rPr lang="ko-KR" altLang="en-US" sz="2200" dirty="0" err="1"/>
              <a:t>공간사상</a:t>
            </a:r>
            <a:r>
              <a:rPr lang="en-US" altLang="ko-KR" sz="2200" dirty="0"/>
              <a:t>(</a:t>
            </a:r>
            <a:r>
              <a:rPr lang="ko-KR" altLang="en-US" sz="2200" dirty="0"/>
              <a:t>空間事象</a:t>
            </a:r>
            <a:r>
              <a:rPr lang="en-US" altLang="ko-KR" sz="2200" dirty="0"/>
              <a:t>:3</a:t>
            </a:r>
            <a:r>
              <a:rPr lang="ko-KR" altLang="en-US" sz="2200" dirty="0"/>
              <a:t>차원</a:t>
            </a:r>
            <a:r>
              <a:rPr lang="en-US" altLang="ko-KR" sz="2200" dirty="0"/>
              <a:t>)</a:t>
            </a:r>
            <a:r>
              <a:rPr lang="ko-KR" altLang="en-US" sz="2200" dirty="0"/>
              <a:t>을 </a:t>
            </a:r>
            <a:r>
              <a:rPr lang="ko-KR" altLang="en-US" sz="2200" dirty="0" smtClean="0"/>
              <a:t>평면 위에 </a:t>
            </a:r>
            <a:r>
              <a:rPr lang="ko-KR" altLang="en-US" sz="2200" dirty="0" err="1"/>
              <a:t>묘사적으로</a:t>
            </a:r>
            <a:r>
              <a:rPr lang="ko-KR" altLang="en-US" sz="2200" dirty="0"/>
              <a:t> 표현하는 </a:t>
            </a:r>
            <a:r>
              <a:rPr lang="ko-KR" altLang="en-US" sz="2200" dirty="0" err="1" smtClean="0"/>
              <a:t>회화기법</a:t>
            </a:r>
            <a:endParaRPr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 </a:t>
            </a:r>
            <a:r>
              <a:rPr kumimoji="0" lang="ko-KR" altLang="en-US" sz="2200" dirty="0" smtClean="0"/>
              <a:t>어떤 </a:t>
            </a:r>
            <a:r>
              <a:rPr kumimoji="0" lang="ko-KR" altLang="en-US" sz="2200" dirty="0"/>
              <a:t>장면을 단일 시점에서 통일된 감각으로 볼 수 있게 함</a:t>
            </a:r>
          </a:p>
          <a:p>
            <a:pPr marL="0" indent="0">
              <a:buNone/>
            </a:pPr>
            <a:r>
              <a:rPr kumimoji="0" lang="ko-KR" altLang="en-US" sz="2200" dirty="0"/>
              <a:t> </a:t>
            </a:r>
            <a:r>
              <a:rPr kumimoji="0" lang="ko-KR" altLang="en-US" sz="2200" dirty="0" smtClean="0"/>
              <a:t> 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* </a:t>
            </a:r>
            <a:r>
              <a:rPr kumimoji="0" lang="ko-KR" altLang="en-US" sz="2200" dirty="0" smtClean="0"/>
              <a:t>인쇄술</a:t>
            </a:r>
            <a:r>
              <a:rPr kumimoji="0" lang="en-US" altLang="ko-KR" sz="2200" dirty="0" smtClean="0"/>
              <a:t>: </a:t>
            </a:r>
            <a:r>
              <a:rPr kumimoji="0" lang="ko-KR" altLang="en-US" sz="2200" dirty="0" smtClean="0"/>
              <a:t>하나의 </a:t>
            </a:r>
            <a:r>
              <a:rPr kumimoji="0" lang="ko-KR" altLang="en-US" sz="2200" dirty="0"/>
              <a:t>선으로 명확하고 통일된 형태로 배열된 </a:t>
            </a:r>
            <a:r>
              <a:rPr kumimoji="0" lang="ko-KR" altLang="en-US" sz="2200" dirty="0" smtClean="0"/>
              <a:t>문자열 제시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  </a:t>
            </a:r>
            <a:r>
              <a:rPr kumimoji="0" lang="en-US" altLang="ko-KR" sz="2200" dirty="0" smtClean="0">
                <a:sym typeface="Wingdings" panose="05000000000000000000" pitchFamily="2" charset="2"/>
              </a:rPr>
              <a:t> </a:t>
            </a:r>
            <a:r>
              <a:rPr kumimoji="0" lang="ko-KR" altLang="en-US" sz="2200" dirty="0" smtClean="0"/>
              <a:t>고정된 </a:t>
            </a:r>
            <a:r>
              <a:rPr kumimoji="0" lang="ko-KR" altLang="en-US" sz="2200" dirty="0"/>
              <a:t>관점 </a:t>
            </a:r>
            <a:r>
              <a:rPr kumimoji="0" lang="ko-KR" altLang="en-US" sz="2200" dirty="0" smtClean="0"/>
              <a:t>강화</a:t>
            </a:r>
            <a:endParaRPr kumimoji="0" lang="en-US" altLang="ko-KR" sz="2200" dirty="0" smtClean="0"/>
          </a:p>
          <a:p>
            <a:pPr marL="0" indent="0">
              <a:buNone/>
            </a:pPr>
            <a:endParaRPr kumimoji="0" lang="en-US" altLang="ko-KR" sz="2200" dirty="0"/>
          </a:p>
          <a:p>
            <a:pPr>
              <a:buFont typeface="Wingdings" panose="05000000000000000000" pitchFamily="2" charset="2"/>
              <a:buChar char="ü"/>
            </a:pPr>
            <a:r>
              <a:rPr kumimoji="0" lang="ko-KR" altLang="en-US" sz="2200" b="1" dirty="0"/>
              <a:t>생각에 대한 </a:t>
            </a:r>
            <a:r>
              <a:rPr kumimoji="0" lang="ko-KR" altLang="en-US" sz="2200" b="1" dirty="0" smtClean="0"/>
              <a:t>비</a:t>
            </a:r>
            <a:r>
              <a:rPr kumimoji="0" lang="en-US" altLang="ko-KR" sz="2200" b="1" dirty="0" smtClean="0"/>
              <a:t>-</a:t>
            </a:r>
            <a:r>
              <a:rPr kumimoji="0" lang="ko-KR" altLang="en-US" sz="2200" b="1" dirty="0" err="1" smtClean="0"/>
              <a:t>관여성</a:t>
            </a:r>
            <a:r>
              <a:rPr kumimoji="0" lang="en-US" altLang="ko-KR" sz="2200" b="1" dirty="0"/>
              <a:t>(</a:t>
            </a:r>
            <a:r>
              <a:rPr kumimoji="0" lang="en-US" altLang="ko-KR" sz="2200" b="1" dirty="0" smtClean="0"/>
              <a:t>disinterestedness, </a:t>
            </a:r>
            <a:r>
              <a:rPr kumimoji="0" lang="en-US" altLang="ko-KR" sz="2200" b="1" dirty="0"/>
              <a:t>disengagement)</a:t>
            </a:r>
            <a:endParaRPr kumimoji="0" lang="ko-KR" altLang="en-US" sz="2200" b="1" dirty="0"/>
          </a:p>
          <a:p>
            <a:pPr marL="0" indent="0">
              <a:buNone/>
            </a:pPr>
            <a:r>
              <a:rPr kumimoji="0" lang="en-US" altLang="ko-KR" sz="2200" dirty="0" smtClean="0"/>
              <a:t>  - </a:t>
            </a:r>
            <a:r>
              <a:rPr kumimoji="0" lang="ko-KR" altLang="en-US" sz="2200" dirty="0" smtClean="0"/>
              <a:t>인쇄된 생각에 대해 반응 없이 읽기</a:t>
            </a:r>
            <a:endParaRPr kumimoji="0" lang="en-US" altLang="ko-KR" sz="2200" dirty="0" smtClean="0"/>
          </a:p>
          <a:p>
            <a:pPr marL="0" indent="0">
              <a:buNone/>
            </a:pPr>
            <a:r>
              <a:rPr kumimoji="0" lang="en-US" altLang="ko-KR" sz="2200" dirty="0"/>
              <a:t> </a:t>
            </a:r>
            <a:r>
              <a:rPr kumimoji="0" lang="en-US" altLang="ko-KR" sz="2200" dirty="0" smtClean="0"/>
              <a:t>  cf. </a:t>
            </a:r>
            <a:r>
              <a:rPr kumimoji="0" lang="ko-KR" altLang="en-US" sz="2200" dirty="0" smtClean="0"/>
              <a:t>대화에서의 반응</a:t>
            </a:r>
            <a:endParaRPr kumimoji="0" lang="en-US" altLang="ko-KR" sz="2200" dirty="0" smtClean="0"/>
          </a:p>
        </p:txBody>
      </p:sp>
    </p:spTree>
    <p:extLst>
      <p:ext uri="{BB962C8B-B14F-4D97-AF65-F5344CB8AC3E}">
        <p14:creationId xmlns:p14="http://schemas.microsoft.com/office/powerpoint/2010/main" val="3336048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이보름의 그림이야기]④ 원근법, 주관적 자아의 세상 인식법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8640"/>
            <a:ext cx="7992888" cy="5844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945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764704"/>
            <a:ext cx="8337374" cy="47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7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:Archimedes Palimpses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60648"/>
            <a:ext cx="8424936" cy="567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88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20665</TotalTime>
  <Words>1231</Words>
  <Application>Microsoft Office PowerPoint</Application>
  <PresentationFormat>화면 슬라이드 쇼(4:3)</PresentationFormat>
  <Paragraphs>194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가는안상수체</vt:lpstr>
      <vt:lpstr>굴림</vt:lpstr>
      <vt:lpstr>맑은 고딕</vt:lpstr>
      <vt:lpstr>안상수2006가는</vt:lpstr>
      <vt:lpstr>휴먼모음T</vt:lpstr>
      <vt:lpstr>Arial</vt:lpstr>
      <vt:lpstr>Arial Rounded MT Bold</vt:lpstr>
      <vt:lpstr>Wingdings</vt:lpstr>
      <vt:lpstr>Office 테마</vt:lpstr>
      <vt:lpstr>  문자와 인쇄술  </vt:lpstr>
      <vt:lpstr>1. 문자 발명의 의의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3. 인쇄미디어의 발전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커뮤니케이션의 개념과 모델</dc:title>
  <dc:creator>bawimul</dc:creator>
  <cp:lastModifiedBy>Windows 사용자</cp:lastModifiedBy>
  <cp:revision>1120</cp:revision>
  <dcterms:created xsi:type="dcterms:W3CDTF">2009-03-15T10:41:15Z</dcterms:created>
  <dcterms:modified xsi:type="dcterms:W3CDTF">2025-09-22T13:40:59Z</dcterms:modified>
</cp:coreProperties>
</file>