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90" r:id="rId3"/>
    <p:sldId id="319" r:id="rId4"/>
    <p:sldId id="320" r:id="rId5"/>
    <p:sldId id="284" r:id="rId6"/>
    <p:sldId id="285" r:id="rId7"/>
    <p:sldId id="295" r:id="rId8"/>
    <p:sldId id="296" r:id="rId9"/>
    <p:sldId id="307" r:id="rId10"/>
    <p:sldId id="298" r:id="rId11"/>
    <p:sldId id="297" r:id="rId12"/>
    <p:sldId id="301" r:id="rId13"/>
    <p:sldId id="302" r:id="rId14"/>
    <p:sldId id="303" r:id="rId15"/>
    <p:sldId id="313" r:id="rId16"/>
    <p:sldId id="314" r:id="rId17"/>
    <p:sldId id="315" r:id="rId18"/>
    <p:sldId id="317" r:id="rId19"/>
    <p:sldId id="318" r:id="rId20"/>
    <p:sldId id="308" r:id="rId21"/>
    <p:sldId id="309" r:id="rId22"/>
    <p:sldId id="310" r:id="rId23"/>
    <p:sldId id="311" r:id="rId24"/>
    <p:sldId id="312" r:id="rId25"/>
  </p:sldIdLst>
  <p:sldSz cx="9144000" cy="6858000" type="screen4x3"/>
  <p:notesSz cx="9144000" cy="6858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42" autoAdjust="0"/>
    <p:restoredTop sz="91841" autoAdjust="0"/>
  </p:normalViewPr>
  <p:slideViewPr>
    <p:cSldViewPr>
      <p:cViewPr varScale="1">
        <p:scale>
          <a:sx n="80" d="100"/>
          <a:sy n="80" d="100"/>
        </p:scale>
        <p:origin x="152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4" d="100"/>
          <a:sy n="74" d="100"/>
        </p:scale>
        <p:origin x="-942" y="-102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88D371-AB36-448C-A9B3-0FE2A5CD332F}" type="datetimeFigureOut">
              <a:rPr lang="ko-KR" altLang="en-US" smtClean="0"/>
              <a:pPr/>
              <a:t>2025-10-14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9BFB53-EAA6-4F99-808C-591C218867F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68C417F-F973-452D-AA14-33E34B2B6958}" type="datetimeFigureOut">
              <a:rPr lang="ko-KR" altLang="en-US"/>
              <a:pPr>
                <a:defRPr/>
              </a:pPr>
              <a:t>2025-10-14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  <a:endParaRPr lang="ko-KR" alt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0B0025B-6956-463F-B696-8ED2A7BD3F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ko.wikipedia.org/wiki/%ED%81%B4%EB%9D%BC%EC%9D%B4%EC%96%B8%ED%8A%B8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ko.wikipedia.org/wiki/%EC%84%9C%EB%B2%84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874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Glen Beck (background) and Betty Snyder (foreground) program ENIAC in BRL building 328. (U.S. Army photo, ca. 1947-1955)</a:t>
            </a:r>
          </a:p>
          <a:p>
            <a:r>
              <a:rPr lang="en-US" altLang="ko-KR" dirty="0" smtClean="0"/>
              <a:t> 1937</a:t>
            </a:r>
            <a:r>
              <a:rPr lang="ko-KR" altLang="en-US" dirty="0" smtClean="0"/>
              <a:t>년부터 </a:t>
            </a:r>
            <a:r>
              <a:rPr lang="en-US" altLang="ko-KR" dirty="0" smtClean="0"/>
              <a:t>1942</a:t>
            </a:r>
            <a:r>
              <a:rPr lang="ko-KR" altLang="en-US" dirty="0" smtClean="0"/>
              <a:t>년까지 아이오와 주립 대학에서 존 </a:t>
            </a:r>
            <a:r>
              <a:rPr lang="ko-KR" altLang="en-US" dirty="0" err="1" smtClean="0"/>
              <a:t>빈센트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아타나소프와</a:t>
            </a:r>
            <a:r>
              <a:rPr lang="ko-KR" altLang="en-US" dirty="0" smtClean="0"/>
              <a:t> </a:t>
            </a:r>
            <a:r>
              <a:rPr lang="ko-KR" altLang="en-US" dirty="0" err="1" smtClean="0"/>
              <a:t>클리포드</a:t>
            </a:r>
            <a:r>
              <a:rPr lang="ko-KR" altLang="en-US" dirty="0" smtClean="0"/>
              <a:t> 베리가 개발하였다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이진수의 연산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병렬 컴퓨팅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재생식</a:t>
            </a:r>
            <a:r>
              <a:rPr lang="ko-KR" altLang="en-US" dirty="0" smtClean="0"/>
              <a:t> 메모리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메모리와 연산 기능의 분리 등의 컴퓨터 발명에 기여하였다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109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(UCLA, </a:t>
            </a:r>
            <a:r>
              <a:rPr lang="ko-KR" altLang="en-US" dirty="0" err="1" smtClean="0"/>
              <a:t>스탠포드대</a:t>
            </a:r>
            <a:r>
              <a:rPr lang="en-US" altLang="ko-KR" dirty="0" smtClean="0"/>
              <a:t>, UCSB, </a:t>
            </a:r>
            <a:r>
              <a:rPr lang="ko-KR" altLang="en-US" dirty="0" err="1" smtClean="0"/>
              <a:t>유타대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327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(UCLA, </a:t>
            </a:r>
            <a:r>
              <a:rPr lang="ko-KR" altLang="en-US" dirty="0" err="1" smtClean="0"/>
              <a:t>스탠포드대</a:t>
            </a:r>
            <a:r>
              <a:rPr lang="en-US" altLang="ko-KR" dirty="0" smtClean="0"/>
              <a:t>, UCSB, </a:t>
            </a:r>
            <a:r>
              <a:rPr lang="ko-KR" altLang="en-US" dirty="0" err="1" smtClean="0"/>
              <a:t>유타대</a:t>
            </a:r>
            <a:r>
              <a:rPr lang="en-US" altLang="ko-KR" dirty="0" smtClean="0"/>
              <a:t>) </a:t>
            </a:r>
          </a:p>
          <a:p>
            <a:r>
              <a:rPr lang="en-US" altLang="ko-KR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Whole Earth '</a:t>
            </a:r>
            <a:r>
              <a:rPr lang="en-US" altLang="ko-KR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Lectronic</a:t>
            </a:r>
            <a:r>
              <a:rPr lang="en-US" altLang="ko-KR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Link,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531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ko-KR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en-US" altLang="ko-K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yper</a:t>
            </a:r>
            <a:r>
              <a:rPr lang="en-US" altLang="ko-KR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en-US" altLang="ko-K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ko-K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ransfer </a:t>
            </a:r>
            <a:r>
              <a:rPr lang="en-US" altLang="ko-K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rotocol) </a:t>
            </a:r>
            <a:r>
              <a:rPr lang="ko-KR" altLang="en-US" sz="1200" b="0" i="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클라이언트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 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서버"/>
              </a:rPr>
              <a:t>서버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사이에 이루어지는 요청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응답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(request/response)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프로토콜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48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967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9081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1576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이시다 </a:t>
            </a:r>
            <a:r>
              <a:rPr lang="ko-KR" alt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히데타가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(2017). &lt;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디지털 미디어의 이해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&gt;. 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사회평론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4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장 미디어의 디지털적 전환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117-158</a:t>
            </a:r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4989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31961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920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6752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9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27674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9366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53677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88900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21822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11935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174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286500"/>
            <a:ext cx="9144000" cy="1588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가는안상수체" pitchFamily="2" charset="-127"/>
                <a:ea typeface="가는안상수체" pitchFamily="2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가는안상수체" pitchFamily="2" charset="-127"/>
                <a:ea typeface="가는안상수체" pitchFamily="2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마스터 부제목 스타일 편집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 userDrawn="1"/>
        </p:nvCxnSpPr>
        <p:spPr>
          <a:xfrm>
            <a:off x="0" y="6286500"/>
            <a:ext cx="9144000" cy="1588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28596" y="642918"/>
            <a:ext cx="8229600" cy="857248"/>
          </a:xfrm>
        </p:spPr>
        <p:txBody>
          <a:bodyPr/>
          <a:lstStyle>
            <a:lvl1pPr>
              <a:defRPr sz="3200">
                <a:latin typeface="+mj-ea"/>
                <a:ea typeface="+mj-ea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>
                <a:latin typeface="+mn-ea"/>
                <a:ea typeface="+mn-ea"/>
              </a:defRPr>
            </a:lvl1pPr>
            <a:lvl2pPr>
              <a:defRPr sz="20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1"/>
          </p:nvPr>
        </p:nvSpPr>
        <p:spPr>
          <a:xfrm>
            <a:off x="0" y="0"/>
            <a:ext cx="9144000" cy="428625"/>
          </a:xfrm>
          <a:noFill/>
          <a:ln>
            <a:noFill/>
          </a:ln>
        </p:spPr>
        <p:txBody>
          <a:bodyPr/>
          <a:lstStyle>
            <a:lvl1pPr>
              <a:defRPr sz="1400">
                <a:latin typeface="+mn-ea"/>
                <a:ea typeface="+mn-ea"/>
              </a:defRPr>
            </a:lvl1pPr>
            <a:lvl2pPr algn="l">
              <a:buNone/>
              <a:defRPr sz="16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2"/>
          </p:nvPr>
        </p:nvSpPr>
        <p:spPr>
          <a:xfrm>
            <a:off x="0" y="6286500"/>
            <a:ext cx="9144000" cy="5715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 txBox="1">
            <a:spLocks/>
          </p:cNvSpPr>
          <p:nvPr userDrawn="1"/>
        </p:nvSpPr>
        <p:spPr>
          <a:xfrm>
            <a:off x="0" y="6286500"/>
            <a:ext cx="9144000" cy="571500"/>
          </a:xfrm>
          <a:prstGeom prst="rect">
            <a:avLst/>
          </a:prstGeom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Dongduk</a:t>
            </a:r>
            <a:r>
              <a:rPr kumimoji="0" lang="en-US" altLang="ko-KR" sz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 Women's University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Graduate School of Fashion</a:t>
            </a:r>
            <a:endParaRPr kumimoji="0" lang="ko-KR" altLang="en-US" sz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+mj-ea"/>
                <a:ea typeface="+mj-ea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안상수2006가는" pitchFamily="18" charset="-127"/>
                <a:ea typeface="안상수2006가는" pitchFamily="18" charset="-127"/>
              </a:defRPr>
            </a:lvl1pPr>
            <a:lvl2pPr>
              <a:defRPr sz="2400">
                <a:latin typeface="안상수2006가는" pitchFamily="18" charset="-127"/>
                <a:ea typeface="안상수2006가는" pitchFamily="18" charset="-127"/>
              </a:defRPr>
            </a:lvl2pPr>
            <a:lvl3pPr>
              <a:defRPr sz="2000">
                <a:latin typeface="안상수2006가는" pitchFamily="18" charset="-127"/>
                <a:ea typeface="안상수2006가는" pitchFamily="18" charset="-127"/>
              </a:defRPr>
            </a:lvl3pPr>
            <a:lvl4pPr>
              <a:defRPr sz="1800">
                <a:latin typeface="안상수2006가는" pitchFamily="18" charset="-127"/>
                <a:ea typeface="안상수2006가는" pitchFamily="18" charset="-127"/>
              </a:defRPr>
            </a:lvl4pPr>
            <a:lvl5pPr>
              <a:defRPr sz="1800">
                <a:latin typeface="안상수2006가는" pitchFamily="18" charset="-127"/>
                <a:ea typeface="안상수2006가는" pitchFamily="18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가는안상수체" pitchFamily="2" charset="-127"/>
                <a:ea typeface="가는안상수체" pitchFamily="2" charset="-127"/>
              </a:defRPr>
            </a:lvl1pPr>
            <a:lvl2pPr>
              <a:defRPr sz="2400">
                <a:latin typeface="가는안상수체" pitchFamily="2" charset="-127"/>
                <a:ea typeface="가는안상수체" pitchFamily="2" charset="-127"/>
              </a:defRPr>
            </a:lvl2pPr>
            <a:lvl3pPr>
              <a:defRPr sz="2000">
                <a:latin typeface="가는안상수체" pitchFamily="2" charset="-127"/>
                <a:ea typeface="가는안상수체" pitchFamily="2" charset="-127"/>
              </a:defRPr>
            </a:lvl3pPr>
            <a:lvl4pPr>
              <a:defRPr sz="1800">
                <a:latin typeface="가는안상수체" pitchFamily="2" charset="-127"/>
                <a:ea typeface="가는안상수체" pitchFamily="2" charset="-127"/>
              </a:defRPr>
            </a:lvl4pPr>
            <a:lvl5pPr>
              <a:defRPr sz="1800">
                <a:latin typeface="가는안상수체" pitchFamily="2" charset="-127"/>
                <a:ea typeface="가는안상수체" pitchFamily="2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23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500063"/>
            <a:ext cx="8229600" cy="91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0" y="6215063"/>
            <a:ext cx="9144000" cy="642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/>
          </a:p>
        </p:txBody>
      </p:sp>
      <p:cxnSp>
        <p:nvCxnSpPr>
          <p:cNvPr id="9" name="직선 연결선 8"/>
          <p:cNvCxnSpPr/>
          <p:nvPr/>
        </p:nvCxnSpPr>
        <p:spPr>
          <a:xfrm>
            <a:off x="0" y="6286500"/>
            <a:ext cx="9144000" cy="1588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3" r:id="rId3"/>
    <p:sldLayoutId id="2147483814" r:id="rId4"/>
    <p:sldLayoutId id="2147483815" r:id="rId5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+mj-ea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안상수2006가는" pitchFamily="18" charset="-127"/>
          <a:ea typeface="안상수2006가는" pitchFamily="18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안상수2006가는" pitchFamily="18" charset="-127"/>
          <a:ea typeface="안상수2006가는" pitchFamily="18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안상수2006가는" pitchFamily="18" charset="-127"/>
          <a:ea typeface="안상수2006가는" pitchFamily="18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안상수2006가는" pitchFamily="18" charset="-127"/>
          <a:ea typeface="안상수2006가는" pitchFamily="18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가는안상수체" pitchFamily="2" charset="-127"/>
          <a:ea typeface="가는안상수체" pitchFamily="2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가는안상수체" pitchFamily="2" charset="-127"/>
          <a:ea typeface="가는안상수체" pitchFamily="2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가는안상수체" pitchFamily="2" charset="-127"/>
          <a:ea typeface="가는안상수체" pitchFamily="2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가는안상수체" pitchFamily="2" charset="-127"/>
          <a:ea typeface="가는안상수체" pitchFamily="2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ea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/>
          <p:cNvSpPr>
            <a:spLocks noGrp="1"/>
          </p:cNvSpPr>
          <p:nvPr>
            <p:ph type="ctrTitle"/>
          </p:nvPr>
        </p:nvSpPr>
        <p:spPr>
          <a:xfrm>
            <a:off x="571472" y="1857364"/>
            <a:ext cx="8001000" cy="1571625"/>
          </a:xfrm>
        </p:spPr>
        <p:txBody>
          <a:bodyPr/>
          <a:lstStyle/>
          <a:p>
            <a:pPr>
              <a:defRPr/>
            </a:pPr>
            <a:r>
              <a:rPr lang="en-US" altLang="ko-KR" sz="3200" dirty="0" smtClean="0">
                <a:latin typeface="안상수2006가는" pitchFamily="18" charset="-127"/>
                <a:ea typeface="안상수2006가는" pitchFamily="18" charset="-127"/>
              </a:rPr>
              <a:t/>
            </a:r>
            <a:br>
              <a:rPr lang="en-US" altLang="ko-KR" sz="3200" dirty="0" smtClean="0">
                <a:latin typeface="안상수2006가는" pitchFamily="18" charset="-127"/>
                <a:ea typeface="안상수2006가는" pitchFamily="18" charset="-127"/>
              </a:rPr>
            </a:br>
            <a:r>
              <a:rPr lang="en-US" altLang="ko-KR" sz="3200" dirty="0" smtClean="0">
                <a:latin typeface="안상수2006가는" pitchFamily="18" charset="-127"/>
                <a:ea typeface="안상수2006가는" pitchFamily="18" charset="-127"/>
              </a:rPr>
              <a:t/>
            </a:r>
            <a:br>
              <a:rPr lang="en-US" altLang="ko-KR" sz="3200" dirty="0" smtClean="0">
                <a:latin typeface="안상수2006가는" pitchFamily="18" charset="-127"/>
                <a:ea typeface="안상수2006가는" pitchFamily="18" charset="-127"/>
              </a:rPr>
            </a:br>
            <a:r>
              <a:rPr lang="en-US" altLang="ko-KR" sz="3200" dirty="0" smtClean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sz="3200" dirty="0" smtClean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</a:br>
            <a:r>
              <a:rPr lang="ko-KR" altLang="en-US" b="1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  <a:latin typeface="+mj-ea"/>
                <a:ea typeface="+mj-ea"/>
              </a:rPr>
              <a:t>디지털 </a:t>
            </a:r>
            <a:r>
              <a:rPr lang="ko-KR" altLang="en-US" b="1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  <a:latin typeface="+mj-ea"/>
                <a:ea typeface="+mj-ea"/>
              </a:rPr>
              <a:t>미디어와 인터넷</a:t>
            </a:r>
            <a:r>
              <a:rPr lang="ko-KR" altLang="en-US" sz="4000" dirty="0" smtClean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/>
            </a:r>
            <a:br>
              <a:rPr lang="ko-KR" altLang="en-US" sz="4000" dirty="0" smtClean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</a:br>
            <a:r>
              <a:rPr lang="en-US" altLang="ko-KR" sz="4000" dirty="0" smtClean="0">
                <a:latin typeface="안상수2006가는" pitchFamily="18" charset="-127"/>
                <a:ea typeface="안상수2006가는" pitchFamily="18" charset="-127"/>
              </a:rPr>
              <a:t/>
            </a:r>
            <a:br>
              <a:rPr lang="en-US" altLang="ko-KR" sz="4000" dirty="0" smtClean="0">
                <a:latin typeface="안상수2006가는" pitchFamily="18" charset="-127"/>
                <a:ea typeface="안상수2006가는" pitchFamily="18" charset="-127"/>
              </a:rPr>
            </a:b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안상수2006가는" pitchFamily="18" charset="-127"/>
                <a:ea typeface="안상수2006가는" pitchFamily="18" charset="-127"/>
              </a:rPr>
              <a:t/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  <a:latin typeface="안상수2006가는" pitchFamily="18" charset="-127"/>
                <a:ea typeface="안상수2006가는" pitchFamily="18" charset="-127"/>
              </a:rPr>
            </a:br>
            <a:endParaRPr lang="ko-KR" altLang="en-US" dirty="0" smtClean="0">
              <a:solidFill>
                <a:schemeClr val="bg1">
                  <a:lumMod val="65000"/>
                </a:schemeClr>
              </a:solidFill>
              <a:latin typeface="안상수2006가는" pitchFamily="18" charset="-127"/>
              <a:ea typeface="안상수2006가는" pitchFamily="18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8229600" cy="857250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Arial Rounded MT Bold" pitchFamily="34" charset="0"/>
                <a:ea typeface="휴먼모음T" pitchFamily="18" charset="-127"/>
              </a:rPr>
              <a:t>1</a:t>
            </a:r>
            <a:r>
              <a:rPr lang="en-US" altLang="ko-KR" dirty="0" smtClean="0">
                <a:latin typeface="Arial Rounded MT Bold" pitchFamily="34" charset="0"/>
                <a:ea typeface="휴먼모음T" pitchFamily="18" charset="-127"/>
              </a:rPr>
              <a:t>. </a:t>
            </a:r>
            <a:r>
              <a:rPr lang="ko-KR" altLang="en-US" dirty="0" smtClean="0">
                <a:latin typeface="Arial Rounded MT Bold" pitchFamily="34" charset="0"/>
                <a:ea typeface="휴먼모음T" pitchFamily="18" charset="-127"/>
              </a:rPr>
              <a:t>디지털 미디어 혁명</a:t>
            </a:r>
            <a:endParaRPr lang="en-US" altLang="ko-KR" b="1" dirty="0" smtClean="0"/>
          </a:p>
        </p:txBody>
      </p:sp>
      <p:sp>
        <p:nvSpPr>
          <p:cNvPr id="13315" name="내용 개체 틀 2"/>
          <p:cNvSpPr>
            <a:spLocks noGrp="1"/>
          </p:cNvSpPr>
          <p:nvPr>
            <p:ph idx="1"/>
          </p:nvPr>
        </p:nvSpPr>
        <p:spPr>
          <a:xfrm>
            <a:off x="458970" y="2132856"/>
            <a:ext cx="8001028" cy="388843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ko-KR" sz="2400" dirty="0" smtClean="0"/>
              <a:t>1940</a:t>
            </a:r>
            <a:r>
              <a:rPr lang="ko-KR" altLang="en-US" sz="2400" dirty="0" smtClean="0"/>
              <a:t>년대 이후 컴퓨터 개발과 함께 시작</a:t>
            </a:r>
            <a:endParaRPr lang="en-US" altLang="ko-KR" sz="2400" dirty="0" smtClean="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en-US" altLang="ko-KR" sz="2400" dirty="0" smtClean="0"/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ko-KR" sz="2400" dirty="0" smtClean="0"/>
              <a:t>2000</a:t>
            </a:r>
            <a:r>
              <a:rPr lang="ko-KR" altLang="en-US" sz="2400" dirty="0" smtClean="0"/>
              <a:t>년 전후 대부분의 아날로그 기호</a:t>
            </a:r>
            <a:r>
              <a:rPr lang="en-US" altLang="ko-KR" sz="2400" dirty="0" smtClean="0"/>
              <a:t>,</a:t>
            </a:r>
            <a:r>
              <a:rPr lang="ko-KR" altLang="en-US" sz="2400" dirty="0" smtClean="0"/>
              <a:t> </a:t>
            </a:r>
            <a:endParaRPr lang="en-US" altLang="ko-KR" sz="2400" dirty="0" smtClean="0"/>
          </a:p>
          <a:p>
            <a:pPr marL="0" indent="0" eaLnBrk="1" hangingPunct="1">
              <a:buNone/>
            </a:pPr>
            <a:r>
              <a:rPr lang="en-US" altLang="ko-KR" sz="2400" dirty="0"/>
              <a:t> </a:t>
            </a:r>
            <a:r>
              <a:rPr lang="en-US" altLang="ko-KR" sz="2400" dirty="0" smtClean="0"/>
              <a:t>                               </a:t>
            </a:r>
            <a:r>
              <a:rPr lang="ko-KR" altLang="en-US" sz="2400" dirty="0" smtClean="0"/>
              <a:t>디지털 기호로 전환</a:t>
            </a:r>
            <a:endParaRPr lang="en-US" altLang="ko-KR" sz="2400" dirty="0" smtClean="0"/>
          </a:p>
          <a:p>
            <a:pPr marL="0" indent="0" eaLnBrk="1" hangingPunct="1">
              <a:buNone/>
            </a:pPr>
            <a:r>
              <a:rPr lang="en-US" altLang="ko-KR" sz="2400" dirty="0"/>
              <a:t> </a:t>
            </a:r>
            <a:r>
              <a:rPr lang="en-US" altLang="ko-KR" sz="2400" dirty="0" smtClean="0"/>
              <a:t>  </a:t>
            </a:r>
            <a:r>
              <a:rPr lang="ko-KR" altLang="en-US" sz="2400" dirty="0" smtClean="0"/>
              <a:t>예</a:t>
            </a:r>
            <a:r>
              <a:rPr lang="en-US" altLang="ko-KR" sz="2400" dirty="0" smtClean="0"/>
              <a:t>) </a:t>
            </a:r>
            <a:r>
              <a:rPr lang="ko-KR" altLang="en-US" sz="2400" dirty="0" smtClean="0"/>
              <a:t>사진기 </a:t>
            </a:r>
            <a:r>
              <a:rPr lang="en-US" altLang="ko-KR" sz="2400" dirty="0" smtClean="0">
                <a:sym typeface="Wingdings" panose="05000000000000000000" pitchFamily="2" charset="2"/>
              </a:rPr>
              <a:t> </a:t>
            </a:r>
            <a:r>
              <a:rPr lang="ko-KR" altLang="en-US" sz="2400" dirty="0" smtClean="0">
                <a:sym typeface="Wingdings" panose="05000000000000000000" pitchFamily="2" charset="2"/>
              </a:rPr>
              <a:t>디지털 사진기</a:t>
            </a:r>
            <a:endParaRPr lang="en-US" altLang="ko-KR" sz="2400" dirty="0" smtClean="0">
              <a:sym typeface="Wingdings" panose="05000000000000000000" pitchFamily="2" charset="2"/>
            </a:endParaRPr>
          </a:p>
          <a:p>
            <a:pPr marL="0" indent="0" eaLnBrk="1" hangingPunct="1">
              <a:buNone/>
            </a:pPr>
            <a:r>
              <a:rPr lang="en-US" altLang="ko-KR" sz="2400" dirty="0">
                <a:sym typeface="Wingdings" panose="05000000000000000000" pitchFamily="2" charset="2"/>
              </a:rPr>
              <a:t> </a:t>
            </a:r>
            <a:r>
              <a:rPr lang="en-US" altLang="ko-KR" sz="2400" dirty="0" smtClean="0">
                <a:sym typeface="Wingdings" panose="05000000000000000000" pitchFamily="2" charset="2"/>
              </a:rPr>
              <a:t>       </a:t>
            </a:r>
            <a:r>
              <a:rPr lang="ko-KR" altLang="en-US" sz="2400" dirty="0" smtClean="0">
                <a:sym typeface="Wingdings" panose="05000000000000000000" pitchFamily="2" charset="2"/>
              </a:rPr>
              <a:t>레코드</a:t>
            </a:r>
            <a:r>
              <a:rPr lang="en-US" altLang="ko-KR" sz="2400" dirty="0" smtClean="0">
                <a:sym typeface="Wingdings" panose="05000000000000000000" pitchFamily="2" charset="2"/>
              </a:rPr>
              <a:t>, </a:t>
            </a:r>
            <a:r>
              <a:rPr lang="ko-KR" altLang="en-US" sz="2400" dirty="0" smtClean="0">
                <a:sym typeface="Wingdings" panose="05000000000000000000" pitchFamily="2" charset="2"/>
              </a:rPr>
              <a:t>테이프 </a:t>
            </a:r>
            <a:r>
              <a:rPr lang="en-US" altLang="ko-KR" sz="2400" dirty="0" smtClean="0">
                <a:sym typeface="Wingdings" panose="05000000000000000000" pitchFamily="2" charset="2"/>
              </a:rPr>
              <a:t> CD, mp3</a:t>
            </a:r>
          </a:p>
          <a:p>
            <a:pPr marL="0" indent="0" eaLnBrk="1" hangingPunct="1">
              <a:buNone/>
            </a:pPr>
            <a:r>
              <a:rPr lang="en-US" altLang="ko-KR" sz="2400" dirty="0">
                <a:sym typeface="Wingdings" panose="05000000000000000000" pitchFamily="2" charset="2"/>
              </a:rPr>
              <a:t> </a:t>
            </a:r>
            <a:r>
              <a:rPr lang="en-US" altLang="ko-KR" sz="2400" dirty="0" smtClean="0">
                <a:sym typeface="Wingdings" panose="05000000000000000000" pitchFamily="2" charset="2"/>
              </a:rPr>
              <a:t>       </a:t>
            </a:r>
            <a:r>
              <a:rPr lang="ko-KR" altLang="en-US" sz="2400" dirty="0" smtClean="0">
                <a:sym typeface="Wingdings" panose="05000000000000000000" pitchFamily="2" charset="2"/>
              </a:rPr>
              <a:t>아날로그 방송 </a:t>
            </a:r>
            <a:r>
              <a:rPr lang="en-US" altLang="ko-KR" sz="2400" dirty="0" smtClean="0">
                <a:sym typeface="Wingdings" panose="05000000000000000000" pitchFamily="2" charset="2"/>
              </a:rPr>
              <a:t> </a:t>
            </a:r>
            <a:r>
              <a:rPr lang="ko-KR" altLang="en-US" sz="2400" dirty="0" smtClean="0">
                <a:sym typeface="Wingdings" panose="05000000000000000000" pitchFamily="2" charset="2"/>
              </a:rPr>
              <a:t>디지털 방송</a:t>
            </a:r>
            <a:endParaRPr lang="en-US" altLang="ko-KR" sz="2400" dirty="0" smtClean="0">
              <a:sym typeface="Wingdings" panose="05000000000000000000" pitchFamily="2" charset="2"/>
            </a:endParaRPr>
          </a:p>
          <a:p>
            <a:pPr marL="0" indent="0" eaLnBrk="1" hangingPunct="1">
              <a:buNone/>
            </a:pPr>
            <a:r>
              <a:rPr lang="en-US" altLang="ko-KR" sz="2400" dirty="0">
                <a:sym typeface="Wingdings" panose="05000000000000000000" pitchFamily="2" charset="2"/>
              </a:rPr>
              <a:t> </a:t>
            </a:r>
            <a:r>
              <a:rPr lang="en-US" altLang="ko-KR" sz="2400" dirty="0" smtClean="0">
                <a:sym typeface="Wingdings" panose="05000000000000000000" pitchFamily="2" charset="2"/>
              </a:rPr>
              <a:t>       </a:t>
            </a:r>
            <a:r>
              <a:rPr lang="ko-KR" altLang="en-US" sz="2400" dirty="0" smtClean="0">
                <a:sym typeface="Wingdings" panose="05000000000000000000" pitchFamily="2" charset="2"/>
              </a:rPr>
              <a:t>종이 신문 </a:t>
            </a:r>
            <a:r>
              <a:rPr lang="en-US" altLang="ko-KR" sz="2400" dirty="0" smtClean="0">
                <a:sym typeface="Wingdings" panose="05000000000000000000" pitchFamily="2" charset="2"/>
              </a:rPr>
              <a:t> </a:t>
            </a:r>
            <a:r>
              <a:rPr lang="ko-KR" altLang="en-US" sz="2400" dirty="0" smtClean="0">
                <a:sym typeface="Wingdings" panose="05000000000000000000" pitchFamily="2" charset="2"/>
              </a:rPr>
              <a:t>인터넷 신문</a:t>
            </a:r>
            <a:endParaRPr lang="en-US" altLang="ko-KR" sz="2400" dirty="0" smtClean="0">
              <a:sym typeface="Wingdings" panose="05000000000000000000" pitchFamily="2" charset="2"/>
            </a:endParaRPr>
          </a:p>
          <a:p>
            <a:pPr marL="0" indent="0" eaLnBrk="1" hangingPunct="1">
              <a:buNone/>
            </a:pPr>
            <a:r>
              <a:rPr lang="en-US" altLang="ko-KR" sz="2400" dirty="0">
                <a:sym typeface="Wingdings" panose="05000000000000000000" pitchFamily="2" charset="2"/>
              </a:rPr>
              <a:t> </a:t>
            </a:r>
            <a:r>
              <a:rPr lang="en-US" altLang="ko-KR" sz="2400" dirty="0" smtClean="0">
                <a:sym typeface="Wingdings" panose="05000000000000000000" pitchFamily="2" charset="2"/>
              </a:rPr>
              <a:t>       </a:t>
            </a:r>
            <a:r>
              <a:rPr lang="ko-KR" altLang="en-US" sz="2400" dirty="0" smtClean="0">
                <a:sym typeface="Wingdings" panose="05000000000000000000" pitchFamily="2" charset="2"/>
              </a:rPr>
              <a:t>종이 문서 </a:t>
            </a:r>
            <a:r>
              <a:rPr lang="en-US" altLang="ko-KR" sz="2400" dirty="0" smtClean="0">
                <a:sym typeface="Wingdings" panose="05000000000000000000" pitchFamily="2" charset="2"/>
              </a:rPr>
              <a:t> </a:t>
            </a:r>
            <a:r>
              <a:rPr lang="ko-KR" altLang="en-US" sz="2400" dirty="0" smtClean="0">
                <a:sym typeface="Wingdings" panose="05000000000000000000" pitchFamily="2" charset="2"/>
              </a:rPr>
              <a:t>워드프로세서 문서</a:t>
            </a:r>
            <a:endParaRPr lang="en-US" altLang="ko-KR" sz="2400" dirty="0" smtClean="0">
              <a:sym typeface="Wingdings" panose="05000000000000000000" pitchFamily="2" charset="2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8049528"/>
      </p:ext>
    </p:extLst>
  </p:cSld>
  <p:clrMapOvr>
    <a:masterClrMapping/>
  </p:clrMapOvr>
  <p:transition advTm="297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457200" y="980728"/>
            <a:ext cx="8229600" cy="5145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ko-KR" altLang="en-US" sz="2200" b="1" dirty="0" smtClean="0"/>
              <a:t> 컴퓨터와 알고리즘</a:t>
            </a:r>
            <a:endParaRPr kumimoji="0" lang="en-US" altLang="ko-KR" sz="2200" b="1" dirty="0" smtClean="0"/>
          </a:p>
          <a:p>
            <a:pPr marL="0" indent="0">
              <a:buNone/>
            </a:pPr>
            <a:endParaRPr kumimoji="0" lang="en-US" altLang="ko-KR" sz="2200" b="1" dirty="0"/>
          </a:p>
          <a:p>
            <a:pPr marL="0" indent="0" eaLnBrk="1" hangingPunct="1">
              <a:buNone/>
            </a:pPr>
            <a:r>
              <a:rPr kumimoji="0" lang="en-US" altLang="ko-KR" sz="2200" b="1" dirty="0" smtClean="0"/>
              <a:t> -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344" y="787962"/>
            <a:ext cx="1303964" cy="4968552"/>
          </a:xfrm>
          <a:prstGeom prst="rect">
            <a:avLst/>
          </a:prstGeom>
        </p:spPr>
      </p:pic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5316029" y="1052736"/>
            <a:ext cx="2304255" cy="907147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ko-KR" altLang="en-US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라이프니츠</a:t>
            </a:r>
            <a:r>
              <a:rPr lang="en-US" altLang="ko-KR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, &lt;0</a:t>
            </a:r>
            <a:r>
              <a:rPr lang="ko-KR" altLang="en-US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과 </a:t>
            </a:r>
            <a:r>
              <a:rPr lang="en-US" altLang="ko-KR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이라는 숫자만을 사용한 이진법 산술의 해설</a:t>
            </a:r>
            <a:r>
              <a:rPr lang="en-US" altLang="ko-KR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&gt;</a:t>
            </a:r>
            <a:endParaRPr lang="en-US" altLang="ko-KR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074" name="Picture 2" descr="https://upload.wikimedia.org/wikipedia/commons/thumb/4/49/Bletchley_Park_Bombe4.jpg/310px-Bletchley_Park_Bombe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66263"/>
            <a:ext cx="2547493" cy="3845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3347864" y="2276872"/>
            <a:ext cx="4104456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Font typeface="Arial" charset="0"/>
              <a:buNone/>
            </a:pPr>
            <a:r>
              <a:rPr kumimoji="0" lang="en-US" altLang="ko-KR" sz="2200" dirty="0" smtClean="0"/>
              <a:t> - </a:t>
            </a:r>
            <a:r>
              <a:rPr kumimoji="0" lang="ko-KR" altLang="en-US" sz="2200" dirty="0" smtClean="0"/>
              <a:t>라이프니츠의 </a:t>
            </a:r>
            <a:r>
              <a:rPr kumimoji="0" lang="ko-KR" altLang="en-US" sz="2200" dirty="0" err="1" smtClean="0"/>
              <a:t>보편기호론</a:t>
            </a:r>
            <a:r>
              <a:rPr kumimoji="0" lang="en-US" altLang="ko-KR" sz="2200" dirty="0" smtClean="0"/>
              <a:t>: </a:t>
            </a:r>
            <a:r>
              <a:rPr kumimoji="0" lang="ko-KR" altLang="en-US" sz="2200" dirty="0" smtClean="0"/>
              <a:t>모든 것을 이진법으로 나타내고 기계가 그것을 처리할 것을 제안  </a:t>
            </a:r>
            <a:r>
              <a:rPr kumimoji="0" lang="en-US" altLang="ko-KR" sz="2200" dirty="0" smtClean="0"/>
              <a:t>(17</a:t>
            </a:r>
            <a:r>
              <a:rPr kumimoji="0" lang="ko-KR" altLang="en-US" sz="2200" dirty="0" smtClean="0"/>
              <a:t>세기 후반</a:t>
            </a:r>
            <a:r>
              <a:rPr kumimoji="0" lang="en-US" altLang="ko-KR" sz="2200" dirty="0" smtClean="0"/>
              <a:t>)</a:t>
            </a:r>
          </a:p>
          <a:p>
            <a:pPr marL="0" indent="0" eaLnBrk="1" hangingPunct="1">
              <a:buFont typeface="Arial" charset="0"/>
              <a:buNone/>
            </a:pPr>
            <a:r>
              <a:rPr kumimoji="0" lang="en-US" altLang="ko-KR" sz="2200" dirty="0" smtClean="0"/>
              <a:t> - </a:t>
            </a:r>
            <a:r>
              <a:rPr kumimoji="0" lang="ko-KR" altLang="en-US" sz="2200" dirty="0" smtClean="0"/>
              <a:t>튜링 머신</a:t>
            </a:r>
            <a:r>
              <a:rPr kumimoji="0" lang="en-US" altLang="ko-KR" sz="2200" dirty="0" smtClean="0"/>
              <a:t>: </a:t>
            </a:r>
            <a:r>
              <a:rPr kumimoji="0" lang="ko-KR" altLang="en-US" sz="2200" dirty="0" smtClean="0"/>
              <a:t>알고리즘을 이용해 기계로 암호를 해독</a:t>
            </a:r>
            <a:endParaRPr kumimoji="0" lang="en-US" altLang="ko-KR" sz="2200" dirty="0" smtClean="0"/>
          </a:p>
          <a:p>
            <a:pPr marL="0" indent="0" eaLnBrk="1" hangingPunct="1">
              <a:buFont typeface="Arial" charset="0"/>
              <a:buNone/>
            </a:pPr>
            <a:r>
              <a:rPr kumimoji="0" lang="en-US" altLang="ko-KR" sz="2200" dirty="0" smtClean="0"/>
              <a:t>      </a:t>
            </a:r>
            <a:r>
              <a:rPr kumimoji="0" lang="ko-KR" altLang="en-US" sz="2200" dirty="0" smtClean="0"/>
              <a:t>알고리즘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연산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메모리</a:t>
            </a:r>
            <a:r>
              <a:rPr kumimoji="0" lang="en-US" altLang="ko-KR" sz="2200" dirty="0" smtClean="0"/>
              <a:t>, CPU </a:t>
            </a:r>
            <a:r>
              <a:rPr kumimoji="0" lang="ko-KR" altLang="en-US" sz="2200" dirty="0" smtClean="0"/>
              <a:t>개념 구체화</a:t>
            </a:r>
            <a:endParaRPr kumimoji="0" lang="en-US" altLang="ko-KR" sz="2200" dirty="0" smtClean="0"/>
          </a:p>
          <a:p>
            <a:pPr marL="0" indent="0" eaLnBrk="1" hangingPunct="1">
              <a:buFont typeface="Arial" charset="0"/>
              <a:buNone/>
            </a:pPr>
            <a:r>
              <a:rPr kumimoji="0" lang="en-US" altLang="ko-KR" sz="2200" dirty="0"/>
              <a:t> </a:t>
            </a:r>
            <a:r>
              <a:rPr kumimoji="0" lang="en-US" altLang="ko-KR" sz="2200" dirty="0" smtClean="0"/>
              <a:t>- Bombe 1940</a:t>
            </a:r>
          </a:p>
          <a:p>
            <a:pPr marL="0" indent="0" eaLnBrk="1" hangingPunct="1">
              <a:buFont typeface="Arial" charset="0"/>
              <a:buNone/>
            </a:pPr>
            <a:endParaRPr kumimoji="0" lang="en-US" altLang="ko-K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아래쪽 리본 8"/>
          <p:cNvSpPr/>
          <p:nvPr/>
        </p:nvSpPr>
        <p:spPr>
          <a:xfrm>
            <a:off x="258110" y="1084387"/>
            <a:ext cx="215908" cy="170340"/>
          </a:xfrm>
          <a:prstGeom prst="ribbon">
            <a:avLst/>
          </a:prstGeom>
          <a:solidFill>
            <a:srgbClr val="7030A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081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457200" y="980728"/>
            <a:ext cx="8229600" cy="5145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en-US" altLang="ko-KR" sz="2200" dirty="0" smtClean="0"/>
              <a:t>  - </a:t>
            </a:r>
            <a:r>
              <a:rPr kumimoji="0" lang="ko-KR" altLang="en-US" sz="2200" dirty="0" err="1" smtClean="0"/>
              <a:t>아타</a:t>
            </a:r>
            <a:r>
              <a:rPr kumimoji="0" lang="ko-KR" altLang="en-US" sz="2200" dirty="0" err="1"/>
              <a:t>나</a:t>
            </a:r>
            <a:r>
              <a:rPr kumimoji="0" lang="ko-KR" altLang="en-US" sz="2200" dirty="0" err="1" smtClean="0"/>
              <a:t>소프</a:t>
            </a:r>
            <a:r>
              <a:rPr kumimoji="0" lang="en-US" altLang="ko-KR" sz="2200" dirty="0" smtClean="0"/>
              <a:t>-</a:t>
            </a:r>
            <a:r>
              <a:rPr kumimoji="0" lang="ko-KR" altLang="en-US" sz="2200" dirty="0" smtClean="0"/>
              <a:t>베리 컴퓨터</a:t>
            </a:r>
            <a:r>
              <a:rPr kumimoji="0" lang="en-US" altLang="ko-KR" sz="2200" dirty="0" smtClean="0"/>
              <a:t>(</a:t>
            </a:r>
            <a:r>
              <a:rPr lang="en-US" altLang="ko-KR" sz="2200" dirty="0" err="1" smtClean="0"/>
              <a:t>Atanasoff</a:t>
            </a:r>
            <a:r>
              <a:rPr lang="en-US" altLang="ko-KR" sz="2200" dirty="0" smtClean="0"/>
              <a:t>–Berry computer: ABC)</a:t>
            </a:r>
          </a:p>
          <a:p>
            <a:pPr marL="0" indent="0">
              <a:buNone/>
            </a:pPr>
            <a:r>
              <a:rPr kumimoji="0" lang="en-US" altLang="ko-KR" sz="2200" dirty="0"/>
              <a:t> </a:t>
            </a:r>
            <a:r>
              <a:rPr kumimoji="0" lang="en-US" altLang="ko-KR" sz="2200" dirty="0" smtClean="0"/>
              <a:t>     </a:t>
            </a:r>
            <a:r>
              <a:rPr kumimoji="0" lang="ko-KR" altLang="en-US" sz="2200" dirty="0" smtClean="0"/>
              <a:t>진공관 사용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기계적 </a:t>
            </a:r>
            <a:r>
              <a:rPr kumimoji="0" lang="ko-KR" altLang="en-US" sz="2200" dirty="0" err="1" smtClean="0"/>
              <a:t>구성품</a:t>
            </a:r>
            <a:r>
              <a:rPr kumimoji="0" lang="ko-KR" altLang="en-US" sz="2200" dirty="0" smtClean="0"/>
              <a:t> 없는 연산 </a:t>
            </a:r>
            <a:r>
              <a:rPr kumimoji="0" lang="en-US" altLang="ko-KR" sz="2200" dirty="0" smtClean="0"/>
              <a:t>1937-1943</a:t>
            </a:r>
          </a:p>
          <a:p>
            <a:pPr marL="0" indent="0">
              <a:buNone/>
            </a:pPr>
            <a:r>
              <a:rPr kumimoji="0" lang="en-US" altLang="ko-KR" sz="2200" dirty="0" smtClean="0"/>
              <a:t>  - </a:t>
            </a:r>
            <a:r>
              <a:rPr kumimoji="0" lang="ko-KR" altLang="en-US" sz="2200" dirty="0" err="1" smtClean="0"/>
              <a:t>콜로서스</a:t>
            </a:r>
            <a:r>
              <a:rPr kumimoji="0" lang="en-US" altLang="ko-KR" sz="2200" dirty="0" smtClean="0"/>
              <a:t>(</a:t>
            </a:r>
            <a:r>
              <a:rPr lang="en-US" altLang="ko-KR" sz="2200" dirty="0"/>
              <a:t>Colossus</a:t>
            </a:r>
            <a:r>
              <a:rPr lang="en-US" altLang="ko-KR" sz="2200" dirty="0" smtClean="0"/>
              <a:t>) </a:t>
            </a:r>
            <a:r>
              <a:rPr lang="ko-KR" altLang="en-US" sz="2200" dirty="0" smtClean="0"/>
              <a:t>영국 </a:t>
            </a:r>
            <a:r>
              <a:rPr lang="ko-KR" altLang="en-US" sz="2200" dirty="0" err="1" smtClean="0"/>
              <a:t>암호해독기</a:t>
            </a:r>
            <a:r>
              <a:rPr lang="ko-KR" altLang="en-US" sz="2200" dirty="0" smtClean="0"/>
              <a:t> </a:t>
            </a:r>
            <a:r>
              <a:rPr lang="en-US" altLang="ko-KR" sz="2200" dirty="0" smtClean="0"/>
              <a:t>1943-45 </a:t>
            </a:r>
          </a:p>
          <a:p>
            <a:pPr marL="0" indent="0">
              <a:buNone/>
            </a:pPr>
            <a:r>
              <a:rPr kumimoji="0" lang="en-US" altLang="ko-KR" sz="2200" dirty="0"/>
              <a:t> </a:t>
            </a:r>
            <a:r>
              <a:rPr kumimoji="0" lang="en-US" altLang="ko-KR" sz="2200" dirty="0" smtClean="0"/>
              <a:t>      </a:t>
            </a:r>
            <a:r>
              <a:rPr kumimoji="0" lang="ko-KR" altLang="en-US" sz="2200" dirty="0" smtClean="0"/>
              <a:t>진공관 사용</a:t>
            </a:r>
            <a:endParaRPr kumimoji="0" lang="en-US" altLang="ko-KR" sz="2200" dirty="0" smtClean="0"/>
          </a:p>
          <a:p>
            <a:pPr marL="0" indent="0">
              <a:buNone/>
            </a:pPr>
            <a:r>
              <a:rPr kumimoji="0" lang="ko-KR" altLang="en-US" sz="2200" dirty="0" smtClean="0"/>
              <a:t>  </a:t>
            </a:r>
            <a:r>
              <a:rPr kumimoji="0" lang="en-US" altLang="ko-KR" sz="2200" dirty="0" smtClean="0"/>
              <a:t>- </a:t>
            </a:r>
            <a:r>
              <a:rPr kumimoji="0" lang="ko-KR" altLang="en-US" sz="2200" dirty="0" smtClean="0"/>
              <a:t>펜실베니아 대학 컴퓨터 </a:t>
            </a:r>
            <a:r>
              <a:rPr kumimoji="0" lang="en-US" altLang="ko-KR" sz="2200" dirty="0" smtClean="0"/>
              <a:t>ENIAC 1946</a:t>
            </a:r>
            <a:r>
              <a:rPr kumimoji="0" lang="ko-KR" altLang="en-US" sz="2200" dirty="0" smtClean="0"/>
              <a:t> </a:t>
            </a:r>
            <a:endParaRPr kumimoji="0" lang="en-US" altLang="ko-KR" sz="2200" dirty="0" smtClean="0"/>
          </a:p>
          <a:p>
            <a:pPr marL="0" indent="0">
              <a:buNone/>
            </a:pPr>
            <a:r>
              <a:rPr kumimoji="0" lang="en-US" altLang="ko-KR" sz="2200" dirty="0"/>
              <a:t> </a:t>
            </a:r>
            <a:r>
              <a:rPr kumimoji="0" lang="en-US" altLang="ko-KR" sz="2200" dirty="0" smtClean="0"/>
              <a:t>     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3264042"/>
            <a:ext cx="4127126" cy="2790044"/>
          </a:xfrm>
          <a:prstGeom prst="rect">
            <a:avLst/>
          </a:prstGeom>
        </p:spPr>
      </p:pic>
      <p:pic>
        <p:nvPicPr>
          <p:cNvPr id="12292" name="Picture 4" descr="https://upload.wikimedia.org/wikipedia/commons/thumb/0/01/Atanasoff-Berry_Computer_at_Durhum_Center.jpg/250px-Atanasoff-Berry_Computer_at_Durhum_Center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339851"/>
            <a:ext cx="2381250" cy="2638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6666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8229600" cy="857250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Arial Rounded MT Bold" pitchFamily="34" charset="0"/>
                <a:ea typeface="휴먼모음T" pitchFamily="18" charset="-127"/>
              </a:rPr>
              <a:t>2</a:t>
            </a:r>
            <a:r>
              <a:rPr lang="en-US" altLang="ko-KR" dirty="0" smtClean="0">
                <a:latin typeface="Arial Rounded MT Bold" pitchFamily="34" charset="0"/>
                <a:ea typeface="휴먼모음T" pitchFamily="18" charset="-127"/>
              </a:rPr>
              <a:t>. </a:t>
            </a:r>
            <a:r>
              <a:rPr lang="ko-KR" altLang="en-US" dirty="0">
                <a:latin typeface="Arial Rounded MT Bold" pitchFamily="34" charset="0"/>
                <a:ea typeface="휴먼모음T" pitchFamily="18" charset="-127"/>
              </a:rPr>
              <a:t>인터넷</a:t>
            </a:r>
            <a:r>
              <a:rPr lang="en-US" altLang="ko-KR" dirty="0">
                <a:latin typeface="Arial Rounded MT Bold" pitchFamily="34" charset="0"/>
                <a:ea typeface="휴먼모음T" pitchFamily="18" charset="-127"/>
              </a:rPr>
              <a:t>(Internet</a:t>
            </a:r>
            <a:r>
              <a:rPr lang="en-US" altLang="ko-KR" dirty="0" smtClean="0">
                <a:latin typeface="Arial Rounded MT Bold" pitchFamily="34" charset="0"/>
                <a:ea typeface="휴먼모음T" pitchFamily="18" charset="-127"/>
              </a:rPr>
              <a:t>) </a:t>
            </a:r>
            <a:r>
              <a:rPr lang="ko-KR" altLang="en-US" dirty="0" smtClean="0">
                <a:latin typeface="Arial Rounded MT Bold" pitchFamily="34" charset="0"/>
                <a:ea typeface="휴먼모음T" pitchFamily="18" charset="-127"/>
              </a:rPr>
              <a:t>발전의 역사</a:t>
            </a:r>
            <a:endParaRPr lang="en-US" altLang="ko-KR" b="1" dirty="0"/>
          </a:p>
        </p:txBody>
      </p:sp>
      <p:sp>
        <p:nvSpPr>
          <p:cNvPr id="13315" name="내용 개체 틀 2"/>
          <p:cNvSpPr>
            <a:spLocks noGrp="1"/>
          </p:cNvSpPr>
          <p:nvPr>
            <p:ph idx="1"/>
          </p:nvPr>
        </p:nvSpPr>
        <p:spPr>
          <a:xfrm>
            <a:off x="571500" y="1500188"/>
            <a:ext cx="8072438" cy="4572000"/>
          </a:xfrm>
        </p:spPr>
        <p:txBody>
          <a:bodyPr/>
          <a:lstStyle/>
          <a:p>
            <a:pPr marL="0" indent="0">
              <a:buNone/>
            </a:pPr>
            <a:endParaRPr lang="en-US" altLang="ko-KR" sz="2000" dirty="0"/>
          </a:p>
          <a:p>
            <a:pPr>
              <a:buFont typeface="Wingdings" panose="05000000000000000000" pitchFamily="2" charset="2"/>
              <a:buChar char="ü"/>
            </a:pPr>
            <a:r>
              <a:rPr lang="ko-KR" altLang="en-US" sz="2000" dirty="0"/>
              <a:t>지역별</a:t>
            </a:r>
            <a:r>
              <a:rPr lang="en-US" altLang="ko-KR" sz="2000" dirty="0"/>
              <a:t>, </a:t>
            </a:r>
            <a:r>
              <a:rPr lang="ko-KR" altLang="en-US" sz="2000" dirty="0"/>
              <a:t>단체별로 운영되는 지역통신망을 연결함으로써 네트워크 간의 자유로운 정보교환을 가능하게 한 </a:t>
            </a:r>
            <a:r>
              <a:rPr lang="en-US" altLang="ko-KR" sz="2000" dirty="0"/>
              <a:t> ‘</a:t>
            </a:r>
            <a:r>
              <a:rPr lang="ko-KR" altLang="en-US" sz="2000" dirty="0"/>
              <a:t>네트워크의 네트워크</a:t>
            </a:r>
            <a:r>
              <a:rPr lang="en-US" altLang="ko-KR" sz="2000" dirty="0"/>
              <a:t>‘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altLang="ko-KR" sz="2000" dirty="0"/>
          </a:p>
          <a:p>
            <a:pPr>
              <a:buFont typeface="Wingdings" panose="05000000000000000000" pitchFamily="2" charset="2"/>
              <a:buChar char="ü"/>
            </a:pPr>
            <a:r>
              <a:rPr lang="ko-KR" altLang="en-US" sz="2000" dirty="0"/>
              <a:t>이 하부구조를 바탕으로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제공되는 모든 정보</a:t>
            </a:r>
            <a:r>
              <a:rPr lang="en-US" altLang="ko-KR" sz="2000" dirty="0"/>
              <a:t>, </a:t>
            </a:r>
            <a:r>
              <a:rPr lang="ko-KR" altLang="en-US" sz="2000" dirty="0"/>
              <a:t>문화</a:t>
            </a:r>
            <a:r>
              <a:rPr lang="en-US" altLang="ko-KR" sz="2000" dirty="0"/>
              <a:t>, </a:t>
            </a:r>
          </a:p>
          <a:p>
            <a:pPr marL="0" indent="0">
              <a:buNone/>
            </a:pPr>
            <a:r>
              <a:rPr lang="ko-KR" altLang="en-US" sz="2000" dirty="0"/>
              <a:t>커뮤니케이션 서비스</a:t>
            </a:r>
            <a:endParaRPr lang="en-US" altLang="ko-KR" sz="2000" dirty="0"/>
          </a:p>
          <a:p>
            <a:pPr>
              <a:buFontTx/>
              <a:buChar char="-"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457200" indent="-457200" eaLnBrk="1" hangingPunct="1">
              <a:lnSpc>
                <a:spcPct val="85000"/>
              </a:lnSpc>
              <a:spcBef>
                <a:spcPct val="25000"/>
              </a:spcBef>
              <a:buNone/>
            </a:pPr>
            <a:r>
              <a:rPr lang="ko-KR" altLang="en-US" sz="2000" b="1" dirty="0"/>
              <a:t> </a:t>
            </a:r>
            <a:endParaRPr lang="ko-KR" altLang="en-US" sz="2000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 dirty="0"/>
          </a:p>
        </p:txBody>
      </p:sp>
      <p:sp>
        <p:nvSpPr>
          <p:cNvPr id="1331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3319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56E5CF0-02B9-48BA-B7B2-5E86D6ACD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384" y="3284984"/>
            <a:ext cx="4946101" cy="285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094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내용 개체 틀 2"/>
          <p:cNvSpPr>
            <a:spLocks noGrp="1"/>
          </p:cNvSpPr>
          <p:nvPr>
            <p:ph idx="1"/>
          </p:nvPr>
        </p:nvSpPr>
        <p:spPr>
          <a:xfrm>
            <a:off x="571500" y="692696"/>
            <a:ext cx="8072438" cy="5379492"/>
          </a:xfrm>
        </p:spPr>
        <p:txBody>
          <a:bodyPr/>
          <a:lstStyle/>
          <a:p>
            <a:pPr marL="0" indent="0">
              <a:buNone/>
            </a:pPr>
            <a:endParaRPr lang="en-US" altLang="ko-KR" sz="2400" b="1" dirty="0" smtClean="0">
              <a:latin typeface="+mj-ea"/>
              <a:ea typeface="+mj-ea"/>
            </a:endParaRPr>
          </a:p>
          <a:p>
            <a:pPr>
              <a:buFont typeface="Wingdings" pitchFamily="2" charset="2"/>
              <a:buChar char="§"/>
            </a:pPr>
            <a:r>
              <a:rPr lang="ko-KR" altLang="en-US" b="1" dirty="0" err="1" smtClean="0"/>
              <a:t>아르파넷</a:t>
            </a:r>
            <a:r>
              <a:rPr lang="en-US" altLang="ko-KR" b="1" dirty="0" smtClean="0"/>
              <a:t>(ARPANET)</a:t>
            </a:r>
            <a:r>
              <a:rPr lang="en-US" altLang="ko-KR" dirty="0" smtClean="0"/>
              <a:t>  </a:t>
            </a:r>
            <a:r>
              <a:rPr lang="en-US" altLang="ko-KR" dirty="0"/>
              <a:t>- 1969</a:t>
            </a:r>
            <a:r>
              <a:rPr lang="ko-KR" altLang="en-US" dirty="0"/>
              <a:t>년 미국 서부 </a:t>
            </a:r>
            <a:r>
              <a:rPr lang="en-US" altLang="ko-KR" dirty="0"/>
              <a:t>4</a:t>
            </a:r>
            <a:r>
              <a:rPr lang="ko-KR" altLang="en-US" dirty="0"/>
              <a:t>개 </a:t>
            </a:r>
            <a:r>
              <a:rPr lang="ko-KR" altLang="en-US" dirty="0" smtClean="0"/>
              <a:t>대학을 </a:t>
            </a:r>
            <a:r>
              <a:rPr lang="ko-KR" altLang="en-US" dirty="0"/>
              <a:t>연결하는 </a:t>
            </a:r>
            <a:r>
              <a:rPr lang="ko-KR" altLang="en-US" dirty="0" smtClean="0"/>
              <a:t>미 국방부 컴퓨터 통신망</a:t>
            </a:r>
            <a:endParaRPr lang="en-US" altLang="ko-KR" dirty="0" smtClean="0"/>
          </a:p>
          <a:p>
            <a:pPr>
              <a:buFont typeface="Wingdings" pitchFamily="2" charset="2"/>
              <a:buChar char="§"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· </a:t>
            </a:r>
            <a:r>
              <a:rPr lang="ko-KR" altLang="en-US" dirty="0" smtClean="0"/>
              <a:t>분산적 시스템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소련 등의 공격으로 일부 시스템이 파괴되더라도 작동할 수 있는 다중 경로의 네트워크 시스템 구축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 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· </a:t>
            </a:r>
            <a:r>
              <a:rPr lang="ko-KR" altLang="en-US" dirty="0" smtClean="0"/>
              <a:t>이후 미국과학재단의 학술용 네트워크로 분리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발전 </a:t>
            </a:r>
            <a:r>
              <a:rPr lang="en-US" altLang="ko-KR" dirty="0" smtClean="0"/>
              <a:t>(1986) 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- </a:t>
            </a:r>
            <a:r>
              <a:rPr lang="ko-KR" altLang="en-US" dirty="0" smtClean="0"/>
              <a:t>과학 발전을 위한 연구 공개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- </a:t>
            </a:r>
            <a:r>
              <a:rPr lang="ko-KR" altLang="en-US" dirty="0" smtClean="0"/>
              <a:t>집합적인 대화와 협력의 문화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 dirty="0"/>
          </a:p>
        </p:txBody>
      </p:sp>
      <p:sp>
        <p:nvSpPr>
          <p:cNvPr id="7" name="아래쪽 리본 6"/>
          <p:cNvSpPr/>
          <p:nvPr/>
        </p:nvSpPr>
        <p:spPr>
          <a:xfrm>
            <a:off x="571500" y="1268760"/>
            <a:ext cx="215908" cy="170340"/>
          </a:xfrm>
          <a:prstGeom prst="ribbon">
            <a:avLst/>
          </a:prstGeom>
          <a:solidFill>
            <a:srgbClr val="7030A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778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내용 개체 틀 2"/>
          <p:cNvSpPr>
            <a:spLocks noGrp="1"/>
          </p:cNvSpPr>
          <p:nvPr>
            <p:ph idx="1"/>
          </p:nvPr>
        </p:nvSpPr>
        <p:spPr>
          <a:xfrm>
            <a:off x="825698" y="1196752"/>
            <a:ext cx="7850758" cy="4896544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ko-KR" altLang="en-US" b="1" dirty="0" err="1" smtClean="0"/>
              <a:t>대항문화</a:t>
            </a:r>
            <a:r>
              <a:rPr lang="en-US" altLang="ko-KR" b="1" dirty="0" smtClean="0"/>
              <a:t>(counterculture) </a:t>
            </a:r>
            <a:r>
              <a:rPr lang="ko-KR" altLang="en-US" b="1" dirty="0" smtClean="0"/>
              <a:t>전통</a:t>
            </a:r>
            <a:r>
              <a:rPr lang="en-US" altLang="ko-KR" dirty="0" smtClean="0"/>
              <a:t> </a:t>
            </a:r>
          </a:p>
          <a:p>
            <a:pPr marL="0" indent="0">
              <a:buNone/>
            </a:pPr>
            <a:r>
              <a:rPr lang="en-US" altLang="ko-KR" dirty="0" smtClean="0"/>
              <a:t>  </a:t>
            </a:r>
          </a:p>
          <a:p>
            <a:pPr marL="0" indent="0">
              <a:buNone/>
            </a:pPr>
            <a:r>
              <a:rPr lang="en-US" altLang="ko-KR" dirty="0" smtClean="0"/>
              <a:t>- </a:t>
            </a:r>
            <a:r>
              <a:rPr lang="ko-KR" altLang="en-US" dirty="0" smtClean="0"/>
              <a:t>컴퓨터 과학자와 </a:t>
            </a:r>
            <a:r>
              <a:rPr lang="ko-KR" altLang="en-US" dirty="0" err="1" smtClean="0"/>
              <a:t>대항문화</a:t>
            </a:r>
            <a:r>
              <a:rPr lang="ko-KR" altLang="en-US" dirty="0" smtClean="0"/>
              <a:t> 운동가들이 결합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en-US" altLang="ko-KR" dirty="0" smtClean="0"/>
              <a:t>1980</a:t>
            </a:r>
            <a:r>
              <a:rPr lang="ko-KR" altLang="en-US" dirty="0" smtClean="0"/>
              <a:t>년대 컴퓨터 통신망 발전 주도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컴퓨터를 상업적 이익이 아니라 인류를 위해 </a:t>
            </a:r>
            <a:r>
              <a:rPr lang="ko-KR" altLang="en-US" dirty="0" err="1" smtClean="0"/>
              <a:t>사용코자</a:t>
            </a:r>
            <a:r>
              <a:rPr lang="ko-KR" altLang="en-US" dirty="0" smtClean="0"/>
              <a:t> 함</a:t>
            </a:r>
            <a:endParaRPr lang="en-US" altLang="ko-KR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ko-KR" altLang="en-US" sz="2200" dirty="0" smtClean="0"/>
              <a:t>상호 공감과 이해의 증진을 통해 </a:t>
            </a:r>
            <a:r>
              <a:rPr lang="ko-KR" altLang="en-US" sz="2200" dirty="0" smtClean="0"/>
              <a:t>공존 </a:t>
            </a:r>
            <a:r>
              <a:rPr lang="ko-KR" altLang="en-US" sz="2200" dirty="0" smtClean="0"/>
              <a:t>촉진</a:t>
            </a:r>
            <a:endParaRPr lang="en-US" altLang="ko-KR" sz="2200" dirty="0" smtClean="0"/>
          </a:p>
          <a:p>
            <a:pPr marL="457200" lvl="1" indent="0"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   - </a:t>
            </a:r>
            <a:r>
              <a:rPr lang="ko-KR" altLang="en-US" sz="2200" dirty="0" smtClean="0"/>
              <a:t>공동체주의</a:t>
            </a:r>
            <a:endParaRPr lang="en-US" altLang="ko-KR" sz="22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ko-KR" altLang="en-US" sz="2200" dirty="0" smtClean="0"/>
              <a:t>억압적 관습으로부터 해방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개인의 자아실현 추구</a:t>
            </a:r>
            <a:endParaRPr lang="en-US" altLang="ko-KR" sz="2200" dirty="0" smtClean="0"/>
          </a:p>
          <a:p>
            <a:pPr marL="457200" lvl="1" indent="0">
              <a:buNone/>
            </a:pPr>
            <a:r>
              <a:rPr lang="en-US" altLang="ko-KR" sz="2200" dirty="0" smtClean="0"/>
              <a:t>    - </a:t>
            </a:r>
            <a:r>
              <a:rPr lang="ko-KR" altLang="en-US" sz="2200" dirty="0" smtClean="0"/>
              <a:t>히피 문화</a:t>
            </a:r>
            <a:endParaRPr lang="en-US" altLang="ko-KR" sz="22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ko-KR" altLang="en-US" sz="2200" dirty="0" smtClean="0"/>
              <a:t>대중에게 권력 이양 </a:t>
            </a:r>
            <a:r>
              <a:rPr lang="en-US" altLang="ko-KR" sz="2200" dirty="0" smtClean="0">
                <a:sym typeface="Wingdings" panose="05000000000000000000" pitchFamily="2" charset="2"/>
              </a:rPr>
              <a:t></a:t>
            </a:r>
            <a:r>
              <a:rPr lang="ko-KR" altLang="en-US" sz="2200" dirty="0" smtClean="0"/>
              <a:t> 사회 변혁 촉진</a:t>
            </a:r>
            <a:endParaRPr lang="en-US" altLang="ko-KR" sz="2200" dirty="0" smtClean="0"/>
          </a:p>
          <a:p>
            <a:pPr marL="457200" lvl="1" indent="0"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   - </a:t>
            </a:r>
            <a:r>
              <a:rPr lang="ko-KR" altLang="en-US" sz="2200" dirty="0" smtClean="0"/>
              <a:t>급진주의</a:t>
            </a:r>
            <a:endParaRPr lang="en-US" altLang="ko-KR" sz="2200" dirty="0"/>
          </a:p>
          <a:p>
            <a:pPr marL="0" indent="0">
              <a:buNone/>
            </a:pPr>
            <a:r>
              <a:rPr lang="en-US" altLang="ko-KR" dirty="0" smtClean="0"/>
              <a:t> 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 dirty="0"/>
          </a:p>
        </p:txBody>
      </p:sp>
      <p:sp>
        <p:nvSpPr>
          <p:cNvPr id="5" name="아래쪽 리본 4"/>
          <p:cNvSpPr/>
          <p:nvPr/>
        </p:nvSpPr>
        <p:spPr>
          <a:xfrm>
            <a:off x="873287" y="1340768"/>
            <a:ext cx="215908" cy="170340"/>
          </a:xfrm>
          <a:prstGeom prst="ribbon">
            <a:avLst/>
          </a:prstGeom>
          <a:solidFill>
            <a:srgbClr val="7030A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70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내용 개체 틀 2"/>
          <p:cNvSpPr>
            <a:spLocks noGrp="1"/>
          </p:cNvSpPr>
          <p:nvPr>
            <p:ph idx="1"/>
          </p:nvPr>
        </p:nvSpPr>
        <p:spPr>
          <a:xfrm>
            <a:off x="683567" y="692696"/>
            <a:ext cx="7848873" cy="5328592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altLang="ko-KR" sz="2400" b="1" dirty="0"/>
              <a:t>World Wide </a:t>
            </a:r>
            <a:r>
              <a:rPr lang="en-US" altLang="ko-KR" sz="2400" b="1" dirty="0" smtClean="0"/>
              <a:t>Web: </a:t>
            </a:r>
          </a:p>
          <a:p>
            <a:pPr marL="0" indent="0">
              <a:buNone/>
            </a:pPr>
            <a:r>
              <a:rPr lang="ko-KR" altLang="en-US" dirty="0" smtClean="0"/>
              <a:t>   </a:t>
            </a:r>
            <a:endParaRPr lang="en-US" altLang="ko-KR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altLang="ko-KR" dirty="0"/>
              <a:t> </a:t>
            </a:r>
            <a:r>
              <a:rPr lang="ko-KR" altLang="en-US" dirty="0" smtClean="0"/>
              <a:t>인터넷에 연결된 컴퓨터를 통해 사람들이 정보를 공유할 수 있는 전세계적인 </a:t>
            </a:r>
            <a:r>
              <a:rPr lang="ko-KR" altLang="en-US" dirty="0" err="1" smtClean="0"/>
              <a:t>정보공간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altLang="ko-KR" dirty="0"/>
              <a:t> </a:t>
            </a:r>
            <a:r>
              <a:rPr lang="en-US" altLang="ko-KR" dirty="0" smtClean="0"/>
              <a:t>HTTP </a:t>
            </a:r>
            <a:r>
              <a:rPr lang="ko-KR" altLang="en-US" dirty="0" smtClean="0"/>
              <a:t>프로토콜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하이퍼텍스트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en-US" altLang="ko-KR" dirty="0" smtClean="0"/>
              <a:t>HTML </a:t>
            </a:r>
            <a:r>
              <a:rPr lang="ko-KR" altLang="en-US" dirty="0" smtClean="0"/>
              <a:t>형식을 사용하여 그림과 문자를 전송하는 구조</a:t>
            </a:r>
            <a:endParaRPr lang="en-US" altLang="ko-KR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altLang="ko-KR" dirty="0" smtClean="0"/>
              <a:t> </a:t>
            </a:r>
            <a:r>
              <a:rPr lang="ko-KR" altLang="en-US" dirty="0" smtClean="0"/>
              <a:t>유럽 </a:t>
            </a:r>
            <a:r>
              <a:rPr lang="en-US" altLang="ko-KR" dirty="0" smtClean="0"/>
              <a:t>CERN(</a:t>
            </a:r>
            <a:r>
              <a:rPr lang="ko-KR" altLang="en-US" dirty="0" smtClean="0"/>
              <a:t>유럽원자핵공동연구소</a:t>
            </a:r>
            <a:r>
              <a:rPr lang="en-US" altLang="ko-KR" dirty="0" smtClean="0"/>
              <a:t>)</a:t>
            </a:r>
            <a:r>
              <a:rPr lang="ko-KR" altLang="en-US" dirty="0" smtClean="0"/>
              <a:t>의 팀 </a:t>
            </a:r>
            <a:r>
              <a:rPr lang="ko-KR" altLang="en-US" dirty="0" err="1" smtClean="0"/>
              <a:t>버너스</a:t>
            </a:r>
            <a:r>
              <a:rPr lang="en-US" altLang="ko-KR" dirty="0" smtClean="0"/>
              <a:t>-</a:t>
            </a:r>
            <a:r>
              <a:rPr lang="ko-KR" altLang="en-US" dirty="0" smtClean="0"/>
              <a:t>리</a:t>
            </a:r>
            <a:r>
              <a:rPr lang="en-US" altLang="ko-KR" dirty="0" smtClean="0"/>
              <a:t>(Tim Berners-Lee)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1989</a:t>
            </a:r>
            <a:r>
              <a:rPr lang="ko-KR" altLang="en-US" dirty="0" smtClean="0"/>
              <a:t>년 제안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 “</a:t>
            </a:r>
            <a:r>
              <a:rPr lang="ko-KR" altLang="en-US" dirty="0" smtClean="0"/>
              <a:t>정보 공개를 위한 보편적 미디어</a:t>
            </a:r>
            <a:r>
              <a:rPr lang="en-US" altLang="ko-KR" dirty="0" smtClean="0"/>
              <a:t>”</a:t>
            </a:r>
            <a:r>
              <a:rPr lang="ko-KR" altLang="en-US" dirty="0" smtClean="0"/>
              <a:t>로서 </a:t>
            </a:r>
            <a:r>
              <a:rPr lang="en-US" altLang="ko-KR" dirty="0" smtClean="0"/>
              <a:t>WWW</a:t>
            </a:r>
            <a:r>
              <a:rPr lang="ko-KR" altLang="en-US" dirty="0" smtClean="0"/>
              <a:t>를 구상</a:t>
            </a:r>
            <a:r>
              <a:rPr lang="en-US" altLang="ko-KR" dirty="0" smtClean="0"/>
              <a:t> 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 </a:t>
            </a:r>
            <a:r>
              <a:rPr lang="ko-KR" altLang="en-US" dirty="0" smtClean="0"/>
              <a:t>공공재에 대한 접근을 개방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 </a:t>
            </a:r>
            <a:r>
              <a:rPr lang="ko-KR" altLang="en-US" dirty="0" smtClean="0"/>
              <a:t>서로 소통하는 공동체 지향</a:t>
            </a:r>
            <a:endParaRPr lang="en-US" altLang="ko-KR" dirty="0" smtClean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 dirty="0"/>
          </a:p>
        </p:txBody>
      </p:sp>
      <p:sp>
        <p:nvSpPr>
          <p:cNvPr id="5" name="아래쪽 리본 4"/>
          <p:cNvSpPr/>
          <p:nvPr/>
        </p:nvSpPr>
        <p:spPr>
          <a:xfrm>
            <a:off x="743679" y="836712"/>
            <a:ext cx="215908" cy="170340"/>
          </a:xfrm>
          <a:prstGeom prst="ribbon">
            <a:avLst/>
          </a:prstGeom>
          <a:solidFill>
            <a:srgbClr val="7030A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550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내용 개체 틀 2"/>
          <p:cNvSpPr>
            <a:spLocks noGrp="1"/>
          </p:cNvSpPr>
          <p:nvPr>
            <p:ph idx="1"/>
          </p:nvPr>
        </p:nvSpPr>
        <p:spPr>
          <a:xfrm>
            <a:off x="535781" y="476672"/>
            <a:ext cx="8072438" cy="5616624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endParaRPr lang="en-US" altLang="ko-KR" b="1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b="1" dirty="0" smtClean="0"/>
              <a:t>1990</a:t>
            </a:r>
            <a:r>
              <a:rPr lang="ko-KR" altLang="en-US" b="1" dirty="0" smtClean="0"/>
              <a:t>년대 하이텔의 메인 화면</a:t>
            </a:r>
            <a:endParaRPr lang="en-US" altLang="ko-KR" b="1" dirty="0" smtClean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 dirty="0"/>
          </a:p>
        </p:txBody>
      </p:sp>
      <p:pic>
        <p:nvPicPr>
          <p:cNvPr id="1026" name="Picture 2" descr="https://t1.daumcdn.net/cfile/blog/214AE541559A24C32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089" y="1278884"/>
            <a:ext cx="6926256" cy="4311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4942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내용 개체 틀 2"/>
          <p:cNvSpPr>
            <a:spLocks noGrp="1"/>
          </p:cNvSpPr>
          <p:nvPr>
            <p:ph idx="1"/>
          </p:nvPr>
        </p:nvSpPr>
        <p:spPr>
          <a:xfrm>
            <a:off x="535781" y="476672"/>
            <a:ext cx="8072438" cy="5616624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endParaRPr lang="en-US" altLang="ko-KR" b="1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인터넷의 상업화</a:t>
            </a:r>
            <a:endParaRPr lang="en-US" altLang="ko-KR" b="1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altLang="ko-KR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 smtClean="0"/>
              <a:t>유료 웹 브라우저의 개발</a:t>
            </a:r>
            <a:endParaRPr lang="en-US" altLang="ko-KR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 smtClean="0"/>
              <a:t>상업적 검색 엔진</a:t>
            </a:r>
            <a:endParaRPr lang="en-US" altLang="ko-KR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 smtClean="0"/>
              <a:t>컴퓨터 산업 리더 등장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 </a:t>
            </a:r>
            <a:r>
              <a:rPr lang="ko-KR" altLang="en-US" dirty="0" smtClean="0"/>
              <a:t>소프트웨어 라이센스 제한에 순응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 </a:t>
            </a:r>
            <a:r>
              <a:rPr lang="ko-KR" altLang="en-US" dirty="0" smtClean="0"/>
              <a:t>인터넷 기업 억만장자 등장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 </a:t>
            </a:r>
            <a:r>
              <a:rPr lang="ko-KR" altLang="en-US" dirty="0" err="1" smtClean="0"/>
              <a:t>캐주얼한</a:t>
            </a:r>
            <a:r>
              <a:rPr lang="ko-KR" altLang="en-US" dirty="0" smtClean="0"/>
              <a:t> 복장과 대중적 성향으로 기존 기업인과 차별화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 </a:t>
            </a:r>
            <a:r>
              <a:rPr lang="ko-KR" altLang="en-US" dirty="0" smtClean="0"/>
              <a:t>주요 업종</a:t>
            </a:r>
            <a:r>
              <a:rPr lang="en-US" altLang="ko-KR" dirty="0" smtClean="0"/>
              <a:t>: </a:t>
            </a:r>
            <a:r>
              <a:rPr lang="ko-KR" altLang="en-US" dirty="0" smtClean="0"/>
              <a:t>포털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검색엔진과 광고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온라인 게임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전자상거래</a:t>
            </a:r>
            <a:r>
              <a:rPr lang="en-US" altLang="ko-KR" dirty="0" smtClean="0"/>
              <a:t>, </a:t>
            </a:r>
            <a:r>
              <a:rPr lang="ko-KR" altLang="en-US" dirty="0" smtClean="0"/>
              <a:t>페이스북</a:t>
            </a:r>
            <a:r>
              <a:rPr lang="en-US" altLang="ko-KR" dirty="0" smtClean="0"/>
              <a:t>, </a:t>
            </a:r>
            <a:r>
              <a:rPr lang="ko-KR" altLang="en-US" dirty="0" smtClean="0"/>
              <a:t>유튜브</a:t>
            </a:r>
            <a:r>
              <a:rPr lang="en-US" altLang="ko-KR" dirty="0" smtClean="0"/>
              <a:t>... </a:t>
            </a: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 dirty="0"/>
          </a:p>
        </p:txBody>
      </p:sp>
      <p:sp>
        <p:nvSpPr>
          <p:cNvPr id="5" name="아래쪽 리본 4"/>
          <p:cNvSpPr/>
          <p:nvPr/>
        </p:nvSpPr>
        <p:spPr>
          <a:xfrm>
            <a:off x="535781" y="980728"/>
            <a:ext cx="215908" cy="170340"/>
          </a:xfrm>
          <a:prstGeom prst="ribbon">
            <a:avLst/>
          </a:prstGeom>
          <a:solidFill>
            <a:srgbClr val="7030A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153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내용 개체 틀 2"/>
          <p:cNvSpPr>
            <a:spLocks noGrp="1"/>
          </p:cNvSpPr>
          <p:nvPr>
            <p:ph idx="1"/>
          </p:nvPr>
        </p:nvSpPr>
        <p:spPr>
          <a:xfrm>
            <a:off x="535781" y="476672"/>
            <a:ext cx="8072438" cy="5809828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altLang="ko-KR" b="1" dirty="0" smtClean="0"/>
              <a:t>Web 2.0</a:t>
            </a:r>
          </a:p>
          <a:p>
            <a:pPr>
              <a:buFont typeface="Wingdings" pitchFamily="2" charset="2"/>
              <a:buChar char="§"/>
            </a:pPr>
            <a:endParaRPr lang="en-US" altLang="ko-KR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ko-KR" altLang="en-US" dirty="0"/>
              <a:t>개방</a:t>
            </a:r>
            <a:r>
              <a:rPr lang="en-US" altLang="ko-KR" dirty="0"/>
              <a:t>, </a:t>
            </a:r>
            <a:r>
              <a:rPr lang="ko-KR" altLang="en-US" dirty="0"/>
              <a:t>참여</a:t>
            </a:r>
            <a:r>
              <a:rPr lang="en-US" altLang="ko-KR" dirty="0"/>
              <a:t>, </a:t>
            </a:r>
            <a:r>
              <a:rPr lang="ko-KR" altLang="en-US" dirty="0"/>
              <a:t>공유의 정신을 바탕으로 사용자가 직접 정보를 생산하여 쌍방향으로 소통하는 웹 </a:t>
            </a:r>
            <a:r>
              <a:rPr lang="ko-KR" altLang="en-US" dirty="0" smtClean="0"/>
              <a:t>기술</a:t>
            </a:r>
            <a:endParaRPr lang="en-US" altLang="ko-KR" dirty="0" smtClean="0"/>
          </a:p>
          <a:p>
            <a:pPr>
              <a:buFont typeface="Wingdings" panose="05000000000000000000" pitchFamily="2" charset="2"/>
              <a:buChar char="ü"/>
            </a:pP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  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사용자 </a:t>
            </a:r>
            <a:r>
              <a:rPr lang="ko-KR" altLang="en-US" dirty="0"/>
              <a:t>참여 중심의 인터넷 </a:t>
            </a:r>
            <a:r>
              <a:rPr lang="ko-KR" altLang="en-US" dirty="0" smtClean="0"/>
              <a:t>환경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- 2004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Tim O’Reilly</a:t>
            </a:r>
            <a:r>
              <a:rPr lang="ko-KR" altLang="en-US" dirty="0" smtClean="0"/>
              <a:t>의 미디어 웹 </a:t>
            </a:r>
            <a:r>
              <a:rPr lang="en-US" altLang="ko-KR" dirty="0" smtClean="0"/>
              <a:t>2.0 </a:t>
            </a:r>
            <a:r>
              <a:rPr lang="ko-KR" altLang="en-US" dirty="0" smtClean="0"/>
              <a:t>컨퍼런스에서부터 개념이 </a:t>
            </a:r>
            <a:r>
              <a:rPr lang="ko-KR" altLang="en-US" dirty="0" err="1" smtClean="0"/>
              <a:t>대중화됨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예</a:t>
            </a:r>
            <a:r>
              <a:rPr lang="en-US" altLang="ko-KR" dirty="0"/>
              <a:t>) Wikipedia, </a:t>
            </a:r>
            <a:r>
              <a:rPr lang="ko-KR" altLang="en-US" dirty="0"/>
              <a:t>지식</a:t>
            </a:r>
            <a:r>
              <a:rPr lang="en-US" altLang="ko-KR" dirty="0" err="1"/>
              <a:t>iN</a:t>
            </a:r>
            <a:r>
              <a:rPr lang="en-US" altLang="ko-KR" dirty="0"/>
              <a:t>, </a:t>
            </a:r>
            <a:r>
              <a:rPr lang="ko-KR" altLang="en-US" dirty="0"/>
              <a:t>페이스북</a:t>
            </a:r>
            <a:r>
              <a:rPr lang="en-US" altLang="ko-KR" dirty="0"/>
              <a:t>, UCC</a:t>
            </a:r>
            <a:r>
              <a:rPr lang="en-US" altLang="ko-KR" dirty="0" smtClean="0"/>
              <a:t>…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 dirty="0"/>
          </a:p>
        </p:txBody>
      </p:sp>
      <p:sp>
        <p:nvSpPr>
          <p:cNvPr id="6" name="아래쪽 리본 5"/>
          <p:cNvSpPr/>
          <p:nvPr/>
        </p:nvSpPr>
        <p:spPr>
          <a:xfrm>
            <a:off x="595420" y="654940"/>
            <a:ext cx="215908" cy="170340"/>
          </a:xfrm>
          <a:prstGeom prst="ribbon">
            <a:avLst/>
          </a:prstGeom>
          <a:solidFill>
            <a:srgbClr val="7030A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962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7354" y="764704"/>
            <a:ext cx="8229600" cy="5289451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ko-KR" altLang="en-US" b="1" dirty="0" smtClean="0"/>
              <a:t>   </a:t>
            </a:r>
            <a:r>
              <a:rPr lang="ko-KR" altLang="en-US" b="1" dirty="0" err="1" smtClean="0"/>
              <a:t>구글화되는</a:t>
            </a:r>
            <a:r>
              <a:rPr lang="ko-KR" altLang="en-US" b="1" dirty="0" smtClean="0"/>
              <a:t> 세계</a:t>
            </a:r>
            <a:endParaRPr lang="en-US" altLang="ko-KR" b="1" dirty="0" smtClean="0"/>
          </a:p>
          <a:p>
            <a:pPr marL="0" indent="0" eaLnBrk="1" hangingPunct="1">
              <a:buNone/>
            </a:pPr>
            <a:endParaRPr lang="en-US" altLang="ko-KR" sz="2200" dirty="0" smtClean="0"/>
          </a:p>
          <a:p>
            <a:pPr marL="0" indent="0" eaLnBrk="1" hangingPunct="1">
              <a:buNone/>
            </a:pPr>
            <a:r>
              <a:rPr lang="en-US" altLang="ko-KR" sz="2200" dirty="0" smtClean="0"/>
              <a:t>- </a:t>
            </a:r>
            <a:r>
              <a:rPr lang="ko-KR" altLang="en-US" sz="2200" dirty="0" smtClean="0"/>
              <a:t>전 </a:t>
            </a:r>
            <a:r>
              <a:rPr lang="ko-KR" altLang="en-US" sz="2200" dirty="0"/>
              <a:t>세계의 정보를 조직화하여 검색과 추천을 가능케 함으로써 인간 생활과 정보 테크놀로지가 순환하는 거대한 플랫폼을 형성</a:t>
            </a:r>
            <a:endParaRPr lang="en-US" altLang="ko-KR" sz="2200" dirty="0"/>
          </a:p>
          <a:p>
            <a:pPr marL="0" indent="0" eaLnBrk="1" hangingPunct="1">
              <a:buNone/>
            </a:pPr>
            <a:endParaRPr lang="en-US" altLang="ko-KR" sz="2200" dirty="0"/>
          </a:p>
          <a:p>
            <a:pPr marL="0" indent="0" eaLnBrk="1" hangingPunct="1">
              <a:buNone/>
            </a:pPr>
            <a:r>
              <a:rPr lang="en-US" altLang="ko-KR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ko-KR" altLang="en-US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구글</a:t>
            </a:r>
            <a:endParaRPr lang="en-US" altLang="ko-KR" sz="2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eaLnBrk="1" hangingPunct="1">
              <a:buNone/>
            </a:pPr>
            <a:r>
              <a:rPr lang="en-US" altLang="ko-KR" sz="2200" dirty="0" smtClean="0"/>
              <a:t>   - 1998</a:t>
            </a:r>
            <a:r>
              <a:rPr lang="ko-KR" altLang="en-US" sz="2200" dirty="0" smtClean="0"/>
              <a:t>년 </a:t>
            </a:r>
            <a:r>
              <a:rPr lang="ko-KR" altLang="en-US" sz="2200" dirty="0" err="1" smtClean="0"/>
              <a:t>스탠포드대</a:t>
            </a:r>
            <a:r>
              <a:rPr lang="ko-KR" altLang="en-US" sz="2200" dirty="0" smtClean="0"/>
              <a:t> </a:t>
            </a:r>
            <a:r>
              <a:rPr lang="ko-KR" altLang="en-US" sz="2200" dirty="0" err="1" smtClean="0"/>
              <a:t>박사과정생</a:t>
            </a:r>
            <a:r>
              <a:rPr lang="ko-KR" altLang="en-US" sz="2200" dirty="0" smtClean="0"/>
              <a:t> </a:t>
            </a:r>
            <a:r>
              <a:rPr lang="en-US" altLang="ko-KR" sz="2200" dirty="0" smtClean="0"/>
              <a:t>Larry Page</a:t>
            </a:r>
            <a:r>
              <a:rPr lang="ko-KR" altLang="en-US" sz="2200" dirty="0" smtClean="0"/>
              <a:t>와</a:t>
            </a:r>
            <a:r>
              <a:rPr lang="en-US" altLang="ko-KR" sz="2200" dirty="0"/>
              <a:t> Sergey </a:t>
            </a:r>
            <a:r>
              <a:rPr lang="en-US" altLang="ko-KR" sz="2200" dirty="0" err="1"/>
              <a:t>Brin</a:t>
            </a:r>
            <a:r>
              <a:rPr lang="en-US" altLang="ko-KR" sz="2200" dirty="0"/>
              <a:t> </a:t>
            </a:r>
            <a:r>
              <a:rPr lang="ko-KR" altLang="en-US" sz="2200" dirty="0" smtClean="0"/>
              <a:t>이 창업</a:t>
            </a:r>
            <a:endParaRPr lang="en-US" altLang="ko-KR" sz="2200" dirty="0" smtClean="0"/>
          </a:p>
          <a:p>
            <a:pPr marL="0" indent="0" eaLnBrk="1" hangingPunct="1"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  - PageRank </a:t>
            </a:r>
            <a:r>
              <a:rPr lang="ko-KR" altLang="en-US" sz="2200" dirty="0" smtClean="0"/>
              <a:t>알고리즘을 기반으로 하는 검색 엔진이 핵심 기술 </a:t>
            </a:r>
            <a:endParaRPr lang="en-US" altLang="ko-KR" sz="2200" dirty="0" smtClean="0"/>
          </a:p>
        </p:txBody>
      </p:sp>
      <p:sp>
        <p:nvSpPr>
          <p:cNvPr id="3" name="아래쪽 리본 2"/>
          <p:cNvSpPr/>
          <p:nvPr/>
        </p:nvSpPr>
        <p:spPr>
          <a:xfrm>
            <a:off x="539552" y="908720"/>
            <a:ext cx="215908" cy="170340"/>
          </a:xfrm>
          <a:prstGeom prst="ribbon">
            <a:avLst/>
          </a:prstGeom>
          <a:solidFill>
            <a:srgbClr val="7030A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https://upload.wikimedia.org/wikipedia/commons/thumb/0/0a/Google_page_brin.jpg/220px-Google_page_bri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398969"/>
            <a:ext cx="2374754" cy="1651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달 4"/>
          <p:cNvSpPr/>
          <p:nvPr/>
        </p:nvSpPr>
        <p:spPr>
          <a:xfrm>
            <a:off x="576068" y="2852936"/>
            <a:ext cx="142876" cy="214314"/>
          </a:xfrm>
          <a:prstGeom prst="moon">
            <a:avLst/>
          </a:prstGeom>
          <a:solidFill>
            <a:srgbClr val="FF00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563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7354" y="764704"/>
            <a:ext cx="4486694" cy="5256584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ko-KR" altLang="en-US" b="1" dirty="0" smtClean="0"/>
              <a:t>   페이지랭크</a:t>
            </a:r>
            <a:r>
              <a:rPr lang="en-US" altLang="ko-KR" b="1" dirty="0" smtClean="0"/>
              <a:t>:</a:t>
            </a:r>
          </a:p>
          <a:p>
            <a:pPr marL="0" indent="0" eaLnBrk="1" hangingPunct="1">
              <a:buNone/>
            </a:pPr>
            <a:r>
              <a:rPr lang="ko-KR" altLang="en-US" sz="2200" dirty="0" smtClean="0"/>
              <a:t>페이지의 </a:t>
            </a:r>
            <a:r>
              <a:rPr lang="ko-KR" altLang="en-US" sz="2200" dirty="0"/>
              <a:t>관련성</a:t>
            </a:r>
            <a:r>
              <a:rPr lang="en-US" altLang="ko-KR" sz="2200" dirty="0"/>
              <a:t>(</a:t>
            </a:r>
            <a:r>
              <a:rPr lang="en-US" altLang="ko-KR" sz="2200" dirty="0" smtClean="0"/>
              <a:t>relevance)</a:t>
            </a:r>
            <a:r>
              <a:rPr lang="ko-KR" altLang="en-US" sz="2200" dirty="0" smtClean="0"/>
              <a:t>을 </a:t>
            </a:r>
            <a:r>
              <a:rPr lang="ko-KR" altLang="en-US" sz="2200" dirty="0"/>
              <a:t>기반으로 </a:t>
            </a:r>
            <a:r>
              <a:rPr lang="ko-KR" altLang="en-US" sz="2200" dirty="0" smtClean="0"/>
              <a:t>산출된 순위</a:t>
            </a:r>
            <a:endParaRPr lang="en-US" altLang="ko-KR" sz="2200" dirty="0"/>
          </a:p>
          <a:p>
            <a:pPr marL="0" indent="0" eaLnBrk="1" hangingPunct="1">
              <a:buNone/>
            </a:pPr>
            <a:r>
              <a:rPr lang="ko-KR" altLang="en-US" sz="2200" dirty="0" smtClean="0"/>
              <a:t> </a:t>
            </a:r>
            <a:r>
              <a:rPr lang="en-US" altLang="ko-KR" sz="2200" dirty="0" smtClean="0"/>
              <a:t>(</a:t>
            </a:r>
            <a:r>
              <a:rPr lang="ko-KR" altLang="en-US" sz="2200" dirty="0" smtClean="0"/>
              <a:t>이전에는 단순 출현 빈도로 산출</a:t>
            </a:r>
            <a:r>
              <a:rPr lang="en-US" altLang="ko-KR" sz="2200" dirty="0" smtClean="0"/>
              <a:t>)</a:t>
            </a:r>
          </a:p>
          <a:p>
            <a:pPr marL="0" indent="0" eaLnBrk="1" hangingPunct="1"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* </a:t>
            </a:r>
            <a:r>
              <a:rPr lang="ko-KR" altLang="en-US" sz="2200" dirty="0" smtClean="0"/>
              <a:t>관련성 </a:t>
            </a:r>
            <a:r>
              <a:rPr lang="en-US" altLang="ko-KR" sz="2200" dirty="0" smtClean="0"/>
              <a:t>= </a:t>
            </a:r>
            <a:r>
              <a:rPr lang="ko-KR" altLang="en-US" sz="2200" dirty="0" smtClean="0"/>
              <a:t>연결된 페이지의 숫자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그 페이지의 중요성</a:t>
            </a:r>
            <a:r>
              <a:rPr lang="en-US" altLang="ko-KR" sz="2200" dirty="0" smtClean="0"/>
              <a:t> </a:t>
            </a:r>
          </a:p>
          <a:p>
            <a:pPr marL="0" indent="0" eaLnBrk="1" hangingPunct="1">
              <a:buNone/>
            </a:pPr>
            <a:endParaRPr lang="en-US" altLang="ko-KR" sz="2200" dirty="0"/>
          </a:p>
          <a:p>
            <a:pPr eaLnBrk="1" hangingPunct="1">
              <a:buFont typeface="Wingdings" panose="05000000000000000000" pitchFamily="2" charset="2"/>
              <a:buChar char="u"/>
            </a:pPr>
            <a:r>
              <a:rPr lang="ko-KR" altLang="en-US" sz="2200" dirty="0" smtClean="0"/>
              <a:t>단순한 </a:t>
            </a:r>
            <a:r>
              <a:rPr lang="ko-KR" altLang="en-US" sz="2200" dirty="0" err="1" smtClean="0"/>
              <a:t>검색창</a:t>
            </a:r>
            <a:endParaRPr lang="en-US" altLang="ko-KR" sz="2200" dirty="0" smtClean="0"/>
          </a:p>
          <a:p>
            <a:pPr marL="0" indent="0" eaLnBrk="1" hangingPunct="1">
              <a:buNone/>
            </a:pPr>
            <a:endParaRPr lang="en-US" altLang="ko-KR" sz="2200" dirty="0"/>
          </a:p>
          <a:p>
            <a:pPr eaLnBrk="1" hangingPunct="1">
              <a:buFont typeface="Wingdings" panose="05000000000000000000" pitchFamily="2" charset="2"/>
              <a:buChar char="u"/>
            </a:pPr>
            <a:r>
              <a:rPr lang="ko-KR" altLang="en-US" sz="2200" dirty="0" smtClean="0"/>
              <a:t>검색결과 출력되는 자리 중 일부를 광고주에 판매</a:t>
            </a:r>
            <a:endParaRPr lang="en-US" altLang="ko-KR" sz="2200" dirty="0" smtClean="0"/>
          </a:p>
          <a:p>
            <a:pPr marL="0" indent="0" eaLnBrk="1" hangingPunct="1">
              <a:buNone/>
            </a:pPr>
            <a:r>
              <a:rPr lang="ko-KR" altLang="en-US" sz="2200" dirty="0" smtClean="0"/>
              <a:t>    </a:t>
            </a:r>
            <a:r>
              <a:rPr lang="en-US" altLang="ko-KR" sz="2200" dirty="0" smtClean="0"/>
              <a:t>- </a:t>
            </a:r>
            <a:r>
              <a:rPr lang="ko-KR" altLang="en-US" sz="2200" dirty="0" err="1" smtClean="0"/>
              <a:t>검색어</a:t>
            </a:r>
            <a:r>
              <a:rPr lang="ko-KR" altLang="en-US" sz="2200" dirty="0" smtClean="0"/>
              <a:t> </a:t>
            </a:r>
            <a:r>
              <a:rPr lang="ko-KR" altLang="en-US" sz="2200" dirty="0" err="1" smtClean="0"/>
              <a:t>입력량</a:t>
            </a:r>
            <a:r>
              <a:rPr lang="ko-KR" altLang="en-US" sz="2200" dirty="0" smtClean="0"/>
              <a:t> 대비 </a:t>
            </a:r>
            <a:r>
              <a:rPr lang="ko-KR" altLang="en-US" sz="2200" dirty="0" err="1" smtClean="0"/>
              <a:t>클릭수</a:t>
            </a:r>
            <a:r>
              <a:rPr lang="ko-KR" altLang="en-US" sz="2200" dirty="0" smtClean="0"/>
              <a:t> 등을 계산에 광고비 청구</a:t>
            </a:r>
            <a:endParaRPr lang="en-US" altLang="ko-KR" sz="2200" dirty="0" smtClean="0"/>
          </a:p>
        </p:txBody>
      </p:sp>
      <p:pic>
        <p:nvPicPr>
          <p:cNvPr id="2050" name="Picture 2" descr="pagerank 이미지 검색결과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246" y="999510"/>
            <a:ext cx="3607668" cy="2590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246" y="3933056"/>
            <a:ext cx="3865341" cy="1858091"/>
          </a:xfrm>
          <a:prstGeom prst="rect">
            <a:avLst/>
          </a:prstGeom>
        </p:spPr>
      </p:pic>
      <p:sp>
        <p:nvSpPr>
          <p:cNvPr id="6" name="해 5"/>
          <p:cNvSpPr/>
          <p:nvPr/>
        </p:nvSpPr>
        <p:spPr>
          <a:xfrm>
            <a:off x="537978" y="888665"/>
            <a:ext cx="275547" cy="221690"/>
          </a:xfrm>
          <a:prstGeom prst="sun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322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6712"/>
            <a:ext cx="8229600" cy="5289451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ko-KR" altLang="en-US" b="1" dirty="0" smtClean="0"/>
              <a:t>   </a:t>
            </a:r>
            <a:endParaRPr lang="en-US" altLang="ko-K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11560" y="476672"/>
            <a:ext cx="8229600" cy="5577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anose="05000000000000000000" pitchFamily="2" charset="2"/>
              <a:buChar char="u"/>
            </a:pPr>
            <a:r>
              <a:rPr kumimoji="0" lang="ko-KR" altLang="en-US" b="1" dirty="0" smtClean="0"/>
              <a:t> 구글 검색결과 사례 </a:t>
            </a:r>
            <a:endParaRPr kumimoji="0" lang="en-US" altLang="ko-KR" sz="2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700808"/>
            <a:ext cx="7491113" cy="408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75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7354" y="764704"/>
            <a:ext cx="8087094" cy="5289451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ko-KR" altLang="en-US" b="1" dirty="0" smtClean="0"/>
              <a:t>   </a:t>
            </a:r>
            <a:r>
              <a:rPr lang="en-US" altLang="ko-KR" b="1" dirty="0" smtClean="0"/>
              <a:t>A.I</a:t>
            </a:r>
            <a:r>
              <a:rPr lang="ko-KR" altLang="en-US" b="1" dirty="0"/>
              <a:t> </a:t>
            </a:r>
            <a:r>
              <a:rPr lang="en-US" altLang="ko-KR" b="1" dirty="0" smtClean="0"/>
              <a:t>Chat GPT (2022.11)</a:t>
            </a:r>
            <a:endParaRPr lang="en-US" altLang="ko-KR" sz="2200" dirty="0" smtClean="0"/>
          </a:p>
        </p:txBody>
      </p:sp>
      <p:sp>
        <p:nvSpPr>
          <p:cNvPr id="3" name="아래쪽 리본 2"/>
          <p:cNvSpPr/>
          <p:nvPr/>
        </p:nvSpPr>
        <p:spPr>
          <a:xfrm>
            <a:off x="539552" y="908720"/>
            <a:ext cx="215908" cy="170340"/>
          </a:xfrm>
          <a:prstGeom prst="ribbon">
            <a:avLst/>
          </a:prstGeom>
          <a:solidFill>
            <a:srgbClr val="7030A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855732" y="1916832"/>
            <a:ext cx="7560840" cy="2985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auto">
              <a:spcBef>
                <a:spcPts val="894"/>
              </a:spcBef>
              <a:spcAft>
                <a:spcPts val="0"/>
              </a:spcAft>
            </a:pPr>
            <a:r>
              <a:rPr kumimoji="0" lang="en-US" altLang="ko-KR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A.I.</a:t>
            </a:r>
            <a:r>
              <a:rPr kumimoji="0"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kumimoji="0" lang="en-US" altLang="ko-KR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(A</a:t>
            </a:r>
            <a:r>
              <a:rPr kumimoji="0" lang="en-US" altLang="ko-KR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rtificial Intelligence)</a:t>
            </a:r>
          </a:p>
          <a:p>
            <a:pPr lvl="0" fontAlgn="auto">
              <a:spcBef>
                <a:spcPts val="894"/>
              </a:spcBef>
              <a:spcAft>
                <a:spcPts val="0"/>
              </a:spcAft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: 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인간의 학습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추론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지각 능력을 컴퓨터를 통해 인공적으로 구현한 것</a:t>
            </a:r>
            <a:endParaRPr kumimoji="0" lang="en-US" altLang="ko-KR" sz="220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사람이 정신으로 하는 일을 기계가 대신하게 해주는 것</a:t>
            </a:r>
            <a:endParaRPr kumimoji="0" lang="en-US" altLang="ko-KR" sz="220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자동차 운전</a:t>
            </a:r>
            <a:endParaRPr kumimoji="0" lang="en-US" altLang="ko-KR" sz="220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c.f. 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경운기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세탁기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자동차</a:t>
            </a:r>
            <a:endParaRPr kumimoji="0" lang="en-US" altLang="ko-KR" sz="2200" dirty="0" smtClean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인간의 몸이 하는 것을 대신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8" name="해 7"/>
          <p:cNvSpPr/>
          <p:nvPr/>
        </p:nvSpPr>
        <p:spPr>
          <a:xfrm>
            <a:off x="517354" y="2060848"/>
            <a:ext cx="275547" cy="221690"/>
          </a:xfrm>
          <a:prstGeom prst="sun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Picture 2" descr="02화 CHAT GPT로 영어회화 연습을 할수 있다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79" y="4180887"/>
            <a:ext cx="3375199" cy="1894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0280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7354" y="764704"/>
            <a:ext cx="8087094" cy="5289451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ko-KR" altLang="en-US" b="1" dirty="0" smtClean="0"/>
              <a:t>   </a:t>
            </a:r>
            <a:endParaRPr lang="en-US" altLang="ko-KR" sz="2200" dirty="0" smtClean="0"/>
          </a:p>
        </p:txBody>
      </p:sp>
      <p:sp>
        <p:nvSpPr>
          <p:cNvPr id="4" name="직사각형 3"/>
          <p:cNvSpPr/>
          <p:nvPr/>
        </p:nvSpPr>
        <p:spPr>
          <a:xfrm>
            <a:off x="815099" y="743039"/>
            <a:ext cx="7560840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2400" b="1" dirty="0">
                <a:latin typeface="+mn-ea"/>
                <a:ea typeface="+mn-ea"/>
              </a:rPr>
              <a:t>Chat GPT</a:t>
            </a:r>
          </a:p>
          <a:p>
            <a:pPr marL="0" indent="0">
              <a:buNone/>
            </a:pPr>
            <a:r>
              <a:rPr lang="en-US" altLang="ko-KR" sz="2400" b="1" dirty="0"/>
              <a:t> </a:t>
            </a:r>
            <a:r>
              <a:rPr lang="en-US" altLang="ko-KR" sz="2400" dirty="0">
                <a:solidFill>
                  <a:srgbClr val="F4B083"/>
                </a:solidFill>
                <a:latin typeface="Arial"/>
                <a:cs typeface="Arial"/>
              </a:rPr>
              <a:t>•</a:t>
            </a:r>
            <a:r>
              <a:rPr lang="en-US" altLang="ko-KR" sz="2400" b="1" dirty="0"/>
              <a:t> 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Chat 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= 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대화형</a:t>
            </a:r>
            <a:endParaRPr kumimoji="0" lang="en-US" altLang="ko-KR" sz="220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  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자연어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(natural language: 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보통 사람 말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기계에게 말하고 일을 시킬 수 있음</a:t>
            </a:r>
            <a:endParaRPr kumimoji="0" lang="en-US" altLang="ko-KR" sz="220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spcBef>
                <a:spcPts val="894"/>
              </a:spcBef>
              <a:buNone/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2200" dirty="0">
                <a:solidFill>
                  <a:srgbClr val="92D05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•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G: Generative 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생성하는 </a:t>
            </a:r>
            <a:endParaRPr kumimoji="0" lang="en-US" altLang="ko-KR" sz="220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spcBef>
                <a:spcPts val="894"/>
              </a:spcBef>
              <a:buNone/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글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그림 등을 생성</a:t>
            </a:r>
            <a:endParaRPr kumimoji="0" lang="en-US" altLang="ko-KR" sz="220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spcBef>
                <a:spcPts val="894"/>
              </a:spcBef>
              <a:buNone/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2200" dirty="0">
                <a:solidFill>
                  <a:srgbClr val="92D05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•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P: Pre-trained </a:t>
            </a:r>
            <a:r>
              <a:rPr kumimoji="0" lang="ko-KR" altLang="en-US" sz="22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사전학습한</a:t>
            </a:r>
            <a:endParaRPr kumimoji="0" lang="en-US" altLang="ko-KR" sz="220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spcBef>
                <a:spcPts val="894"/>
              </a:spcBef>
              <a:buNone/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3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천억 단어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5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조개의 문서를 학습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</a:p>
          <a:p>
            <a:pPr marL="0" indent="0">
              <a:lnSpc>
                <a:spcPct val="100000"/>
              </a:lnSpc>
              <a:spcBef>
                <a:spcPts val="894"/>
              </a:spcBef>
              <a:buNone/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=&gt; LLM 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거대언어모델</a:t>
            </a:r>
            <a:endParaRPr kumimoji="0" lang="en-US" altLang="ko-KR" sz="220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spcBef>
                <a:spcPts val="894"/>
              </a:spcBef>
              <a:buNone/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2200" dirty="0">
                <a:solidFill>
                  <a:srgbClr val="92D05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•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T: Transformer </a:t>
            </a:r>
            <a:r>
              <a:rPr kumimoji="0" lang="ko-KR" altLang="en-US" sz="22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딥러닝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모델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(by 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구글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894"/>
              </a:spcBef>
              <a:buNone/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- 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핵심 단어를 포착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</a:t>
            </a:r>
          </a:p>
          <a:p>
            <a:pPr marL="0" indent="0">
              <a:lnSpc>
                <a:spcPct val="100000"/>
              </a:lnSpc>
              <a:spcBef>
                <a:spcPts val="894"/>
              </a:spcBef>
              <a:buNone/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- 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다음 단어가 </a:t>
            </a:r>
            <a:r>
              <a:rPr kumimoji="0" lang="ko-KR" altLang="en-US" sz="22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뭘지를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확률로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예측</a:t>
            </a:r>
            <a:endParaRPr kumimoji="0" lang="en-US" altLang="ko-KR" sz="220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해 7"/>
          <p:cNvSpPr/>
          <p:nvPr/>
        </p:nvSpPr>
        <p:spPr>
          <a:xfrm>
            <a:off x="500209" y="836712"/>
            <a:ext cx="275547" cy="221690"/>
          </a:xfrm>
          <a:prstGeom prst="sun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Picture 2" descr="02화 CHAT GPT로 영어회화 연습을 할수 있다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1081" y="2365506"/>
            <a:ext cx="3375199" cy="1894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6292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7354" y="764704"/>
            <a:ext cx="8087094" cy="5289451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ko-KR" altLang="en-US" spc="50">
                <a:solidFill>
                  <a:srgbClr val="A9D18E"/>
                </a:solidFill>
                <a:latin typeface="Segoe UI Symbol"/>
                <a:cs typeface="Segoe UI Symbol"/>
              </a:rPr>
              <a:t>⚫</a:t>
            </a:r>
            <a:endParaRPr lang="en-US" altLang="ko-KR" sz="2200" dirty="0" smtClean="0"/>
          </a:p>
        </p:txBody>
      </p:sp>
      <p:sp>
        <p:nvSpPr>
          <p:cNvPr id="4" name="직사각형 3"/>
          <p:cNvSpPr/>
          <p:nvPr/>
        </p:nvSpPr>
        <p:spPr>
          <a:xfrm>
            <a:off x="815099" y="743039"/>
            <a:ext cx="7560840" cy="5601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 smtClean="0">
                <a:latin typeface="+mn-ea"/>
                <a:ea typeface="+mn-ea"/>
              </a:rPr>
              <a:t> Chat GPT</a:t>
            </a:r>
            <a:r>
              <a:rPr lang="ko-KR" altLang="en-US" sz="2400" b="1" dirty="0" smtClean="0">
                <a:latin typeface="+mn-ea"/>
                <a:ea typeface="+mn-ea"/>
              </a:rPr>
              <a:t>형 </a:t>
            </a:r>
            <a:r>
              <a:rPr lang="en-US" altLang="ko-KR" sz="2400" b="1" dirty="0" smtClean="0">
                <a:latin typeface="+mn-ea"/>
                <a:ea typeface="+mn-ea"/>
              </a:rPr>
              <a:t>A.I</a:t>
            </a:r>
            <a:r>
              <a:rPr lang="ko-KR" altLang="en-US" sz="2400" b="1" dirty="0" smtClean="0">
                <a:latin typeface="+mn-ea"/>
                <a:ea typeface="+mn-ea"/>
              </a:rPr>
              <a:t>는 어떤 미디어인가</a:t>
            </a:r>
            <a:r>
              <a:rPr lang="en-US" altLang="ko-KR" sz="2400" b="1" dirty="0" smtClean="0">
                <a:latin typeface="+mn-ea"/>
                <a:ea typeface="+mn-ea"/>
              </a:rPr>
              <a:t>?</a:t>
            </a:r>
            <a:endParaRPr lang="en-US" altLang="ko-KR" sz="2400" b="1" dirty="0">
              <a:latin typeface="+mn-ea"/>
              <a:ea typeface="+mn-ea"/>
            </a:endParaRPr>
          </a:p>
          <a:p>
            <a:pPr marL="0" indent="0">
              <a:buNone/>
            </a:pPr>
            <a:r>
              <a:rPr lang="en-US" altLang="ko-KR" sz="2400" b="1" dirty="0"/>
              <a:t> </a:t>
            </a:r>
            <a:endParaRPr lang="en-US" altLang="ko-KR" sz="2400" b="1" dirty="0" smtClean="0"/>
          </a:p>
          <a:p>
            <a:pPr marL="0" indent="0">
              <a:buNone/>
            </a:pPr>
            <a:r>
              <a:rPr lang="en-US" altLang="ko-KR" sz="2400" b="1" dirty="0">
                <a:solidFill>
                  <a:srgbClr val="F4B083"/>
                </a:solidFill>
                <a:latin typeface="Arial"/>
                <a:cs typeface="Arial"/>
              </a:rPr>
              <a:t> </a:t>
            </a:r>
            <a:r>
              <a:rPr lang="en-US" altLang="ko-KR" sz="2400" b="1" dirty="0" smtClean="0">
                <a:solidFill>
                  <a:srgbClr val="F4B083"/>
                </a:solidFill>
                <a:latin typeface="Arial"/>
                <a:cs typeface="Arial"/>
              </a:rPr>
              <a:t> 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1)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대화형 미디어</a:t>
            </a:r>
            <a:endParaRPr kumimoji="0" lang="en-US" altLang="ko-KR" sz="220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심화된 상호작용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</a:t>
            </a:r>
          </a:p>
          <a:p>
            <a:pPr marL="0" indent="0">
              <a:buNone/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-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컴퓨터 언어 이해 없어도 할 수 있는 과제 수행</a:t>
            </a:r>
            <a:endParaRPr kumimoji="0" lang="en-US" altLang="ko-KR" sz="2200" dirty="0" smtClean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-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지식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수정 가능성</a:t>
            </a:r>
            <a:endParaRPr kumimoji="0" lang="en-US" altLang="ko-KR" sz="2200" dirty="0" smtClean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  c.f.)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소크라테스의 문자 비판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엄중한 침묵의 텍스트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</a:p>
          <a:p>
            <a:pPr marL="0" indent="0">
              <a:buNone/>
            </a:pPr>
            <a:endParaRPr kumimoji="0" lang="en-US" altLang="ko-KR" sz="2200" dirty="0" smtClean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2)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완성형 결과물</a:t>
            </a:r>
            <a:endParaRPr kumimoji="0" lang="en-US" altLang="ko-KR" sz="2200" dirty="0" smtClean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-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완결된 답변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보고서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PPT,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기사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여행 스케줄 등을 생성</a:t>
            </a:r>
            <a:endParaRPr kumimoji="0" lang="en-US" altLang="ko-KR" sz="2200" dirty="0" smtClean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c.f.)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구글 검색 결과</a:t>
            </a:r>
            <a:endParaRPr kumimoji="0" lang="en-US" altLang="ko-KR" sz="2200" dirty="0" smtClean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</a:p>
          <a:p>
            <a:pPr marL="0" indent="0">
              <a:buNone/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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정보의 이해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,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비교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,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분석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,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검토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,</a:t>
            </a:r>
          </a:p>
          <a:p>
            <a:pPr marL="0" indent="0">
              <a:buNone/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          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판단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,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종합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,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정리 등</a:t>
            </a:r>
            <a:endParaRPr kumimoji="0" lang="en-US" altLang="ko-KR" sz="2200" dirty="0" smtClean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          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지적 능력의 약화</a:t>
            </a:r>
            <a:endParaRPr kumimoji="0" lang="en-US" altLang="ko-KR" sz="220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</a:t>
            </a:r>
            <a:endParaRPr kumimoji="0" lang="en-US" altLang="ko-KR" sz="220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Picture 2" descr="02화 CHAT GPT로 영어회화 연습을 할수 있다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4373951"/>
            <a:ext cx="3231183" cy="1814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3638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7354" y="764704"/>
            <a:ext cx="8087094" cy="5289451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ko-KR" altLang="en-US" spc="50" dirty="0">
                <a:solidFill>
                  <a:srgbClr val="A9D18E"/>
                </a:solidFill>
                <a:latin typeface="Segoe UI Symbol"/>
                <a:cs typeface="Segoe UI Symbol"/>
              </a:rPr>
              <a:t>⚫</a:t>
            </a:r>
            <a:endParaRPr lang="en-US" altLang="ko-KR" sz="2200" dirty="0" smtClean="0"/>
          </a:p>
        </p:txBody>
      </p:sp>
      <p:sp>
        <p:nvSpPr>
          <p:cNvPr id="4" name="직사각형 3"/>
          <p:cNvSpPr/>
          <p:nvPr/>
        </p:nvSpPr>
        <p:spPr>
          <a:xfrm>
            <a:off x="815098" y="743039"/>
            <a:ext cx="7789349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 smtClean="0">
                <a:latin typeface="+mn-ea"/>
                <a:ea typeface="+mn-ea"/>
              </a:rPr>
              <a:t> Chat GPT</a:t>
            </a:r>
            <a:r>
              <a:rPr lang="ko-KR" altLang="en-US" sz="2400" b="1" dirty="0" smtClean="0">
                <a:latin typeface="+mn-ea"/>
                <a:ea typeface="+mn-ea"/>
              </a:rPr>
              <a:t>형 </a:t>
            </a:r>
            <a:r>
              <a:rPr lang="en-US" altLang="ko-KR" sz="2400" b="1" dirty="0" smtClean="0">
                <a:latin typeface="+mn-ea"/>
                <a:ea typeface="+mn-ea"/>
              </a:rPr>
              <a:t>A.I</a:t>
            </a:r>
            <a:r>
              <a:rPr lang="ko-KR" altLang="en-US" sz="2400" b="1" dirty="0" smtClean="0">
                <a:latin typeface="+mn-ea"/>
                <a:ea typeface="+mn-ea"/>
              </a:rPr>
              <a:t>는 어떤 미디어인가</a:t>
            </a:r>
            <a:r>
              <a:rPr lang="en-US" altLang="ko-KR" sz="2400" b="1" dirty="0" smtClean="0">
                <a:latin typeface="+mn-ea"/>
                <a:ea typeface="+mn-ea"/>
              </a:rPr>
              <a:t>?</a:t>
            </a:r>
            <a:endParaRPr lang="en-US" altLang="ko-KR" sz="2400" b="1" dirty="0">
              <a:latin typeface="+mn-ea"/>
              <a:ea typeface="+mn-ea"/>
            </a:endParaRPr>
          </a:p>
          <a:p>
            <a:pPr marL="0" indent="0">
              <a:buNone/>
            </a:pPr>
            <a:r>
              <a:rPr lang="en-US" altLang="ko-KR" sz="2400" b="1" dirty="0"/>
              <a:t> </a:t>
            </a:r>
            <a:endParaRPr lang="en-US" altLang="ko-KR" sz="2400" b="1" dirty="0" smtClean="0"/>
          </a:p>
          <a:p>
            <a:pPr marL="0" indent="0">
              <a:buNone/>
            </a:pPr>
            <a:r>
              <a:rPr lang="en-US" altLang="ko-KR" sz="2400" b="1" dirty="0" smtClean="0">
                <a:solidFill>
                  <a:srgbClr val="F4B083"/>
                </a:solidFill>
                <a:latin typeface="Arial"/>
                <a:cs typeface="Arial"/>
              </a:rPr>
              <a:t>   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3)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발견한 패턴을 활용하는 결과물</a:t>
            </a:r>
            <a:endParaRPr kumimoji="0" lang="en-US" altLang="ko-KR" sz="2200" dirty="0" smtClean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endParaRPr kumimoji="0" lang="en-US" altLang="ko-KR" sz="2200" dirty="0" smtClean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태연한 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거짓말 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22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할루시네이션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hallucination)</a:t>
            </a:r>
          </a:p>
          <a:p>
            <a:pPr marL="0" indent="0">
              <a:buNone/>
            </a:pPr>
            <a:endParaRPr kumimoji="0" lang="en-US" altLang="ko-KR" sz="220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• 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뉴욕 변호사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0" lang="ko-KR" altLang="en-US" sz="22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챗지피티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썼다가 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천달러 벌금</a:t>
            </a:r>
            <a:endParaRPr kumimoji="0" lang="en-US" altLang="ko-KR" sz="220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“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공소시효 지난 </a:t>
            </a:r>
            <a:r>
              <a:rPr kumimoji="0" lang="ko-KR" altLang="en-US" sz="22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항공사건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기각하면 안된다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” 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비슷한 판례 요청</a:t>
            </a:r>
            <a:endParaRPr kumimoji="0" lang="en-US" altLang="ko-KR" sz="220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  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- “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이 판례 진짜냐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“ 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확인 질문</a:t>
            </a:r>
            <a:endParaRPr kumimoji="0" lang="en-US" altLang="ko-KR" sz="220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 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 - 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실제 재판에 이 판례들 활용</a:t>
            </a:r>
            <a:endParaRPr kumimoji="0" lang="en-US" altLang="ko-KR" sz="220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  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 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제출 판례 중 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6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건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허위</a:t>
            </a:r>
            <a:endParaRPr kumimoji="0" lang="en-US" altLang="ko-KR" sz="2200" dirty="0" smtClean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  <a:sym typeface="Wingdings" panose="05000000000000000000" pitchFamily="2" charset="2"/>
            </a:endParaRPr>
          </a:p>
          <a:p>
            <a:r>
              <a:rPr lang="en-US" altLang="ko-KR" dirty="0" smtClean="0">
                <a:solidFill>
                  <a:srgbClr val="F4B083"/>
                </a:solidFill>
                <a:cs typeface="Arial"/>
              </a:rPr>
              <a:t>     </a:t>
            </a:r>
          </a:p>
          <a:p>
            <a:r>
              <a:rPr lang="en-US" altLang="ko-KR" dirty="0" smtClean="0">
                <a:solidFill>
                  <a:srgbClr val="F4B083"/>
                </a:solidFill>
                <a:cs typeface="Arial"/>
              </a:rPr>
              <a:t>   (</a:t>
            </a:r>
            <a:r>
              <a:rPr kumimoji="0" lang="en-US" altLang="ko-KR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Chat </a:t>
            </a:r>
            <a:r>
              <a:rPr kumimoji="0"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GPT4 </a:t>
            </a:r>
            <a:r>
              <a:rPr kumimoji="0" lang="ko-KR" altLang="en-US" dirty="0" err="1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할루시네이션</a:t>
            </a:r>
            <a:r>
              <a:rPr kumimoji="0"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확률 </a:t>
            </a:r>
            <a:r>
              <a:rPr kumimoji="0"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8.6</a:t>
            </a:r>
            <a:r>
              <a:rPr kumimoji="0" lang="en-US" altLang="ko-KR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%)</a:t>
            </a:r>
            <a:endParaRPr kumimoji="0" lang="en-US" altLang="ko-KR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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높은 정확도 요청되는 과업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,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활용 제한</a:t>
            </a:r>
            <a:endParaRPr kumimoji="0" lang="en-US" altLang="ko-KR" sz="220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Picture 2" descr="02화 CHAT GPT로 영어회화 연습을 할수 있다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4373951"/>
            <a:ext cx="3231183" cy="1814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달 4"/>
          <p:cNvSpPr/>
          <p:nvPr/>
        </p:nvSpPr>
        <p:spPr>
          <a:xfrm>
            <a:off x="971600" y="3302272"/>
            <a:ext cx="142876" cy="214314"/>
          </a:xfrm>
          <a:prstGeom prst="moon">
            <a:avLst/>
          </a:prstGeom>
          <a:solidFill>
            <a:srgbClr val="FF00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231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7354" y="764704"/>
            <a:ext cx="8087094" cy="5289451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ko-KR" altLang="en-US" spc="50" dirty="0">
                <a:solidFill>
                  <a:srgbClr val="A9D18E"/>
                </a:solidFill>
                <a:latin typeface="Segoe UI Symbol"/>
                <a:cs typeface="Segoe UI Symbol"/>
              </a:rPr>
              <a:t>⚫</a:t>
            </a:r>
            <a:endParaRPr lang="en-US" altLang="ko-KR" sz="2200" dirty="0" smtClean="0"/>
          </a:p>
        </p:txBody>
      </p:sp>
      <p:sp>
        <p:nvSpPr>
          <p:cNvPr id="4" name="직사각형 3"/>
          <p:cNvSpPr/>
          <p:nvPr/>
        </p:nvSpPr>
        <p:spPr>
          <a:xfrm>
            <a:off x="815099" y="743039"/>
            <a:ext cx="7560840" cy="4924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 smtClean="0">
                <a:latin typeface="+mn-ea"/>
                <a:ea typeface="+mn-ea"/>
              </a:rPr>
              <a:t> Chat GPT</a:t>
            </a:r>
            <a:r>
              <a:rPr lang="ko-KR" altLang="en-US" sz="2400" b="1" dirty="0" smtClean="0">
                <a:latin typeface="+mn-ea"/>
                <a:ea typeface="+mn-ea"/>
              </a:rPr>
              <a:t>형 </a:t>
            </a:r>
            <a:r>
              <a:rPr lang="en-US" altLang="ko-KR" sz="2400" b="1" dirty="0" smtClean="0">
                <a:latin typeface="+mn-ea"/>
                <a:ea typeface="+mn-ea"/>
              </a:rPr>
              <a:t>A.I</a:t>
            </a:r>
            <a:r>
              <a:rPr lang="ko-KR" altLang="en-US" sz="2400" b="1" dirty="0" smtClean="0">
                <a:latin typeface="+mn-ea"/>
                <a:ea typeface="+mn-ea"/>
              </a:rPr>
              <a:t>는 어떤 미디어인가</a:t>
            </a:r>
            <a:r>
              <a:rPr lang="en-US" altLang="ko-KR" sz="2400" b="1" dirty="0" smtClean="0">
                <a:latin typeface="+mn-ea"/>
                <a:ea typeface="+mn-ea"/>
              </a:rPr>
              <a:t>?</a:t>
            </a:r>
            <a:endParaRPr lang="en-US" altLang="ko-KR" sz="2400" b="1" dirty="0">
              <a:latin typeface="+mn-ea"/>
              <a:ea typeface="+mn-ea"/>
            </a:endParaRPr>
          </a:p>
          <a:p>
            <a:pPr marL="0" indent="0">
              <a:buNone/>
            </a:pPr>
            <a:r>
              <a:rPr lang="en-US" altLang="ko-KR" sz="2400" b="1" dirty="0"/>
              <a:t> </a:t>
            </a:r>
            <a:endParaRPr lang="en-US" altLang="ko-KR" sz="2400" b="1" dirty="0" smtClean="0"/>
          </a:p>
          <a:p>
            <a:pPr marL="0" indent="0">
              <a:buNone/>
            </a:pPr>
            <a:r>
              <a:rPr lang="en-US" altLang="ko-KR" sz="2400" b="1" dirty="0">
                <a:solidFill>
                  <a:srgbClr val="F4B083"/>
                </a:solidFill>
                <a:latin typeface="Arial"/>
                <a:cs typeface="Arial"/>
              </a:rPr>
              <a:t> </a:t>
            </a:r>
            <a:r>
              <a:rPr lang="en-US" altLang="ko-KR" sz="2400" b="1" dirty="0" smtClean="0">
                <a:solidFill>
                  <a:srgbClr val="F4B083"/>
                </a:solidFill>
                <a:latin typeface="Arial"/>
                <a:cs typeface="Arial"/>
              </a:rPr>
              <a:t>  </a:t>
            </a:r>
            <a:r>
              <a:rPr lang="en-US" altLang="ko-KR" sz="2400" b="1" dirty="0">
                <a:solidFill>
                  <a:srgbClr val="F4B083"/>
                </a:solidFill>
                <a:latin typeface="Arial"/>
                <a:cs typeface="Arial"/>
              </a:rPr>
              <a:t>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5) 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막대한 자본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자원 이용 가능한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거대 조직의 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</a:t>
            </a:r>
            <a:endParaRPr kumimoji="0" lang="en-US" altLang="ko-KR" sz="220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예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CHAT GPT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엔비디아 </a:t>
            </a: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GPU A100 1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만대를 </a:t>
            </a:r>
            <a:endParaRPr kumimoji="0" lang="en-US" altLang="ko-KR" sz="2200" dirty="0" smtClean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100</a:t>
            </a:r>
            <a:r>
              <a:rPr kumimoji="0" lang="ko-KR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 동안 학습</a:t>
            </a:r>
            <a:endParaRPr kumimoji="0" lang="en-US" altLang="ko-KR" sz="220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 * A100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가격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- 2950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만원</a:t>
            </a:r>
            <a:endParaRPr kumimoji="0" lang="en-US" altLang="ko-KR" sz="2200" dirty="0" smtClean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kumimoji="0" lang="ko-KR" altLang="en-US" sz="2200" dirty="0" err="1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학습비용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3.7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조원</a:t>
            </a:r>
            <a:endParaRPr kumimoji="0" lang="en-US" altLang="ko-KR" sz="2200" dirty="0" smtClean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endParaRPr kumimoji="0" lang="en-US" altLang="ko-KR" sz="2200" dirty="0" smtClean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endParaRPr kumimoji="0" lang="en-US" altLang="ko-KR" sz="220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6)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학습 문서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학습 이미지에 의존</a:t>
            </a:r>
            <a:endParaRPr kumimoji="0" lang="en-US" altLang="ko-KR" sz="2200" dirty="0" smtClean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-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누군가 계속 정답을 웹에 올리고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</a:p>
          <a:p>
            <a:pPr marL="0" indent="0">
              <a:buNone/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A.I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기업에  자료 활용에 동의해야 </a:t>
            </a:r>
            <a:endParaRPr kumimoji="0" lang="en-US" altLang="ko-KR" sz="220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A.I </a:t>
            </a:r>
            <a:r>
              <a:rPr kumimoji="0" lang="ko-KR" altLang="en-US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결과물 품질이 유지됨</a:t>
            </a:r>
            <a:endParaRPr kumimoji="0" lang="en-US" altLang="ko-KR" sz="2200" dirty="0" smtClean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kumimoji="0" lang="en-US" altLang="ko-KR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2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endParaRPr kumimoji="0" lang="en-US" altLang="ko-KR" sz="220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Picture 2" descr="02화 CHAT GPT로 영어회화 연습을 할수 있다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4373951"/>
            <a:ext cx="3231183" cy="1814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2576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내용 개체 틀 2"/>
          <p:cNvSpPr>
            <a:spLocks noGrp="1"/>
          </p:cNvSpPr>
          <p:nvPr>
            <p:ph idx="1"/>
          </p:nvPr>
        </p:nvSpPr>
        <p:spPr>
          <a:xfrm>
            <a:off x="571500" y="1543010"/>
            <a:ext cx="8072438" cy="4529178"/>
          </a:xfrm>
        </p:spPr>
        <p:txBody>
          <a:bodyPr/>
          <a:lstStyle/>
          <a:p>
            <a:pPr marL="0" indent="0" eaLnBrk="1" hangingPunct="1">
              <a:lnSpc>
                <a:spcPct val="85000"/>
              </a:lnSpc>
              <a:spcBef>
                <a:spcPct val="25000"/>
              </a:spcBef>
              <a:buNone/>
            </a:pPr>
            <a:r>
              <a:rPr lang="en-US" altLang="ko-KR" b="1" dirty="0"/>
              <a:t>1</a:t>
            </a:r>
            <a:r>
              <a:rPr lang="en-US" altLang="ko-KR" b="1" dirty="0" smtClean="0"/>
              <a:t>) </a:t>
            </a:r>
            <a:r>
              <a:rPr lang="ko-KR" altLang="en-US" b="1" dirty="0"/>
              <a:t>하이퍼텍스트로 연결</a:t>
            </a:r>
          </a:p>
          <a:p>
            <a:pPr marL="354013" indent="-354013">
              <a:buNone/>
            </a:pPr>
            <a:r>
              <a:rPr lang="en-US" altLang="ko-KR" sz="2000" dirty="0"/>
              <a:t>     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ko-KR" sz="2000" dirty="0" smtClean="0"/>
              <a:t> </a:t>
            </a:r>
            <a:r>
              <a:rPr lang="en-US" altLang="ko-KR" sz="2000" dirty="0"/>
              <a:t>World</a:t>
            </a:r>
            <a:r>
              <a:rPr lang="ko-KR" altLang="en-US" sz="2000" dirty="0"/>
              <a:t> </a:t>
            </a:r>
            <a:r>
              <a:rPr lang="en-US" altLang="ko-KR" sz="2000" dirty="0"/>
              <a:t>Wide</a:t>
            </a:r>
            <a:r>
              <a:rPr lang="ko-KR" altLang="en-US" sz="2000" dirty="0"/>
              <a:t> </a:t>
            </a:r>
            <a:r>
              <a:rPr lang="en-US" altLang="ko-KR" sz="2000" dirty="0"/>
              <a:t>Web – </a:t>
            </a:r>
            <a:r>
              <a:rPr lang="ko-KR" altLang="en-US" sz="2000" dirty="0"/>
              <a:t>하나의 웹페이지는 다른 웹 페이지와 링크를 통해 쉽게 연결됨</a:t>
            </a:r>
            <a:endParaRPr lang="en-US" altLang="ko-KR" sz="2000" dirty="0"/>
          </a:p>
          <a:p>
            <a:pPr>
              <a:buNone/>
            </a:pPr>
            <a:r>
              <a:rPr lang="en-US" altLang="ko-KR" sz="2000" dirty="0"/>
              <a:t>       </a:t>
            </a:r>
            <a:r>
              <a:rPr lang="en-US" altLang="ko-KR" sz="2000" dirty="0">
                <a:sym typeface="Wingdings" panose="05000000000000000000" pitchFamily="2" charset="2"/>
              </a:rPr>
              <a:t> </a:t>
            </a:r>
            <a:r>
              <a:rPr lang="ko-KR" altLang="en-US" sz="2000" dirty="0">
                <a:sym typeface="Wingdings" panose="05000000000000000000" pitchFamily="2" charset="2"/>
              </a:rPr>
              <a:t>링크의 클릭을 통해 다양한 내용의 정보를 접할 수 있음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ko-KR" altLang="en-US" sz="2000" dirty="0" smtClean="0">
                <a:sym typeface="Wingdings" panose="05000000000000000000" pitchFamily="2" charset="2"/>
              </a:rPr>
              <a:t>정보 구조의 </a:t>
            </a:r>
            <a:r>
              <a:rPr lang="ko-KR" altLang="en-US" sz="2000" dirty="0" err="1" smtClean="0">
                <a:sym typeface="Wingdings" panose="05000000000000000000" pitchFamily="2" charset="2"/>
              </a:rPr>
              <a:t>비선형성</a:t>
            </a:r>
            <a:r>
              <a:rPr lang="en-US" altLang="ko-KR" sz="2000" dirty="0">
                <a:sym typeface="Wingdings" panose="05000000000000000000" pitchFamily="2" charset="2"/>
              </a:rPr>
              <a:t>(nonlinearity) </a:t>
            </a:r>
            <a:endParaRPr lang="en-US" altLang="ko-KR" sz="2000" dirty="0" smtClean="0"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 </a:t>
            </a:r>
            <a:r>
              <a:rPr lang="en-US" altLang="ko-KR" sz="2000" dirty="0" smtClean="0">
                <a:sym typeface="Wingdings" panose="05000000000000000000" pitchFamily="2" charset="2"/>
              </a:rPr>
              <a:t>      - </a:t>
            </a:r>
            <a:r>
              <a:rPr lang="ko-KR" altLang="en-US" sz="2000" dirty="0" smtClean="0">
                <a:sym typeface="Wingdings" panose="05000000000000000000" pitchFamily="2" charset="2"/>
              </a:rPr>
              <a:t>여러 </a:t>
            </a:r>
            <a:r>
              <a:rPr lang="ko-KR" altLang="en-US" sz="2000" dirty="0">
                <a:sym typeface="Wingdings" panose="05000000000000000000" pitchFamily="2" charset="2"/>
              </a:rPr>
              <a:t>개의 정보를 읽어나가는 순서가 이용자에 따라 달라질 수 있음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     </a:t>
            </a:r>
            <a:r>
              <a:rPr lang="ko-KR" altLang="en-US" sz="2000" dirty="0">
                <a:sym typeface="Wingdings" panose="05000000000000000000" pitchFamily="2" charset="2"/>
              </a:rPr>
              <a:t> </a:t>
            </a:r>
            <a:r>
              <a:rPr lang="en-US" altLang="ko-KR" sz="2000" dirty="0">
                <a:sym typeface="Wingdings" panose="05000000000000000000" pitchFamily="2" charset="2"/>
              </a:rPr>
              <a:t> </a:t>
            </a:r>
            <a:r>
              <a:rPr lang="ko-KR" altLang="en-US" sz="2000" dirty="0">
                <a:sym typeface="Wingdings" panose="05000000000000000000" pitchFamily="2" charset="2"/>
              </a:rPr>
              <a:t>다양한 정보구성의 가능성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     </a:t>
            </a:r>
            <a:r>
              <a:rPr lang="ko-KR" altLang="en-US" sz="2000" dirty="0">
                <a:sym typeface="Wingdings" panose="05000000000000000000" pitchFamily="2" charset="2"/>
              </a:rPr>
              <a:t>과 자유가 열려 있음</a:t>
            </a:r>
            <a:endParaRPr lang="en-US" altLang="ko-KR" sz="2000" dirty="0">
              <a:sym typeface="Wingdings" panose="05000000000000000000" pitchFamily="2" charset="2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smtClean="0"/>
              <a:t>미디어와 공동체</a:t>
            </a:r>
            <a:endParaRPr lang="ko-KR" altLang="en-US" dirty="0"/>
          </a:p>
        </p:txBody>
      </p:sp>
      <p:sp>
        <p:nvSpPr>
          <p:cNvPr id="1331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3319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B67E772-1224-4BE8-B380-EFFA5E7D1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4299000"/>
            <a:ext cx="3913634" cy="1855761"/>
          </a:xfrm>
          <a:prstGeom prst="rect">
            <a:avLst/>
          </a:prstGeom>
        </p:spPr>
      </p:pic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8229600" cy="857250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Arial Rounded MT Bold" pitchFamily="34" charset="0"/>
                <a:ea typeface="휴먼모음T" pitchFamily="18" charset="-127"/>
              </a:rPr>
              <a:t>3. </a:t>
            </a:r>
            <a:r>
              <a:rPr lang="ko-KR" altLang="en-US" dirty="0">
                <a:latin typeface="Arial Rounded MT Bold" pitchFamily="34" charset="0"/>
                <a:ea typeface="휴먼모음T" pitchFamily="18" charset="-127"/>
              </a:rPr>
              <a:t>인터넷 미디어의 특징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342716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내용 개체 틀 2"/>
          <p:cNvSpPr>
            <a:spLocks noGrp="1"/>
          </p:cNvSpPr>
          <p:nvPr>
            <p:ph idx="1"/>
          </p:nvPr>
        </p:nvSpPr>
        <p:spPr>
          <a:xfrm>
            <a:off x="1115616" y="764705"/>
            <a:ext cx="6768752" cy="4824535"/>
          </a:xfrm>
        </p:spPr>
        <p:txBody>
          <a:bodyPr/>
          <a:lstStyle/>
          <a:p>
            <a:pPr marL="457200" indent="-457200" eaLnBrk="1" hangingPunct="1">
              <a:lnSpc>
                <a:spcPct val="85000"/>
              </a:lnSpc>
              <a:spcBef>
                <a:spcPct val="25000"/>
              </a:spcBef>
              <a:buNone/>
            </a:pPr>
            <a:r>
              <a:rPr lang="en-US" altLang="ko-KR" b="1" dirty="0"/>
              <a:t>2</a:t>
            </a:r>
            <a:r>
              <a:rPr lang="en-US" altLang="ko-KR" b="1" dirty="0" smtClean="0"/>
              <a:t>)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상호작용성</a:t>
            </a:r>
            <a:endParaRPr lang="en-US" altLang="ko-KR" b="1" dirty="0" smtClean="0"/>
          </a:p>
          <a:p>
            <a:pPr marL="457200" indent="-457200" eaLnBrk="1" hangingPunct="1">
              <a:lnSpc>
                <a:spcPct val="85000"/>
              </a:lnSpc>
              <a:spcBef>
                <a:spcPct val="25000"/>
              </a:spcBef>
              <a:buNone/>
            </a:pPr>
            <a:endParaRPr lang="ko-KR" altLang="en-US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ko-KR" altLang="en-US" dirty="0" smtClean="0"/>
              <a:t>이용자 간 정보</a:t>
            </a:r>
            <a:r>
              <a:rPr lang="en-US" altLang="ko-KR" dirty="0" smtClean="0"/>
              <a:t>/</a:t>
            </a:r>
            <a:r>
              <a:rPr lang="ko-KR" altLang="en-US" dirty="0" smtClean="0"/>
              <a:t>콘텐츠 주고 받기를 쉽고 다양하게</a:t>
            </a:r>
            <a:r>
              <a:rPr lang="en-US" altLang="ko-KR" dirty="0" smtClean="0"/>
              <a:t> </a:t>
            </a:r>
            <a:r>
              <a:rPr lang="ko-KR" altLang="en-US" dirty="0" smtClean="0"/>
              <a:t>구현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     - </a:t>
            </a:r>
            <a:r>
              <a:rPr lang="ko-KR" altLang="en-US" dirty="0" smtClean="0"/>
              <a:t>동시적</a:t>
            </a:r>
            <a:r>
              <a:rPr lang="en-US" altLang="ko-KR" dirty="0" smtClean="0"/>
              <a:t>/</a:t>
            </a:r>
            <a:r>
              <a:rPr lang="ko-KR" altLang="en-US" dirty="0" err="1" smtClean="0"/>
              <a:t>비동시적</a:t>
            </a:r>
            <a:r>
              <a:rPr lang="ko-KR" altLang="en-US" dirty="0" smtClean="0"/>
              <a:t> 상호작용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>
                <a:sym typeface="Wingdings" panose="05000000000000000000" pitchFamily="2" charset="2"/>
              </a:rPr>
              <a:t>     - </a:t>
            </a:r>
            <a:r>
              <a:rPr lang="ko-KR" altLang="en-US" dirty="0" smtClean="0">
                <a:sym typeface="Wingdings" panose="05000000000000000000" pitchFamily="2" charset="2"/>
              </a:rPr>
              <a:t>일 대 일 </a:t>
            </a:r>
            <a:r>
              <a:rPr lang="en-US" altLang="ko-KR" dirty="0" smtClean="0">
                <a:sym typeface="Wingdings" panose="05000000000000000000" pitchFamily="2" charset="2"/>
              </a:rPr>
              <a:t>/ </a:t>
            </a:r>
            <a:r>
              <a:rPr lang="ko-KR" altLang="en-US" dirty="0" smtClean="0">
                <a:sym typeface="Wingdings" panose="05000000000000000000" pitchFamily="2" charset="2"/>
              </a:rPr>
              <a:t>일 대 다 </a:t>
            </a:r>
            <a:r>
              <a:rPr lang="en-US" altLang="ko-KR" dirty="0" smtClean="0">
                <a:sym typeface="Wingdings" panose="05000000000000000000" pitchFamily="2" charset="2"/>
              </a:rPr>
              <a:t>/ </a:t>
            </a:r>
            <a:r>
              <a:rPr lang="ko-KR" altLang="en-US" dirty="0" smtClean="0">
                <a:sym typeface="Wingdings" panose="05000000000000000000" pitchFamily="2" charset="2"/>
              </a:rPr>
              <a:t>다 대 다 </a:t>
            </a:r>
            <a:r>
              <a:rPr lang="en-US" altLang="ko-KR" dirty="0" smtClean="0">
                <a:sym typeface="Wingdings" panose="05000000000000000000" pitchFamily="2" charset="2"/>
              </a:rPr>
              <a:t>/ </a:t>
            </a:r>
            <a:r>
              <a:rPr lang="ko-KR" altLang="en-US" dirty="0" smtClean="0">
                <a:sym typeface="Wingdings" panose="05000000000000000000" pitchFamily="2" charset="2"/>
              </a:rPr>
              <a:t>일 대 서버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>
              <a:buNone/>
            </a:pPr>
            <a:endParaRPr lang="en-US" altLang="ko-KR" dirty="0" smtClean="0"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ko-KR" dirty="0" smtClean="0">
                <a:sym typeface="Wingdings" panose="05000000000000000000" pitchFamily="2" charset="2"/>
              </a:rPr>
              <a:t> </a:t>
            </a:r>
            <a:r>
              <a:rPr lang="ko-KR" altLang="en-US" dirty="0" smtClean="0">
                <a:sym typeface="Wingdings" panose="05000000000000000000" pitchFamily="2" charset="2"/>
              </a:rPr>
              <a:t>뉴스</a:t>
            </a:r>
            <a:r>
              <a:rPr lang="en-US" altLang="ko-KR" dirty="0" smtClean="0">
                <a:sym typeface="Wingdings" panose="05000000000000000000" pitchFamily="2" charset="2"/>
              </a:rPr>
              <a:t>, </a:t>
            </a:r>
            <a:r>
              <a:rPr lang="ko-KR" altLang="en-US" dirty="0" smtClean="0">
                <a:sym typeface="Wingdings" panose="05000000000000000000" pitchFamily="2" charset="2"/>
              </a:rPr>
              <a:t>의견</a:t>
            </a:r>
            <a:r>
              <a:rPr lang="en-US" altLang="ko-KR" dirty="0" smtClean="0">
                <a:sym typeface="Wingdings" panose="05000000000000000000" pitchFamily="2" charset="2"/>
              </a:rPr>
              <a:t>, </a:t>
            </a:r>
            <a:r>
              <a:rPr lang="ko-KR" altLang="en-US" dirty="0" smtClean="0">
                <a:sym typeface="Wingdings" panose="05000000000000000000" pitchFamily="2" charset="2"/>
              </a:rPr>
              <a:t>정보</a:t>
            </a:r>
            <a:r>
              <a:rPr lang="en-US" altLang="ko-KR" dirty="0" smtClean="0">
                <a:sym typeface="Wingdings" panose="05000000000000000000" pitchFamily="2" charset="2"/>
              </a:rPr>
              <a:t>, </a:t>
            </a:r>
            <a:r>
              <a:rPr lang="ko-KR" altLang="en-US" dirty="0" smtClean="0">
                <a:sym typeface="Wingdings" panose="05000000000000000000" pitchFamily="2" charset="2"/>
              </a:rPr>
              <a:t>문화 전달에서의 상호작용 심화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>
              <a:buNone/>
            </a:pPr>
            <a:endParaRPr lang="en-US" altLang="ko-KR" b="1" dirty="0">
              <a:sym typeface="Wingdings" panose="05000000000000000000" pitchFamily="2" charset="2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 dirty="0"/>
          </a:p>
        </p:txBody>
      </p:sp>
      <p:sp>
        <p:nvSpPr>
          <p:cNvPr id="1331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3319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813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내용 개체 틀 2"/>
          <p:cNvSpPr>
            <a:spLocks noGrp="1"/>
          </p:cNvSpPr>
          <p:nvPr>
            <p:ph idx="1"/>
          </p:nvPr>
        </p:nvSpPr>
        <p:spPr>
          <a:xfrm>
            <a:off x="827584" y="764705"/>
            <a:ext cx="7416824" cy="4824535"/>
          </a:xfrm>
        </p:spPr>
        <p:txBody>
          <a:bodyPr/>
          <a:lstStyle/>
          <a:p>
            <a:pPr>
              <a:buNone/>
            </a:pPr>
            <a:endParaRPr lang="en-US" altLang="ko-KR" sz="2000" dirty="0"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ko-KR" b="1" dirty="0">
                <a:sym typeface="Wingdings" panose="05000000000000000000" pitchFamily="2" charset="2"/>
              </a:rPr>
              <a:t>3</a:t>
            </a:r>
            <a:r>
              <a:rPr lang="en-US" altLang="ko-KR" b="1" dirty="0" smtClean="0">
                <a:sym typeface="Wingdings" panose="05000000000000000000" pitchFamily="2" charset="2"/>
              </a:rPr>
              <a:t>) </a:t>
            </a:r>
            <a:r>
              <a:rPr lang="ko-KR" altLang="en-US" b="1" dirty="0">
                <a:sym typeface="Wingdings" panose="05000000000000000000" pitchFamily="2" charset="2"/>
              </a:rPr>
              <a:t>개방성</a:t>
            </a:r>
            <a:endParaRPr lang="en-US" altLang="ko-KR" b="1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altLang="ko-KR" sz="2000" dirty="0" smtClean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ko-KR" altLang="en-US" dirty="0" smtClean="0">
                <a:sym typeface="Wingdings" panose="05000000000000000000" pitchFamily="2" charset="2"/>
              </a:rPr>
              <a:t>국경과 </a:t>
            </a:r>
            <a:r>
              <a:rPr lang="ko-KR" altLang="en-US" dirty="0">
                <a:sym typeface="Wingdings" panose="05000000000000000000" pitchFamily="2" charset="2"/>
              </a:rPr>
              <a:t>같은 지역적 경계나 장벽이 거의 없는 공간</a:t>
            </a:r>
            <a:endParaRPr lang="en-US" altLang="ko-KR" dirty="0"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ko-KR" dirty="0">
                <a:sym typeface="Wingdings" panose="05000000000000000000" pitchFamily="2" charset="2"/>
              </a:rPr>
              <a:t>       </a:t>
            </a:r>
            <a:r>
              <a:rPr lang="ko-KR" altLang="en-US" dirty="0">
                <a:sym typeface="Wingdings" panose="05000000000000000000" pitchFamily="2" charset="2"/>
              </a:rPr>
              <a:t>전 세계적인 인적 교류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정보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문화 </a:t>
            </a:r>
            <a:r>
              <a:rPr lang="ko-KR" altLang="en-US" dirty="0" smtClean="0">
                <a:sym typeface="Wingdings" panose="05000000000000000000" pitchFamily="2" charset="2"/>
              </a:rPr>
              <a:t>교류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>
              <a:buNone/>
            </a:pPr>
            <a:endParaRPr lang="en-US" altLang="ko-KR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ko-KR" altLang="en-US" dirty="0" smtClean="0">
                <a:sym typeface="Wingdings" panose="05000000000000000000" pitchFamily="2" charset="2"/>
              </a:rPr>
              <a:t>콘텐츠 </a:t>
            </a:r>
            <a:r>
              <a:rPr lang="ko-KR" altLang="en-US" dirty="0">
                <a:sym typeface="Wingdings" panose="05000000000000000000" pitchFamily="2" charset="2"/>
              </a:rPr>
              <a:t>접근과 사용에 대한 제한 없음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또는 그러한 것을 이상적으로 여기는 </a:t>
            </a:r>
            <a:r>
              <a:rPr lang="ko-KR" altLang="en-US" dirty="0" smtClean="0">
                <a:sym typeface="Wingdings" panose="05000000000000000000" pitchFamily="2" charset="2"/>
              </a:rPr>
              <a:t>문화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ko-KR" dirty="0" smtClean="0">
                <a:latin typeface="맑은 고딕" charset="0"/>
                <a:ea typeface="맑은 고딕" charset="0"/>
              </a:rPr>
              <a:t>      </a:t>
            </a:r>
            <a:r>
              <a:rPr lang="en-US" altLang="ko-KR" dirty="0">
                <a:latin typeface="맑은 고딕" charset="0"/>
                <a:ea typeface="맑은 고딕" charset="0"/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지식의 공유와 확산 촉진</a:t>
            </a:r>
            <a:endParaRPr lang="en-US" altLang="ko-KR" dirty="0">
              <a:sym typeface="Wingdings" panose="05000000000000000000" pitchFamily="2" charset="2"/>
            </a:endParaRPr>
          </a:p>
          <a:p>
            <a:pPr>
              <a:buNone/>
            </a:pPr>
            <a:endParaRPr lang="en-US" altLang="ko-KR" sz="2000" b="1" dirty="0">
              <a:sym typeface="Wingdings" panose="05000000000000000000" pitchFamily="2" charset="2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 dirty="0"/>
          </a:p>
        </p:txBody>
      </p:sp>
      <p:sp>
        <p:nvSpPr>
          <p:cNvPr id="1331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3319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315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내용 개체 틀 2"/>
          <p:cNvSpPr>
            <a:spLocks noGrp="1"/>
          </p:cNvSpPr>
          <p:nvPr>
            <p:ph idx="1"/>
          </p:nvPr>
        </p:nvSpPr>
        <p:spPr>
          <a:xfrm>
            <a:off x="971600" y="764704"/>
            <a:ext cx="7344816" cy="4783956"/>
          </a:xfrm>
        </p:spPr>
        <p:txBody>
          <a:bodyPr/>
          <a:lstStyle/>
          <a:p>
            <a:pPr>
              <a:buNone/>
            </a:pPr>
            <a:r>
              <a:rPr lang="en-US" altLang="ko-KR" b="1" dirty="0">
                <a:sym typeface="Wingdings" panose="05000000000000000000" pitchFamily="2" charset="2"/>
              </a:rPr>
              <a:t>4</a:t>
            </a:r>
            <a:r>
              <a:rPr lang="en-US" altLang="ko-KR" b="1" dirty="0" smtClean="0">
                <a:sym typeface="Wingdings" panose="05000000000000000000" pitchFamily="2" charset="2"/>
              </a:rPr>
              <a:t>) </a:t>
            </a:r>
            <a:r>
              <a:rPr lang="ko-KR" altLang="en-US" b="1" dirty="0">
                <a:sym typeface="Wingdings" panose="05000000000000000000" pitchFamily="2" charset="2"/>
              </a:rPr>
              <a:t>참여</a:t>
            </a:r>
            <a:endParaRPr lang="en-US" altLang="ko-KR" b="1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altLang="ko-KR" sz="2000" dirty="0">
              <a:latin typeface="맑은 고딕" charset="0"/>
              <a:ea typeface="맑은 고딕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ko-KR" altLang="en-US" dirty="0">
                <a:sym typeface="Wingdings" panose="05000000000000000000" pitchFamily="2" charset="2"/>
              </a:rPr>
              <a:t>정보와 콘텐츠의 손쉬운 공유를 가능케 하는 애플리케이션을 기반으로</a:t>
            </a:r>
            <a:r>
              <a:rPr lang="en-US" altLang="ko-KR" dirty="0">
                <a:sym typeface="Wingdings" panose="05000000000000000000" pitchFamily="2" charset="2"/>
              </a:rPr>
              <a:t>,  </a:t>
            </a:r>
            <a:r>
              <a:rPr lang="ko-KR" altLang="en-US" dirty="0">
                <a:sym typeface="Wingdings" panose="05000000000000000000" pitchFamily="2" charset="2"/>
              </a:rPr>
              <a:t>보다 많은 이용자들이 콘텐츠 생산에 </a:t>
            </a:r>
            <a:r>
              <a:rPr lang="ko-KR" altLang="en-US" dirty="0" smtClean="0">
                <a:sym typeface="Wingdings" panose="05000000000000000000" pitchFamily="2" charset="2"/>
              </a:rPr>
              <a:t>참여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    </a:t>
            </a:r>
            <a:r>
              <a:rPr lang="ko-KR" altLang="en-US" dirty="0">
                <a:sym typeface="Wingdings" panose="05000000000000000000" pitchFamily="2" charset="2"/>
              </a:rPr>
              <a:t>저널리즘 및 문화의 성격 변화</a:t>
            </a:r>
            <a:endParaRPr lang="en-US" altLang="ko-KR" dirty="0">
              <a:sym typeface="Wingdings" panose="05000000000000000000" pitchFamily="2" charset="2"/>
            </a:endParaRPr>
          </a:p>
          <a:p>
            <a:pPr>
              <a:buNone/>
            </a:pPr>
            <a:endParaRPr lang="en-US" altLang="ko-KR" sz="2000" dirty="0">
              <a:sym typeface="Wingdings" panose="05000000000000000000" pitchFamily="2" charset="2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 dirty="0"/>
          </a:p>
        </p:txBody>
      </p:sp>
      <p:sp>
        <p:nvSpPr>
          <p:cNvPr id="1331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3319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941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 dirty="0"/>
          </a:p>
        </p:txBody>
      </p:sp>
      <p:sp>
        <p:nvSpPr>
          <p:cNvPr id="1331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3319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539552" y="980728"/>
            <a:ext cx="6900873" cy="2756563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 smtClean="0"/>
              <a:t>5</a:t>
            </a:r>
            <a:r>
              <a:rPr lang="en-US" altLang="ko-KR" b="1" dirty="0"/>
              <a:t>) </a:t>
            </a:r>
            <a:r>
              <a:rPr lang="ko-KR" altLang="en-US" b="1" dirty="0"/>
              <a:t>멀티미디어 정보</a:t>
            </a:r>
            <a:r>
              <a:rPr lang="en-US" altLang="ko-KR" b="1" dirty="0"/>
              <a:t>  </a:t>
            </a:r>
          </a:p>
          <a:p>
            <a:pPr marL="0" indent="0">
              <a:buNone/>
            </a:pPr>
            <a:r>
              <a:rPr lang="en-US" altLang="ko-KR" dirty="0"/>
              <a:t>   - </a:t>
            </a:r>
            <a:r>
              <a:rPr lang="ko-KR" altLang="en-US" dirty="0" err="1"/>
              <a:t>텍스트뿐</a:t>
            </a:r>
            <a:r>
              <a:rPr lang="ko-KR" altLang="en-US" dirty="0"/>
              <a:t> 아니라</a:t>
            </a:r>
            <a:r>
              <a:rPr lang="en-US" altLang="ko-KR" dirty="0"/>
              <a:t>, </a:t>
            </a:r>
            <a:r>
              <a:rPr lang="ko-KR" altLang="en-US" dirty="0"/>
              <a:t>소리</a:t>
            </a:r>
            <a:r>
              <a:rPr lang="en-US" altLang="ko-KR" dirty="0"/>
              <a:t>, </a:t>
            </a:r>
            <a:r>
              <a:rPr lang="ko-KR" altLang="en-US" dirty="0"/>
              <a:t>이미지</a:t>
            </a:r>
            <a:r>
              <a:rPr lang="en-US" altLang="ko-KR" dirty="0"/>
              <a:t>, </a:t>
            </a:r>
            <a:r>
              <a:rPr lang="ko-KR" altLang="en-US" dirty="0"/>
              <a:t>동영상 형태의 정보 전달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사물에 대한 다양하고 다차원적인 묘사가 </a:t>
            </a:r>
            <a:r>
              <a:rPr lang="ko-KR" altLang="en-US" dirty="0" smtClean="0">
                <a:sym typeface="Wingdings" panose="05000000000000000000" pitchFamily="2" charset="2"/>
              </a:rPr>
              <a:t>가능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 smtClean="0">
                <a:sym typeface="Wingdings" panose="05000000000000000000" pitchFamily="2" charset="2"/>
              </a:rPr>
              <a:t>      + </a:t>
            </a:r>
            <a:r>
              <a:rPr lang="ko-KR" altLang="en-US" dirty="0" smtClean="0">
                <a:sym typeface="Wingdings" panose="05000000000000000000" pitchFamily="2" charset="2"/>
              </a:rPr>
              <a:t>누구나 쉽게 시청각 자료 생산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 smtClean="0">
                <a:sym typeface="Wingdings" panose="05000000000000000000" pitchFamily="2" charset="2"/>
              </a:rPr>
              <a:t>      + </a:t>
            </a:r>
            <a:r>
              <a:rPr lang="ko-KR" altLang="en-US" dirty="0" smtClean="0">
                <a:sym typeface="Wingdings" panose="05000000000000000000" pitchFamily="2" charset="2"/>
              </a:rPr>
              <a:t>시청각적 정보를 통한 상호작용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11014CB-4DB5-4482-9A48-118251ED5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28" y="2852936"/>
            <a:ext cx="3174379" cy="327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279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14884</TotalTime>
  <Words>1305</Words>
  <Application>Microsoft Office PowerPoint</Application>
  <PresentationFormat>화면 슬라이드 쇼(4:3)</PresentationFormat>
  <Paragraphs>242</Paragraphs>
  <Slides>24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7" baseType="lpstr">
      <vt:lpstr>가는안상수체</vt:lpstr>
      <vt:lpstr>굴림</vt:lpstr>
      <vt:lpstr>나눔고딕</vt:lpstr>
      <vt:lpstr>나눔고딕 ExtraBold</vt:lpstr>
      <vt:lpstr>나눔스퀘어</vt:lpstr>
      <vt:lpstr>맑은 고딕</vt:lpstr>
      <vt:lpstr>안상수2006가는</vt:lpstr>
      <vt:lpstr>휴먼모음T</vt:lpstr>
      <vt:lpstr>Arial</vt:lpstr>
      <vt:lpstr>Arial Rounded MT Bold</vt:lpstr>
      <vt:lpstr>Segoe UI Symbol</vt:lpstr>
      <vt:lpstr>Wingdings</vt:lpstr>
      <vt:lpstr>Office 테마</vt:lpstr>
      <vt:lpstr>   디지털 미디어와 인터넷   </vt:lpstr>
      <vt:lpstr>1. 디지털 미디어 혁명</vt:lpstr>
      <vt:lpstr>PowerPoint 프레젠테이션</vt:lpstr>
      <vt:lpstr>PowerPoint 프레젠테이션</vt:lpstr>
      <vt:lpstr>2. 인터넷(Internet) 발전의 역사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3. 인터넷 미디어의 특징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미디어 효과이론</dc:title>
  <dc:creator>이범준</dc:creator>
  <cp:lastModifiedBy>Windows 사용자</cp:lastModifiedBy>
  <cp:revision>970</cp:revision>
  <dcterms:created xsi:type="dcterms:W3CDTF">2009-03-15T10:41:15Z</dcterms:created>
  <dcterms:modified xsi:type="dcterms:W3CDTF">2025-10-13T15:12:56Z</dcterms:modified>
</cp:coreProperties>
</file>