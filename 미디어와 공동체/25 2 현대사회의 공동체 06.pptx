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6" r:id="rId2"/>
    <p:sldId id="553" r:id="rId3"/>
    <p:sldId id="554" r:id="rId4"/>
    <p:sldId id="555" r:id="rId5"/>
    <p:sldId id="576" r:id="rId6"/>
    <p:sldId id="572" r:id="rId7"/>
    <p:sldId id="556" r:id="rId8"/>
    <p:sldId id="573" r:id="rId9"/>
    <p:sldId id="574" r:id="rId10"/>
    <p:sldId id="575" r:id="rId11"/>
  </p:sldIdLst>
  <p:sldSz cx="9144000" cy="6858000" type="screen4x3"/>
  <p:notesSz cx="9144000" cy="6858000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27102A9-8310-4765-A935-A1911B00CA55}" styleName="밝은 스타일 1 - 강조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E171933-4619-4E11-9A3F-F7608DF75F80}" styleName="보통 스타일 1 - 강조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2838BEF-8BB2-4498-84A7-C5851F593DF1}" styleName="보통 스타일 4 - 강조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2DE63D5-997A-4646-A377-4702673A728D}" styleName="밝은 스타일 2 - 강조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42" autoAdjust="0"/>
    <p:restoredTop sz="81462" autoAdjust="0"/>
  </p:normalViewPr>
  <p:slideViewPr>
    <p:cSldViewPr>
      <p:cViewPr varScale="1">
        <p:scale>
          <a:sx n="83" d="100"/>
          <a:sy n="83" d="100"/>
        </p:scale>
        <p:origin x="1046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4" d="100"/>
          <a:sy n="74" d="100"/>
        </p:scale>
        <p:origin x="-942" y="-102"/>
      </p:cViewPr>
      <p:guideLst>
        <p:guide orient="horz" pos="2160"/>
        <p:guide pos="288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88D371-AB36-448C-A9B3-0FE2A5CD332F}" type="datetimeFigureOut">
              <a:rPr lang="ko-KR" altLang="en-US" smtClean="0"/>
              <a:pPr/>
              <a:t>2025-10-06</a:t>
            </a:fld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9BFB53-EAA6-4F99-808C-591C218867F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206881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368C417F-F973-452D-AA14-33E34B2B6958}" type="datetimeFigureOut">
              <a:rPr lang="ko-KR" altLang="en-US"/>
              <a:pPr>
                <a:defRPr/>
              </a:pPr>
              <a:t>2025-10-06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0B0025B-6956-463F-B696-8ED2A7BD3F86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19929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0B0025B-6956-463F-B696-8ED2A7BD3F86}" type="slidenum">
              <a:rPr lang="ko-KR" altLang="en-US" smtClean="0"/>
              <a:pPr>
                <a:defRPr/>
              </a:pPr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55530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&lt;</a:t>
            </a:r>
            <a:r>
              <a:rPr lang="ko-KR" altLang="en-US" dirty="0" smtClean="0"/>
              <a:t>응답하라 </a:t>
            </a:r>
            <a:r>
              <a:rPr lang="en-US" altLang="ko-KR" dirty="0" smtClean="0"/>
              <a:t>1988&gt; </a:t>
            </a:r>
            <a:r>
              <a:rPr lang="en-US" altLang="ko-KR" dirty="0" err="1" smtClean="0"/>
              <a:t>TvN</a:t>
            </a:r>
            <a:r>
              <a:rPr lang="en-US" altLang="ko-KR" dirty="0" smtClean="0"/>
              <a:t> 2015</a:t>
            </a:r>
            <a:r>
              <a:rPr lang="ko-KR" altLang="en-US" dirty="0" smtClean="0"/>
              <a:t>년 드라마 쌍문동</a:t>
            </a:r>
            <a:endParaRPr lang="en-US" altLang="ko-KR" dirty="0" smtClean="0"/>
          </a:p>
          <a:p>
            <a:r>
              <a:rPr lang="en-US" altLang="ko-KR" dirty="0" smtClean="0"/>
              <a:t>&lt;</a:t>
            </a:r>
            <a:r>
              <a:rPr lang="ko-KR" altLang="en-US" dirty="0" smtClean="0"/>
              <a:t>나의 아저씨</a:t>
            </a:r>
            <a:r>
              <a:rPr lang="en-US" altLang="ko-KR" dirty="0" smtClean="0"/>
              <a:t>&gt; </a:t>
            </a:r>
            <a:r>
              <a:rPr lang="ko-KR" altLang="en-US" dirty="0" err="1" smtClean="0"/>
              <a:t>후계동</a:t>
            </a:r>
            <a:endParaRPr lang="en-US" altLang="ko-KR" dirty="0" smtClean="0"/>
          </a:p>
          <a:p>
            <a:r>
              <a:rPr lang="en-US" altLang="ko-KR" dirty="0" smtClean="0"/>
              <a:t>&lt;</a:t>
            </a:r>
            <a:r>
              <a:rPr lang="ko-KR" altLang="en-US" dirty="0" smtClean="0"/>
              <a:t>동백꽃 </a:t>
            </a:r>
            <a:r>
              <a:rPr lang="ko-KR" altLang="en-US" dirty="0" err="1" smtClean="0"/>
              <a:t>필무렵</a:t>
            </a:r>
            <a:r>
              <a:rPr lang="en-US" altLang="ko-KR" dirty="0" smtClean="0"/>
              <a:t>&gt; </a:t>
            </a:r>
            <a:r>
              <a:rPr lang="ko-KR" altLang="en-US" dirty="0" err="1" smtClean="0"/>
              <a:t>옹산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0B0025B-6956-463F-B696-8ED2A7BD3F86}" type="slidenum">
              <a:rPr lang="ko-KR" altLang="en-US" smtClean="0"/>
              <a:pPr>
                <a:defRPr/>
              </a:pPr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3394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 smtClean="0"/>
              <a:t>정규호</a:t>
            </a:r>
            <a:r>
              <a:rPr lang="en-US" altLang="ko-KR" dirty="0" smtClean="0"/>
              <a:t>. (2016). </a:t>
            </a:r>
            <a:r>
              <a:rPr lang="ko-KR" altLang="en-US" dirty="0" err="1" smtClean="0"/>
              <a:t>도시공동체</a:t>
            </a:r>
            <a:r>
              <a:rPr lang="ko-KR" altLang="en-US" dirty="0" smtClean="0"/>
              <a:t> 운동의 흐름과 특성</a:t>
            </a:r>
            <a:r>
              <a:rPr lang="en-US" altLang="ko-KR" dirty="0" smtClean="0"/>
              <a:t>, </a:t>
            </a:r>
            <a:r>
              <a:rPr lang="ko-KR" altLang="en-US" dirty="0" smtClean="0"/>
              <a:t>새로운 모색</a:t>
            </a:r>
            <a:r>
              <a:rPr lang="en-US" altLang="ko-KR" dirty="0" smtClean="0"/>
              <a:t>. </a:t>
            </a:r>
            <a:r>
              <a:rPr lang="ko-KR" altLang="en-US" dirty="0" err="1" smtClean="0"/>
              <a:t>황익주</a:t>
            </a:r>
            <a:r>
              <a:rPr lang="ko-KR" altLang="en-US" dirty="0" smtClean="0"/>
              <a:t> 편 </a:t>
            </a:r>
            <a:r>
              <a:rPr lang="en-US" altLang="ko-KR" dirty="0" smtClean="0"/>
              <a:t>&lt;</a:t>
            </a:r>
            <a:r>
              <a:rPr lang="ko-KR" altLang="en-US" dirty="0" smtClean="0"/>
              <a:t>한국의 도시 지역 공동체는 어떻게 형성되는가</a:t>
            </a:r>
            <a:r>
              <a:rPr lang="en-US" altLang="ko-KR" dirty="0" smtClean="0"/>
              <a:t>?&gt;, pp.61-129. </a:t>
            </a:r>
            <a:r>
              <a:rPr lang="ko-KR" altLang="en-US" dirty="0" smtClean="0"/>
              <a:t>서울대학교 출판부</a:t>
            </a:r>
            <a:r>
              <a:rPr lang="en-US" altLang="ko-KR" dirty="0" smtClean="0"/>
              <a:t>. </a:t>
            </a:r>
          </a:p>
          <a:p>
            <a:endParaRPr lang="en-US" altLang="ko-KR" dirty="0" smtClean="0"/>
          </a:p>
          <a:p>
            <a:r>
              <a:rPr lang="ko-KR" altLang="en-US" dirty="0" err="1" smtClean="0"/>
              <a:t>키크니의</a:t>
            </a:r>
            <a:r>
              <a:rPr lang="ko-KR" altLang="en-US" dirty="0" smtClean="0"/>
              <a:t> 사연을 </a:t>
            </a:r>
            <a:r>
              <a:rPr lang="ko-KR" altLang="en-US" dirty="0" err="1" smtClean="0"/>
              <a:t>그려드립니닷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0B0025B-6956-463F-B696-8ED2A7BD3F86}" type="slidenum">
              <a:rPr lang="ko-KR" altLang="en-US" smtClean="0"/>
              <a:pPr>
                <a:defRPr/>
              </a:pPr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46993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ko-KR" alt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게오르그</a:t>
            </a:r>
            <a:r>
              <a:rPr lang="ko-KR" alt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짐멜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(1903/2005). </a:t>
            </a:r>
            <a:r>
              <a:rPr lang="ko-KR" alt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대도시의 정신적 삶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김덕영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윤미애</a:t>
            </a:r>
            <a:r>
              <a:rPr lang="ko-KR" alt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역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&lt;</a:t>
            </a:r>
            <a:r>
              <a:rPr lang="ko-KR" alt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짐멜과</a:t>
            </a:r>
            <a:r>
              <a:rPr lang="ko-KR" alt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모더니티</a:t>
            </a:r>
            <a:r>
              <a:rPr lang="ko-KR" alt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읽기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&gt;, 35-54. </a:t>
            </a:r>
            <a:r>
              <a:rPr lang="ko-KR" alt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새물결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endParaRPr lang="ko-KR" alt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0B0025B-6956-463F-B696-8ED2A7BD3F86}" type="slidenum">
              <a:rPr lang="ko-KR" altLang="en-US" smtClean="0"/>
              <a:pPr>
                <a:defRPr/>
              </a:pPr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63724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endParaRPr lang="ko-KR" alt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0B0025B-6956-463F-B696-8ED2A7BD3F86}" type="slidenum">
              <a:rPr lang="ko-KR" altLang="en-US" smtClean="0"/>
              <a:pPr>
                <a:defRPr/>
              </a:pPr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31559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endParaRPr lang="ko-KR" alt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0B0025B-6956-463F-B696-8ED2A7BD3F86}" type="slidenum">
              <a:rPr lang="ko-KR" altLang="en-US" smtClean="0"/>
              <a:pPr>
                <a:defRPr/>
              </a:pPr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86951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 userDrawn="1"/>
        </p:nvCxnSpPr>
        <p:spPr>
          <a:xfrm>
            <a:off x="0" y="6286500"/>
            <a:ext cx="9144000" cy="1588"/>
          </a:xfrm>
          <a:prstGeom prst="line">
            <a:avLst/>
          </a:prstGeom>
          <a:ln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>
                <a:latin typeface="가는안상수체" pitchFamily="2" charset="-127"/>
                <a:ea typeface="가는안상수체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가는안상수체" pitchFamily="2" charset="-127"/>
                <a:ea typeface="가는안상수체" pitchFamily="2" charset="-127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smtClean="0"/>
              <a:t>미디어와 공동체</a:t>
            </a:r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/>
          <p:cNvCxnSpPr/>
          <p:nvPr userDrawn="1"/>
        </p:nvCxnSpPr>
        <p:spPr>
          <a:xfrm>
            <a:off x="0" y="6286500"/>
            <a:ext cx="9144000" cy="1588"/>
          </a:xfrm>
          <a:prstGeom prst="line">
            <a:avLst/>
          </a:prstGeom>
          <a:ln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28596" y="642918"/>
            <a:ext cx="8229600" cy="857248"/>
          </a:xfrm>
        </p:spPr>
        <p:txBody>
          <a:bodyPr/>
          <a:lstStyle>
            <a:lvl1pPr>
              <a:defRPr sz="3200">
                <a:latin typeface="+mj-ea"/>
                <a:ea typeface="+mj-ea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200">
                <a:latin typeface="+mn-ea"/>
                <a:ea typeface="+mn-ea"/>
              </a:defRPr>
            </a:lvl1pPr>
            <a:lvl2pPr>
              <a:defRPr sz="20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sz="quarter" idx="11"/>
          </p:nvPr>
        </p:nvSpPr>
        <p:spPr>
          <a:xfrm>
            <a:off x="0" y="0"/>
            <a:ext cx="9144000" cy="428625"/>
          </a:xfrm>
          <a:noFill/>
          <a:ln>
            <a:noFill/>
          </a:ln>
        </p:spPr>
        <p:txBody>
          <a:bodyPr/>
          <a:lstStyle>
            <a:lvl1pPr>
              <a:defRPr sz="1400">
                <a:latin typeface="+mn-ea"/>
                <a:ea typeface="+mn-ea"/>
              </a:defRPr>
            </a:lvl1pPr>
            <a:lvl2pPr algn="l">
              <a:buNone/>
              <a:defRPr sz="160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2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2"/>
          </p:nvPr>
        </p:nvSpPr>
        <p:spPr>
          <a:xfrm>
            <a:off x="0" y="6286500"/>
            <a:ext cx="9144000" cy="5715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smtClean="0"/>
              <a:t>미디어와 공동체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바닥글 개체 틀 4"/>
          <p:cNvSpPr txBox="1">
            <a:spLocks/>
          </p:cNvSpPr>
          <p:nvPr userDrawn="1"/>
        </p:nvSpPr>
        <p:spPr>
          <a:xfrm>
            <a:off x="0" y="6286500"/>
            <a:ext cx="9144000" cy="571500"/>
          </a:xfrm>
          <a:prstGeom prst="rect">
            <a:avLst/>
          </a:prstGeom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200" dirty="0" err="1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rPr>
              <a:t>Dongduk</a:t>
            </a:r>
            <a:r>
              <a:rPr kumimoji="0" lang="en-US" altLang="ko-KR" sz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rPr>
              <a:t> Women's University 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rPr>
              <a:t>Graduate School of Fashion</a:t>
            </a:r>
            <a:endParaRPr kumimoji="0" lang="ko-KR" altLang="en-US" sz="1200" dirty="0">
              <a:solidFill>
                <a:schemeClr val="tx1">
                  <a:tint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>
                <a:latin typeface="+mj-ea"/>
                <a:ea typeface="+mj-ea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>
                <a:latin typeface="안상수2006가는" pitchFamily="18" charset="-127"/>
                <a:ea typeface="안상수2006가는" pitchFamily="18" charset="-127"/>
              </a:defRPr>
            </a:lvl1pPr>
            <a:lvl2pPr>
              <a:defRPr sz="2400">
                <a:latin typeface="안상수2006가는" pitchFamily="18" charset="-127"/>
                <a:ea typeface="안상수2006가는" pitchFamily="18" charset="-127"/>
              </a:defRPr>
            </a:lvl2pPr>
            <a:lvl3pPr>
              <a:defRPr sz="2000">
                <a:latin typeface="안상수2006가는" pitchFamily="18" charset="-127"/>
                <a:ea typeface="안상수2006가는" pitchFamily="18" charset="-127"/>
              </a:defRPr>
            </a:lvl3pPr>
            <a:lvl4pPr>
              <a:defRPr sz="1800">
                <a:latin typeface="안상수2006가는" pitchFamily="18" charset="-127"/>
                <a:ea typeface="안상수2006가는" pitchFamily="18" charset="-127"/>
              </a:defRPr>
            </a:lvl4pPr>
            <a:lvl5pPr>
              <a:defRPr sz="1800">
                <a:latin typeface="안상수2006가는" pitchFamily="18" charset="-127"/>
                <a:ea typeface="안상수2006가는" pitchFamily="18" charset="-127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>
                <a:latin typeface="가는안상수체" pitchFamily="2" charset="-127"/>
                <a:ea typeface="가는안상수체" pitchFamily="2" charset="-127"/>
              </a:defRPr>
            </a:lvl1pPr>
            <a:lvl2pPr>
              <a:defRPr sz="2400">
                <a:latin typeface="가는안상수체" pitchFamily="2" charset="-127"/>
                <a:ea typeface="가는안상수체" pitchFamily="2" charset="-127"/>
              </a:defRPr>
            </a:lvl2pPr>
            <a:lvl3pPr>
              <a:defRPr sz="2000">
                <a:latin typeface="가는안상수체" pitchFamily="2" charset="-127"/>
                <a:ea typeface="가는안상수체" pitchFamily="2" charset="-127"/>
              </a:defRPr>
            </a:lvl3pPr>
            <a:lvl4pPr>
              <a:defRPr sz="1800">
                <a:latin typeface="가는안상수체" pitchFamily="2" charset="-127"/>
                <a:ea typeface="가는안상수체" pitchFamily="2" charset="-127"/>
              </a:defRPr>
            </a:lvl4pPr>
            <a:lvl5pPr>
              <a:defRPr sz="1800">
                <a:latin typeface="가는안상수체" pitchFamily="2" charset="-127"/>
                <a:ea typeface="가는안상수체" pitchFamily="2" charset="-127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smtClean="0"/>
              <a:t>미디어와 공동체</a:t>
            </a:r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5704504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457200" y="500063"/>
            <a:ext cx="8229600" cy="917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0" y="6215063"/>
            <a:ext cx="9144000" cy="6429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ko-KR" altLang="en-US" smtClean="0"/>
              <a:t>미디어와 공동체</a:t>
            </a:r>
            <a:endParaRPr lang="ko-KR" altLang="en-US"/>
          </a:p>
        </p:txBody>
      </p:sp>
      <p:cxnSp>
        <p:nvCxnSpPr>
          <p:cNvPr id="9" name="직선 연결선 8"/>
          <p:cNvCxnSpPr/>
          <p:nvPr/>
        </p:nvCxnSpPr>
        <p:spPr>
          <a:xfrm>
            <a:off x="0" y="6286500"/>
            <a:ext cx="9144000" cy="1588"/>
          </a:xfrm>
          <a:prstGeom prst="line">
            <a:avLst/>
          </a:prstGeom>
          <a:ln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0" r:id="rId1"/>
    <p:sldLayoutId id="2147483811" r:id="rId2"/>
    <p:sldLayoutId id="2147483813" r:id="rId3"/>
    <p:sldLayoutId id="2147483814" r:id="rId4"/>
    <p:sldLayoutId id="2147483816" r:id="rId5"/>
  </p:sldLayoutIdLst>
  <p:hf sldNum="0" hd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3200" kern="1200">
          <a:solidFill>
            <a:schemeClr val="tx1"/>
          </a:solidFill>
          <a:latin typeface="+mj-ea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안상수2006가는" pitchFamily="18" charset="-127"/>
          <a:ea typeface="안상수2006가는" pitchFamily="18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안상수2006가는" pitchFamily="18" charset="-127"/>
          <a:ea typeface="안상수2006가는" pitchFamily="18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안상수2006가는" pitchFamily="18" charset="-127"/>
          <a:ea typeface="안상수2006가는" pitchFamily="18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안상수2006가는" pitchFamily="18" charset="-127"/>
          <a:ea typeface="안상수2006가는" pitchFamily="18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가는안상수체" pitchFamily="2" charset="-127"/>
          <a:ea typeface="가는안상수체" pitchFamily="2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가는안상수체" pitchFamily="2" charset="-127"/>
          <a:ea typeface="가는안상수체" pitchFamily="2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가는안상수체" pitchFamily="2" charset="-127"/>
          <a:ea typeface="가는안상수체" pitchFamily="2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가는안상수체" pitchFamily="2" charset="-127"/>
          <a:ea typeface="가는안상수체" pitchFamily="2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ea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1800" kern="1200">
          <a:solidFill>
            <a:schemeClr val="tx1"/>
          </a:solidFill>
          <a:latin typeface="+mn-ea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1800" kern="1200">
          <a:solidFill>
            <a:schemeClr val="tx1"/>
          </a:solidFill>
          <a:latin typeface="+mn-ea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1800" kern="1200">
          <a:solidFill>
            <a:schemeClr val="tx1"/>
          </a:solidFill>
          <a:latin typeface="+mn-ea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1800" kern="1200">
          <a:solidFill>
            <a:schemeClr val="tx1"/>
          </a:solidFill>
          <a:latin typeface="+mn-ea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제목 1"/>
          <p:cNvSpPr>
            <a:spLocks noGrp="1"/>
          </p:cNvSpPr>
          <p:nvPr>
            <p:ph type="ctrTitle"/>
          </p:nvPr>
        </p:nvSpPr>
        <p:spPr>
          <a:xfrm>
            <a:off x="571472" y="1857364"/>
            <a:ext cx="8001000" cy="1571625"/>
          </a:xfrm>
        </p:spPr>
        <p:txBody>
          <a:bodyPr/>
          <a:lstStyle/>
          <a:p>
            <a:pPr>
              <a:defRPr/>
            </a:pPr>
            <a:r>
              <a:rPr lang="en-US" altLang="ko-KR" sz="3200" dirty="0">
                <a:latin typeface="안상수2006가는" pitchFamily="18" charset="-127"/>
                <a:ea typeface="안상수2006가는" pitchFamily="18" charset="-127"/>
              </a:rPr>
              <a:t/>
            </a:r>
            <a:br>
              <a:rPr lang="en-US" altLang="ko-KR" sz="3200" dirty="0">
                <a:latin typeface="안상수2006가는" pitchFamily="18" charset="-127"/>
                <a:ea typeface="안상수2006가는" pitchFamily="18" charset="-127"/>
              </a:rPr>
            </a:br>
            <a:r>
              <a:rPr lang="en-US" altLang="ko-KR" sz="3200">
                <a:latin typeface="안상수2006가는" pitchFamily="18" charset="-127"/>
                <a:ea typeface="안상수2006가는" pitchFamily="18" charset="-127"/>
              </a:rPr>
              <a:t/>
            </a:r>
            <a:br>
              <a:rPr lang="en-US" altLang="ko-KR" sz="3200">
                <a:latin typeface="안상수2006가는" pitchFamily="18" charset="-127"/>
                <a:ea typeface="안상수2006가는" pitchFamily="18" charset="-127"/>
              </a:rPr>
            </a:br>
            <a:r>
              <a:rPr lang="ko-KR" altLang="en-US" b="1" smtClean="0">
                <a:ln w="31550" cmpd="sng">
                  <a:gradFill>
                    <a:gsLst>
                      <a:gs pos="70000">
                        <a:schemeClr val="accent6">
                          <a:shade val="50000"/>
                          <a:satMod val="190000"/>
                        </a:schemeClr>
                      </a:gs>
                      <a:gs pos="0">
                        <a:schemeClr val="accent6">
                          <a:tint val="77000"/>
                          <a:satMod val="180000"/>
                        </a:schemeClr>
                      </a:gs>
                    </a:gsLst>
                    <a:lin ang="5400000"/>
                  </a:gradFill>
                  <a:prstDash val="solid"/>
                </a:ln>
                <a:solidFill>
                  <a:schemeClr val="accent6">
                    <a:tint val="15000"/>
                    <a:satMod val="200000"/>
                  </a:schemeClr>
                </a:solidFill>
                <a:effectLst>
                  <a:outerShdw blurRad="50800" dist="40000" dir="5400000" algn="tl" rotWithShape="0">
                    <a:srgbClr val="000000">
                      <a:shade val="5000"/>
                      <a:satMod val="120000"/>
                      <a:alpha val="33000"/>
                    </a:srgbClr>
                  </a:outerShdw>
                </a:effectLst>
                <a:latin typeface="+mj-ea"/>
                <a:ea typeface="+mj-ea"/>
              </a:rPr>
              <a:t>현대사회의 </a:t>
            </a:r>
            <a:r>
              <a:rPr lang="ko-KR" altLang="en-US" b="1" dirty="0" smtClean="0">
                <a:ln w="31550" cmpd="sng">
                  <a:gradFill>
                    <a:gsLst>
                      <a:gs pos="70000">
                        <a:schemeClr val="accent6">
                          <a:shade val="50000"/>
                          <a:satMod val="190000"/>
                        </a:schemeClr>
                      </a:gs>
                      <a:gs pos="0">
                        <a:schemeClr val="accent6">
                          <a:tint val="77000"/>
                          <a:satMod val="180000"/>
                        </a:schemeClr>
                      </a:gs>
                    </a:gsLst>
                    <a:lin ang="5400000"/>
                  </a:gradFill>
                  <a:prstDash val="solid"/>
                </a:ln>
                <a:solidFill>
                  <a:schemeClr val="accent6">
                    <a:tint val="15000"/>
                    <a:satMod val="200000"/>
                  </a:schemeClr>
                </a:solidFill>
                <a:effectLst>
                  <a:outerShdw blurRad="50800" dist="40000" dir="5400000" algn="tl" rotWithShape="0">
                    <a:srgbClr val="000000">
                      <a:shade val="5000"/>
                      <a:satMod val="120000"/>
                      <a:alpha val="33000"/>
                    </a:srgbClr>
                  </a:outerShdw>
                </a:effectLst>
                <a:latin typeface="+mj-ea"/>
                <a:ea typeface="+mj-ea"/>
              </a:rPr>
              <a:t>공동체</a:t>
            </a:r>
            <a:r>
              <a:rPr lang="en-US" altLang="ko-KR" b="1" dirty="0">
                <a:ln w="31550" cmpd="sng">
                  <a:gradFill>
                    <a:gsLst>
                      <a:gs pos="70000">
                        <a:schemeClr val="accent6">
                          <a:shade val="50000"/>
                          <a:satMod val="190000"/>
                        </a:schemeClr>
                      </a:gs>
                      <a:gs pos="0">
                        <a:schemeClr val="accent6">
                          <a:tint val="77000"/>
                          <a:satMod val="180000"/>
                        </a:schemeClr>
                      </a:gs>
                    </a:gsLst>
                    <a:lin ang="5400000"/>
                  </a:gradFill>
                  <a:prstDash val="solid"/>
                </a:ln>
                <a:solidFill>
                  <a:schemeClr val="accent6">
                    <a:tint val="15000"/>
                    <a:satMod val="200000"/>
                  </a:schemeClr>
                </a:solidFill>
                <a:effectLst>
                  <a:outerShdw blurRad="50800" dist="40000" dir="5400000" algn="tl" rotWithShape="0">
                    <a:srgbClr val="000000">
                      <a:shade val="5000"/>
                      <a:satMod val="120000"/>
                      <a:alpha val="33000"/>
                    </a:srgbClr>
                  </a:outerShdw>
                </a:effectLst>
                <a:latin typeface="+mj-ea"/>
                <a:ea typeface="+mj-ea"/>
              </a:rPr>
              <a:t/>
            </a:r>
            <a:br>
              <a:rPr lang="en-US" altLang="ko-KR" b="1" dirty="0">
                <a:ln w="31550" cmpd="sng">
                  <a:gradFill>
                    <a:gsLst>
                      <a:gs pos="70000">
                        <a:schemeClr val="accent6">
                          <a:shade val="50000"/>
                          <a:satMod val="190000"/>
                        </a:schemeClr>
                      </a:gs>
                      <a:gs pos="0">
                        <a:schemeClr val="accent6">
                          <a:tint val="77000"/>
                          <a:satMod val="180000"/>
                        </a:schemeClr>
                      </a:gs>
                    </a:gsLst>
                    <a:lin ang="5400000"/>
                  </a:gradFill>
                  <a:prstDash val="solid"/>
                </a:ln>
                <a:solidFill>
                  <a:schemeClr val="accent6">
                    <a:tint val="15000"/>
                    <a:satMod val="200000"/>
                  </a:schemeClr>
                </a:solidFill>
                <a:effectLst>
                  <a:outerShdw blurRad="50800" dist="40000" dir="5400000" algn="tl" rotWithShape="0">
                    <a:srgbClr val="000000">
                      <a:shade val="5000"/>
                      <a:satMod val="120000"/>
                      <a:alpha val="33000"/>
                    </a:srgbClr>
                  </a:outerShdw>
                </a:effectLst>
                <a:latin typeface="+mj-ea"/>
                <a:ea typeface="+mj-ea"/>
              </a:rPr>
            </a:br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안상수2006가는" pitchFamily="18" charset="-127"/>
                <a:ea typeface="안상수2006가는" pitchFamily="18" charset="-127"/>
              </a:rPr>
              <a:t/>
            </a:r>
            <a:br>
              <a:rPr lang="en-US" dirty="0">
                <a:solidFill>
                  <a:schemeClr val="bg1">
                    <a:lumMod val="65000"/>
                  </a:schemeClr>
                </a:solidFill>
                <a:latin typeface="안상수2006가는" pitchFamily="18" charset="-127"/>
                <a:ea typeface="안상수2006가는" pitchFamily="18" charset="-127"/>
              </a:rPr>
            </a:br>
            <a:endParaRPr lang="ko-KR" altLang="en-US" dirty="0">
              <a:solidFill>
                <a:schemeClr val="bg1">
                  <a:lumMod val="65000"/>
                </a:schemeClr>
              </a:solidFill>
              <a:latin typeface="안상수2006가는" pitchFamily="18" charset="-127"/>
              <a:ea typeface="안상수2006가는" pitchFamily="18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smtClean="0"/>
              <a:t>미디어와 공동체</a:t>
            </a:r>
            <a:endParaRPr lang="ko-KR" altLang="en-US" dirty="0"/>
          </a:p>
        </p:txBody>
      </p:sp>
    </p:spTree>
  </p:cSld>
  <p:clrMapOvr>
    <a:masterClrMapping/>
  </p:clrMapOvr>
  <p:transition advTm="1250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 b="1" dirty="0" smtClean="0"/>
              <a:t> </a:t>
            </a:r>
            <a:r>
              <a:rPr lang="en-US" altLang="ko-KR" sz="2800" b="1" dirty="0" smtClean="0"/>
              <a:t>1. “</a:t>
            </a:r>
            <a:r>
              <a:rPr lang="ko-KR" altLang="en-US" sz="2800" b="1" dirty="0" smtClean="0"/>
              <a:t>살기 좋은 동네</a:t>
            </a:r>
            <a:r>
              <a:rPr lang="en-US" altLang="ko-KR" sz="2800" b="1" dirty="0" smtClean="0"/>
              <a:t>”</a:t>
            </a:r>
            <a:r>
              <a:rPr lang="ko-KR" altLang="en-US" sz="2800" b="1" dirty="0" smtClean="0"/>
              <a:t>의 두 모델</a:t>
            </a:r>
            <a:endParaRPr lang="ko-KR" altLang="en-US" sz="2800" b="1" dirty="0"/>
          </a:p>
        </p:txBody>
      </p:sp>
      <p:sp>
        <p:nvSpPr>
          <p:cNvPr id="5" name="Rectangle 5"/>
          <p:cNvSpPr txBox="1">
            <a:spLocks noChangeArrowheads="1"/>
          </p:cNvSpPr>
          <p:nvPr/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endParaRPr kumimoji="0" lang="en-US" altLang="ko-KR" sz="2200" dirty="0" smtClean="0"/>
          </a:p>
          <a:p>
            <a:pPr>
              <a:buFont typeface="Wingdings" panose="05000000000000000000" pitchFamily="2" charset="2"/>
              <a:buChar char="u"/>
            </a:pPr>
            <a:r>
              <a:rPr lang="en-US" altLang="ko-KR" sz="2200" dirty="0" smtClean="0"/>
              <a:t> </a:t>
            </a:r>
            <a:r>
              <a:rPr lang="en-US" altLang="ko-KR" sz="2200" b="1" dirty="0" smtClean="0"/>
              <a:t>“</a:t>
            </a:r>
            <a:r>
              <a:rPr lang="ko-KR" altLang="en-US" sz="2200" b="1" dirty="0" smtClean="0"/>
              <a:t>살기 좋은 동네</a:t>
            </a:r>
            <a:r>
              <a:rPr lang="en-US" altLang="ko-KR" sz="2200" b="1" dirty="0" smtClean="0"/>
              <a:t>“ </a:t>
            </a:r>
            <a:r>
              <a:rPr lang="ko-KR" altLang="en-US" sz="2200" b="1" dirty="0" smtClean="0"/>
              <a:t>모델</a:t>
            </a:r>
            <a:r>
              <a:rPr lang="en-US" altLang="ko-KR" sz="2200" b="1" dirty="0" smtClean="0"/>
              <a:t>1 – </a:t>
            </a:r>
            <a:r>
              <a:rPr lang="ko-KR" altLang="en-US" sz="2200" b="1" dirty="0" smtClean="0"/>
              <a:t>생활 편의성 모델</a:t>
            </a:r>
            <a:endParaRPr lang="en-US" altLang="ko-KR" sz="2200" b="1" dirty="0" smtClean="0"/>
          </a:p>
          <a:p>
            <a:pPr marL="0" indent="0">
              <a:buNone/>
            </a:pPr>
            <a:r>
              <a:rPr lang="en-US" altLang="ko-KR" sz="2200" dirty="0"/>
              <a:t> </a:t>
            </a:r>
            <a:r>
              <a:rPr lang="en-US" altLang="ko-KR" sz="2200" dirty="0" smtClean="0"/>
              <a:t>- </a:t>
            </a:r>
            <a:r>
              <a:rPr lang="ko-KR" altLang="en-US" sz="2200" dirty="0" smtClean="0"/>
              <a:t>중소도시 아파트 단지 </a:t>
            </a:r>
            <a:r>
              <a:rPr lang="en-US" altLang="ko-KR" sz="2200" dirty="0" smtClean="0"/>
              <a:t>(</a:t>
            </a:r>
            <a:r>
              <a:rPr lang="ko-KR" altLang="en-US" sz="2200" dirty="0" smtClean="0"/>
              <a:t>평형 </a:t>
            </a:r>
            <a:r>
              <a:rPr lang="en-US" altLang="ko-KR" sz="2200" dirty="0" smtClean="0"/>
              <a:t>33</a:t>
            </a:r>
            <a:r>
              <a:rPr lang="ko-KR" altLang="en-US" sz="2200" dirty="0" smtClean="0"/>
              <a:t>평</a:t>
            </a:r>
            <a:r>
              <a:rPr lang="en-US" altLang="ko-KR" sz="2200" dirty="0" smtClean="0"/>
              <a:t>, 59</a:t>
            </a:r>
            <a:r>
              <a:rPr lang="ko-KR" altLang="en-US" sz="2200" dirty="0" smtClean="0"/>
              <a:t>평</a:t>
            </a:r>
            <a:r>
              <a:rPr lang="en-US" altLang="ko-KR" sz="2200" dirty="0" smtClean="0"/>
              <a:t>)</a:t>
            </a:r>
          </a:p>
          <a:p>
            <a:pPr marL="0" indent="0">
              <a:buNone/>
            </a:pPr>
            <a:r>
              <a:rPr lang="en-US" altLang="ko-KR" sz="2200" dirty="0"/>
              <a:t> </a:t>
            </a:r>
            <a:r>
              <a:rPr lang="en-US" altLang="ko-KR" sz="2200" dirty="0" smtClean="0"/>
              <a:t>- </a:t>
            </a:r>
            <a:r>
              <a:rPr lang="ko-KR" altLang="en-US" sz="2200" dirty="0" smtClean="0"/>
              <a:t>단지 주변 대형마트 </a:t>
            </a:r>
            <a:r>
              <a:rPr lang="en-US" altLang="ko-KR" sz="2200" dirty="0" smtClean="0"/>
              <a:t>2</a:t>
            </a:r>
            <a:r>
              <a:rPr lang="ko-KR" altLang="en-US" sz="2200" dirty="0" smtClean="0"/>
              <a:t>개 위치 </a:t>
            </a:r>
            <a:r>
              <a:rPr lang="en-US" altLang="ko-KR" sz="2200" dirty="0" smtClean="0"/>
              <a:t>(</a:t>
            </a:r>
            <a:r>
              <a:rPr lang="ko-KR" altLang="en-US" sz="2200" dirty="0" smtClean="0"/>
              <a:t>도보 </a:t>
            </a:r>
            <a:r>
              <a:rPr lang="en-US" altLang="ko-KR" sz="2200" dirty="0" smtClean="0"/>
              <a:t>5-10</a:t>
            </a:r>
            <a:r>
              <a:rPr lang="ko-KR" altLang="en-US" sz="2200" dirty="0" smtClean="0"/>
              <a:t>분</a:t>
            </a:r>
            <a:r>
              <a:rPr lang="en-US" altLang="ko-KR" sz="2200" dirty="0" smtClean="0"/>
              <a:t>)</a:t>
            </a:r>
          </a:p>
          <a:p>
            <a:pPr marL="0" indent="0">
              <a:buNone/>
            </a:pPr>
            <a:r>
              <a:rPr lang="en-US" altLang="ko-KR" sz="2200" dirty="0"/>
              <a:t> </a:t>
            </a:r>
            <a:r>
              <a:rPr lang="en-US" altLang="ko-KR" sz="2200" dirty="0" smtClean="0"/>
              <a:t>- 12</a:t>
            </a:r>
            <a:r>
              <a:rPr lang="ko-KR" altLang="en-US" sz="2200" dirty="0" smtClean="0"/>
              <a:t>개 상영관 갖춘 </a:t>
            </a:r>
            <a:r>
              <a:rPr lang="ko-KR" altLang="en-US" sz="2200" dirty="0" err="1" smtClean="0"/>
              <a:t>멀티플렉스</a:t>
            </a:r>
            <a:r>
              <a:rPr lang="ko-KR" altLang="en-US" sz="2200" dirty="0" smtClean="0"/>
              <a:t> 영화관</a:t>
            </a:r>
            <a:endParaRPr lang="en-US" altLang="ko-KR" sz="2200" dirty="0" smtClean="0"/>
          </a:p>
          <a:p>
            <a:pPr marL="0" indent="0">
              <a:buNone/>
            </a:pPr>
            <a:r>
              <a:rPr lang="en-US" altLang="ko-KR" sz="2200" dirty="0"/>
              <a:t> </a:t>
            </a:r>
            <a:r>
              <a:rPr lang="en-US" altLang="ko-KR" sz="2200" dirty="0" smtClean="0"/>
              <a:t>- </a:t>
            </a:r>
            <a:r>
              <a:rPr lang="ko-KR" altLang="en-US" sz="2200" dirty="0" smtClean="0"/>
              <a:t>도시 기준 우수한 사설 학원 포진</a:t>
            </a:r>
            <a:endParaRPr lang="en-US" altLang="ko-KR" sz="2200" dirty="0" smtClean="0"/>
          </a:p>
          <a:p>
            <a:pPr marL="0" indent="0">
              <a:buNone/>
            </a:pPr>
            <a:r>
              <a:rPr lang="en-US" altLang="ko-KR" sz="2200" dirty="0"/>
              <a:t> </a:t>
            </a:r>
            <a:r>
              <a:rPr lang="en-US" altLang="ko-KR" sz="2200" dirty="0" smtClean="0"/>
              <a:t>- </a:t>
            </a:r>
            <a:r>
              <a:rPr lang="ko-KR" altLang="en-US" sz="2200" dirty="0" smtClean="0"/>
              <a:t>주변 전철역</a:t>
            </a:r>
            <a:r>
              <a:rPr lang="en-US" altLang="ko-KR" sz="2200" dirty="0" smtClean="0"/>
              <a:t>, </a:t>
            </a:r>
            <a:r>
              <a:rPr lang="ko-KR" altLang="en-US" sz="2200" dirty="0" smtClean="0"/>
              <a:t>고속도로 </a:t>
            </a:r>
            <a:r>
              <a:rPr lang="ko-KR" altLang="en-US" sz="2200" dirty="0" err="1" smtClean="0"/>
              <a:t>나들목</a:t>
            </a:r>
            <a:r>
              <a:rPr lang="ko-KR" altLang="en-US" sz="2200" dirty="0" smtClean="0"/>
              <a:t> 인접</a:t>
            </a:r>
            <a:endParaRPr lang="en-US" altLang="ko-KR" sz="2200" dirty="0" smtClean="0"/>
          </a:p>
          <a:p>
            <a:pPr marL="0" indent="0">
              <a:buNone/>
            </a:pPr>
            <a:r>
              <a:rPr lang="en-US" altLang="ko-KR" sz="2200" dirty="0"/>
              <a:t> </a:t>
            </a:r>
            <a:r>
              <a:rPr lang="en-US" altLang="ko-KR" sz="2200" dirty="0" smtClean="0"/>
              <a:t>- </a:t>
            </a:r>
            <a:r>
              <a:rPr lang="ko-KR" altLang="en-US" sz="2200" dirty="0" smtClean="0"/>
              <a:t>넓은 지하주차공간</a:t>
            </a:r>
            <a:r>
              <a:rPr lang="en-US" altLang="ko-KR" sz="2200" dirty="0" smtClean="0"/>
              <a:t>, </a:t>
            </a:r>
            <a:r>
              <a:rPr lang="ko-KR" altLang="en-US" sz="2200" dirty="0" smtClean="0"/>
              <a:t>쓰레기 신속 처리</a:t>
            </a:r>
            <a:r>
              <a:rPr lang="en-US" altLang="ko-KR" sz="2200" dirty="0" smtClean="0"/>
              <a:t>, </a:t>
            </a:r>
            <a:r>
              <a:rPr lang="ko-KR" altLang="en-US" sz="2200" dirty="0" smtClean="0"/>
              <a:t>택배 배달 용이</a:t>
            </a:r>
            <a:endParaRPr lang="en-US" altLang="ko-KR" sz="2200" dirty="0" smtClean="0"/>
          </a:p>
          <a:p>
            <a:pPr marL="0" indent="0">
              <a:buNone/>
            </a:pPr>
            <a:endParaRPr lang="en-US" altLang="ko-KR" sz="2200" dirty="0" smtClean="0"/>
          </a:p>
          <a:p>
            <a:pPr marL="0" indent="0">
              <a:buNone/>
            </a:pPr>
            <a:r>
              <a:rPr lang="en-US" altLang="ko-KR" sz="2200" dirty="0" smtClean="0">
                <a:sym typeface="Wingdings" panose="05000000000000000000" pitchFamily="2" charset="2"/>
              </a:rPr>
              <a:t> </a:t>
            </a:r>
            <a:r>
              <a:rPr lang="ko-KR" altLang="en-US" sz="2200" dirty="0" smtClean="0">
                <a:sym typeface="Wingdings" panose="05000000000000000000" pitchFamily="2" charset="2"/>
              </a:rPr>
              <a:t>지역 내 최고 매매가</a:t>
            </a:r>
            <a:r>
              <a:rPr lang="en-US" altLang="ko-KR" sz="2200" dirty="0" smtClean="0">
                <a:sym typeface="Wingdings" panose="05000000000000000000" pitchFamily="2" charset="2"/>
              </a:rPr>
              <a:t>, </a:t>
            </a:r>
            <a:r>
              <a:rPr lang="ko-KR" altLang="en-US" sz="2200" dirty="0" smtClean="0">
                <a:sym typeface="Wingdings" panose="05000000000000000000" pitchFamily="2" charset="2"/>
              </a:rPr>
              <a:t>전세가</a:t>
            </a:r>
            <a:endParaRPr lang="en-US" altLang="ko-KR" sz="2200" dirty="0" smtClean="0"/>
          </a:p>
          <a:p>
            <a:endParaRPr lang="en-US" altLang="ko-KR" sz="2200" dirty="0" smtClean="0"/>
          </a:p>
        </p:txBody>
      </p:sp>
    </p:spTree>
    <p:extLst>
      <p:ext uri="{BB962C8B-B14F-4D97-AF65-F5344CB8AC3E}">
        <p14:creationId xmlns:p14="http://schemas.microsoft.com/office/powerpoint/2010/main" val="4928984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 txBox="1">
            <a:spLocks noChangeArrowheads="1"/>
          </p:cNvSpPr>
          <p:nvPr/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u"/>
            </a:pPr>
            <a:r>
              <a:rPr lang="en-US" altLang="ko-KR" sz="2200" dirty="0" smtClean="0"/>
              <a:t>  </a:t>
            </a:r>
            <a:r>
              <a:rPr lang="en-US" altLang="ko-KR" sz="2200" b="1" dirty="0" smtClean="0"/>
              <a:t>“</a:t>
            </a:r>
            <a:r>
              <a:rPr lang="ko-KR" altLang="en-US" sz="2200" b="1" dirty="0" smtClean="0"/>
              <a:t>살기 좋은 동네</a:t>
            </a:r>
            <a:r>
              <a:rPr lang="en-US" altLang="ko-KR" sz="2200" b="1" dirty="0" smtClean="0"/>
              <a:t>“ </a:t>
            </a:r>
            <a:r>
              <a:rPr lang="ko-KR" altLang="en-US" sz="2200" b="1" dirty="0" smtClean="0"/>
              <a:t>모델</a:t>
            </a:r>
            <a:r>
              <a:rPr lang="en-US" altLang="ko-KR" sz="2200" b="1" dirty="0" smtClean="0"/>
              <a:t>2 – </a:t>
            </a:r>
            <a:r>
              <a:rPr lang="ko-KR" altLang="en-US" sz="2200" b="1" dirty="0" smtClean="0"/>
              <a:t>공동체 모델</a:t>
            </a:r>
            <a:endParaRPr lang="en-US" altLang="ko-KR" sz="2200" b="1" dirty="0" smtClean="0"/>
          </a:p>
          <a:p>
            <a:pPr marL="0" indent="0">
              <a:buNone/>
            </a:pPr>
            <a:endParaRPr lang="en-US" altLang="ko-KR" sz="2200" b="1" dirty="0" smtClean="0"/>
          </a:p>
          <a:p>
            <a:pPr>
              <a:buFont typeface="Wingdings" panose="05000000000000000000" pitchFamily="2" charset="2"/>
              <a:buChar char="ü"/>
            </a:pPr>
            <a:r>
              <a:rPr lang="en-US" altLang="ko-KR" sz="2200" dirty="0"/>
              <a:t> </a:t>
            </a:r>
            <a:r>
              <a:rPr lang="ko-KR" altLang="en-US" sz="2200" dirty="0" smtClean="0"/>
              <a:t>수시로 상호방문하고 음식을 나누어 먹는 집 </a:t>
            </a:r>
            <a:r>
              <a:rPr lang="en-US" altLang="ko-KR" sz="2200" dirty="0" smtClean="0"/>
              <a:t>X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altLang="ko-KR" sz="2200" dirty="0" smtClean="0"/>
              <a:t> </a:t>
            </a:r>
            <a:r>
              <a:rPr lang="ko-KR" altLang="en-US" sz="2200" dirty="0" smtClean="0"/>
              <a:t>엘리베이터에서의 어색한 시간</a:t>
            </a:r>
            <a:endParaRPr lang="en-US" altLang="ko-KR" sz="2200" dirty="0" smtClean="0"/>
          </a:p>
          <a:p>
            <a:pPr>
              <a:buFont typeface="Wingdings" panose="05000000000000000000" pitchFamily="2" charset="2"/>
              <a:buChar char="ü"/>
            </a:pPr>
            <a:r>
              <a:rPr lang="en-US" altLang="ko-KR" sz="2200" dirty="0" smtClean="0"/>
              <a:t> </a:t>
            </a:r>
            <a:r>
              <a:rPr lang="ko-KR" altLang="en-US" sz="2200" dirty="0" smtClean="0"/>
              <a:t>아파트 주민 간 친목도모를 위한 활동 전무</a:t>
            </a:r>
            <a:endParaRPr lang="en-US" altLang="ko-KR" sz="2200" dirty="0" smtClean="0"/>
          </a:p>
          <a:p>
            <a:pPr marL="0" indent="0">
              <a:buNone/>
            </a:pPr>
            <a:r>
              <a:rPr lang="en-US" altLang="ko-KR" sz="2200" dirty="0" smtClean="0"/>
              <a:t>   - </a:t>
            </a:r>
            <a:r>
              <a:rPr lang="ko-KR" altLang="en-US" sz="2200" dirty="0" smtClean="0"/>
              <a:t>주민 화합 잔치 </a:t>
            </a:r>
            <a:r>
              <a:rPr lang="en-US" altLang="ko-KR" sz="2200" dirty="0" smtClean="0"/>
              <a:t>X</a:t>
            </a:r>
          </a:p>
          <a:p>
            <a:pPr marL="0" indent="0">
              <a:buNone/>
            </a:pPr>
            <a:r>
              <a:rPr lang="en-US" altLang="ko-KR" sz="2200" dirty="0"/>
              <a:t> </a:t>
            </a:r>
            <a:r>
              <a:rPr lang="en-US" altLang="ko-KR" sz="2200" dirty="0" smtClean="0"/>
              <a:t>  - </a:t>
            </a:r>
            <a:r>
              <a:rPr lang="ko-KR" altLang="en-US" sz="2200" dirty="0" smtClean="0"/>
              <a:t>커뮤니티 센터 있지만</a:t>
            </a:r>
            <a:r>
              <a:rPr lang="en-US" altLang="ko-KR" sz="2200" dirty="0" smtClean="0"/>
              <a:t>, </a:t>
            </a:r>
            <a:r>
              <a:rPr lang="ko-KR" altLang="en-US" sz="2200" dirty="0" smtClean="0"/>
              <a:t>행사</a:t>
            </a:r>
            <a:r>
              <a:rPr lang="en-US" altLang="ko-KR" sz="2200" dirty="0" smtClean="0"/>
              <a:t>, </a:t>
            </a:r>
            <a:r>
              <a:rPr lang="ko-KR" altLang="en-US" sz="2200" dirty="0" smtClean="0"/>
              <a:t>모임 개최 </a:t>
            </a:r>
            <a:r>
              <a:rPr lang="en-US" altLang="ko-KR" sz="2200" dirty="0" smtClean="0"/>
              <a:t>X</a:t>
            </a:r>
          </a:p>
          <a:p>
            <a:pPr marL="0" indent="0">
              <a:buNone/>
            </a:pPr>
            <a:r>
              <a:rPr lang="en-US" altLang="ko-KR" sz="2200" dirty="0"/>
              <a:t> </a:t>
            </a:r>
            <a:r>
              <a:rPr lang="en-US" altLang="ko-KR" sz="2200" dirty="0" smtClean="0"/>
              <a:t>  - </a:t>
            </a:r>
            <a:r>
              <a:rPr lang="ko-KR" altLang="en-US" sz="2200" dirty="0" err="1" smtClean="0"/>
              <a:t>배드민턴장</a:t>
            </a:r>
            <a:r>
              <a:rPr lang="en-US" altLang="ko-KR" sz="2200" dirty="0" smtClean="0"/>
              <a:t>, </a:t>
            </a:r>
            <a:r>
              <a:rPr lang="ko-KR" altLang="en-US" sz="2200" dirty="0" err="1" smtClean="0"/>
              <a:t>미니광장</a:t>
            </a:r>
            <a:r>
              <a:rPr lang="en-US" altLang="ko-KR" sz="2200" dirty="0" smtClean="0"/>
              <a:t>, </a:t>
            </a:r>
            <a:r>
              <a:rPr lang="ko-KR" altLang="en-US" sz="2200" dirty="0" smtClean="0"/>
              <a:t>놀이터 </a:t>
            </a:r>
            <a:r>
              <a:rPr lang="en-US" altLang="ko-KR" sz="2200" dirty="0" smtClean="0"/>
              <a:t>–</a:t>
            </a:r>
            <a:r>
              <a:rPr lang="ko-KR" altLang="en-US" sz="2200" dirty="0" smtClean="0"/>
              <a:t> 친교 공간 역할 </a:t>
            </a:r>
            <a:r>
              <a:rPr lang="en-US" altLang="ko-KR" sz="2200" dirty="0" smtClean="0"/>
              <a:t>X</a:t>
            </a:r>
          </a:p>
          <a:p>
            <a:pPr marL="0" indent="0">
              <a:buNone/>
            </a:pPr>
            <a:endParaRPr lang="en-US" altLang="ko-KR" sz="2200" dirty="0"/>
          </a:p>
          <a:p>
            <a:pPr marL="0" indent="0">
              <a:buNone/>
            </a:pPr>
            <a:r>
              <a:rPr lang="en-US" altLang="ko-KR" sz="2200" dirty="0" smtClean="0">
                <a:sym typeface="Wingdings" panose="05000000000000000000" pitchFamily="2" charset="2"/>
              </a:rPr>
              <a:t> </a:t>
            </a:r>
            <a:r>
              <a:rPr lang="ko-KR" altLang="en-US" sz="2200" b="1" dirty="0" err="1" smtClean="0">
                <a:sym typeface="Wingdings" panose="05000000000000000000" pitchFamily="2" charset="2"/>
              </a:rPr>
              <a:t>고립감</a:t>
            </a:r>
            <a:r>
              <a:rPr lang="en-US" altLang="ko-KR" sz="2200" b="1" dirty="0" smtClean="0">
                <a:sym typeface="Wingdings" panose="05000000000000000000" pitchFamily="2" charset="2"/>
              </a:rPr>
              <a:t>, </a:t>
            </a:r>
            <a:r>
              <a:rPr lang="ko-KR" altLang="en-US" sz="2200" b="1" dirty="0" smtClean="0">
                <a:sym typeface="Wingdings" panose="05000000000000000000" pitchFamily="2" charset="2"/>
              </a:rPr>
              <a:t>허전함 </a:t>
            </a:r>
            <a:r>
              <a:rPr lang="en-US" altLang="ko-KR" sz="2200" b="1" dirty="0" smtClean="0">
                <a:sym typeface="Wingdings" panose="05000000000000000000" pitchFamily="2" charset="2"/>
              </a:rPr>
              <a:t>/ </a:t>
            </a:r>
            <a:r>
              <a:rPr lang="ko-KR" altLang="en-US" sz="2200" b="1" dirty="0" smtClean="0">
                <a:sym typeface="Wingdings" panose="05000000000000000000" pitchFamily="2" charset="2"/>
              </a:rPr>
              <a:t>아이 돌봄</a:t>
            </a:r>
            <a:r>
              <a:rPr lang="en-US" altLang="ko-KR" sz="2200" b="1" dirty="0" smtClean="0">
                <a:sym typeface="Wingdings" panose="05000000000000000000" pitchFamily="2" charset="2"/>
              </a:rPr>
              <a:t>, </a:t>
            </a:r>
            <a:r>
              <a:rPr lang="ko-KR" altLang="en-US" sz="2200" b="1" dirty="0" smtClean="0">
                <a:sym typeface="Wingdings" panose="05000000000000000000" pitchFamily="2" charset="2"/>
              </a:rPr>
              <a:t>일손 공유 어려움</a:t>
            </a:r>
            <a:endParaRPr lang="en-US" altLang="ko-KR" sz="2200" b="1" dirty="0" smtClean="0"/>
          </a:p>
          <a:p>
            <a:pPr marL="0" indent="0">
              <a:buNone/>
            </a:pPr>
            <a:r>
              <a:rPr lang="en-US" altLang="ko-KR" sz="2200" dirty="0" smtClean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873868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 txBox="1">
            <a:spLocks noChangeArrowheads="1"/>
          </p:cNvSpPr>
          <p:nvPr/>
        </p:nvSpPr>
        <p:spPr bwMode="auto">
          <a:xfrm>
            <a:off x="457200" y="836712"/>
            <a:ext cx="8229600" cy="5289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v"/>
            </a:pPr>
            <a:r>
              <a:rPr lang="ko-KR" altLang="en-US" sz="2200" b="1" dirty="0" smtClean="0"/>
              <a:t>전통적인 공동체 모델 소재의 드라마</a:t>
            </a:r>
            <a:r>
              <a:rPr lang="en-US" altLang="ko-KR" sz="2200" b="1" dirty="0" smtClean="0"/>
              <a:t> 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184" y="1393816"/>
            <a:ext cx="3379783" cy="4789089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7944" y="3954888"/>
            <a:ext cx="4834880" cy="2193602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80112" y="1606134"/>
            <a:ext cx="3250704" cy="2182227"/>
          </a:xfrm>
          <a:prstGeom prst="rect">
            <a:avLst/>
          </a:prstGeom>
        </p:spPr>
      </p:pic>
      <p:sp>
        <p:nvSpPr>
          <p:cNvPr id="9" name="Rectangle 5"/>
          <p:cNvSpPr txBox="1">
            <a:spLocks noChangeArrowheads="1"/>
          </p:cNvSpPr>
          <p:nvPr/>
        </p:nvSpPr>
        <p:spPr bwMode="auto">
          <a:xfrm>
            <a:off x="6085999" y="1170536"/>
            <a:ext cx="2816825" cy="5963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</a:t>
            </a:r>
            <a:r>
              <a:rPr lang="ko-KR" alt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동백꽃 </a:t>
            </a:r>
            <a:r>
              <a:rPr lang="ko-KR" altLang="en-US" sz="1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필무렵</a:t>
            </a:r>
            <a:r>
              <a:rPr lang="en-US" altLang="ko-KR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&gt;(2019)</a:t>
            </a:r>
          </a:p>
        </p:txBody>
      </p:sp>
      <p:sp>
        <p:nvSpPr>
          <p:cNvPr id="10" name="Rectangle 5"/>
          <p:cNvSpPr txBox="1">
            <a:spLocks noChangeArrowheads="1"/>
          </p:cNvSpPr>
          <p:nvPr/>
        </p:nvSpPr>
        <p:spPr bwMode="auto">
          <a:xfrm>
            <a:off x="3836983" y="1766934"/>
            <a:ext cx="1959153" cy="19584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</a:t>
            </a:r>
            <a:r>
              <a:rPr lang="ko-KR" alt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응답하라 </a:t>
            </a:r>
            <a:r>
              <a:rPr lang="en-US" altLang="ko-KR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1988&gt;(2015)</a:t>
            </a:r>
          </a:p>
          <a:p>
            <a:pPr marL="0" indent="0">
              <a:buNone/>
            </a:pPr>
            <a:endParaRPr lang="en-US" altLang="ko-KR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endParaRPr lang="en-US" altLang="ko-KR" sz="18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US" altLang="ko-KR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</a:t>
            </a:r>
            <a:r>
              <a:rPr lang="ko-KR" alt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나의 아저씨</a:t>
            </a:r>
            <a:r>
              <a:rPr lang="en-US" altLang="ko-KR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&gt;  (2018)</a:t>
            </a:r>
          </a:p>
        </p:txBody>
      </p:sp>
    </p:spTree>
    <p:extLst>
      <p:ext uri="{BB962C8B-B14F-4D97-AF65-F5344CB8AC3E}">
        <p14:creationId xmlns:p14="http://schemas.microsoft.com/office/powerpoint/2010/main" val="25074054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 b="1" dirty="0" smtClean="0"/>
              <a:t> 공동체의 의미</a:t>
            </a:r>
            <a:endParaRPr lang="ko-KR" altLang="en-US" sz="2800" b="1" dirty="0"/>
          </a:p>
        </p:txBody>
      </p:sp>
      <p:sp>
        <p:nvSpPr>
          <p:cNvPr id="5" name="Rectangle 5"/>
          <p:cNvSpPr txBox="1">
            <a:spLocks noChangeArrowheads="1"/>
          </p:cNvSpPr>
          <p:nvPr/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200" b="1" dirty="0" smtClean="0"/>
              <a:t>공동체</a:t>
            </a:r>
            <a:r>
              <a:rPr lang="en-US" altLang="ko-KR" sz="2200" b="1" dirty="0"/>
              <a:t>(community): </a:t>
            </a:r>
            <a:r>
              <a:rPr lang="ko-KR" altLang="en-US" sz="2200" dirty="0"/>
              <a:t>어떤 요소를 공통적으로 보유하고 있는 사람들의 </a:t>
            </a:r>
            <a:r>
              <a:rPr lang="ko-KR" altLang="en-US" sz="2200" dirty="0" smtClean="0"/>
              <a:t>집단</a:t>
            </a:r>
            <a:endParaRPr lang="en-US" altLang="ko-KR" sz="2200" dirty="0"/>
          </a:p>
        </p:txBody>
      </p:sp>
      <p:sp>
        <p:nvSpPr>
          <p:cNvPr id="4" name="아래쪽 리본 3"/>
          <p:cNvSpPr/>
          <p:nvPr/>
        </p:nvSpPr>
        <p:spPr>
          <a:xfrm>
            <a:off x="3131840" y="828735"/>
            <a:ext cx="285752" cy="187765"/>
          </a:xfrm>
          <a:prstGeom prst="ribbon">
            <a:avLst/>
          </a:prstGeom>
          <a:solidFill>
            <a:srgbClr val="7030A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1728" y="2456743"/>
            <a:ext cx="2642321" cy="3744118"/>
          </a:xfrm>
          <a:prstGeom prst="rect">
            <a:avLst/>
          </a:prstGeom>
        </p:spPr>
      </p:pic>
      <p:sp>
        <p:nvSpPr>
          <p:cNvPr id="7" name="Rectangle 5"/>
          <p:cNvSpPr txBox="1">
            <a:spLocks noChangeArrowheads="1"/>
          </p:cNvSpPr>
          <p:nvPr/>
        </p:nvSpPr>
        <p:spPr bwMode="auto">
          <a:xfrm>
            <a:off x="483455" y="2348880"/>
            <a:ext cx="5868273" cy="37772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200" b="1" dirty="0" smtClean="0"/>
              <a:t>지역 공동체</a:t>
            </a:r>
            <a:r>
              <a:rPr lang="en-US" altLang="ko-KR" sz="2200" b="1" dirty="0" smtClean="0"/>
              <a:t>(local community): </a:t>
            </a:r>
            <a:r>
              <a:rPr lang="ko-KR" altLang="en-US" sz="2200" dirty="0" smtClean="0"/>
              <a:t>동일한 </a:t>
            </a:r>
            <a:r>
              <a:rPr lang="ko-KR" altLang="en-US" sz="2200" dirty="0"/>
              <a:t>지역을 생활터전으로 삼고 있다는 점을 공통 분모로 하여 형성되는 공동체</a:t>
            </a:r>
          </a:p>
          <a:p>
            <a:pPr marL="0" indent="0">
              <a:buNone/>
            </a:pPr>
            <a:r>
              <a:rPr lang="en-US" altLang="ko-KR" sz="2200" dirty="0" smtClean="0"/>
              <a:t>     </a:t>
            </a:r>
          </a:p>
          <a:p>
            <a:pPr marL="0" indent="0">
              <a:buNone/>
            </a:pPr>
            <a:r>
              <a:rPr lang="en-US" altLang="ko-KR" sz="2200" dirty="0"/>
              <a:t> </a:t>
            </a:r>
            <a:r>
              <a:rPr lang="en-US" altLang="ko-KR" sz="2200" dirty="0" smtClean="0"/>
              <a:t> * </a:t>
            </a:r>
            <a:r>
              <a:rPr lang="ko-KR" altLang="en-US" sz="2200" dirty="0" smtClean="0"/>
              <a:t>기본 요소</a:t>
            </a:r>
            <a:endParaRPr lang="en-US" altLang="ko-KR" sz="2200" dirty="0" smtClean="0"/>
          </a:p>
          <a:p>
            <a:pPr marL="0" indent="0">
              <a:buNone/>
            </a:pPr>
            <a:r>
              <a:rPr lang="en-US" altLang="ko-KR" sz="2200" dirty="0"/>
              <a:t> </a:t>
            </a:r>
            <a:r>
              <a:rPr lang="en-US" altLang="ko-KR" sz="2200" dirty="0" smtClean="0"/>
              <a:t>   1) </a:t>
            </a:r>
            <a:r>
              <a:rPr lang="ko-KR" altLang="en-US" sz="2200" dirty="0" smtClean="0"/>
              <a:t>지역성 </a:t>
            </a:r>
            <a:r>
              <a:rPr lang="en-US" altLang="ko-KR" sz="2200" dirty="0" smtClean="0"/>
              <a:t>territory </a:t>
            </a:r>
            <a:r>
              <a:rPr lang="ko-KR" altLang="en-US" sz="2200" dirty="0" smtClean="0"/>
              <a:t> </a:t>
            </a:r>
            <a:r>
              <a:rPr lang="en-US" altLang="ko-KR" sz="2200" dirty="0" smtClean="0"/>
              <a:t>2) </a:t>
            </a:r>
            <a:r>
              <a:rPr lang="ko-KR" altLang="en-US" sz="2200" dirty="0" smtClean="0"/>
              <a:t>사회적 상호작용 </a:t>
            </a:r>
            <a:endParaRPr lang="en-US" altLang="ko-KR" sz="2200" dirty="0" smtClean="0"/>
          </a:p>
          <a:p>
            <a:pPr marL="0" indent="0">
              <a:buNone/>
            </a:pPr>
            <a:r>
              <a:rPr lang="en-US" altLang="ko-KR" sz="2200" dirty="0" smtClean="0"/>
              <a:t>    3) </a:t>
            </a:r>
            <a:r>
              <a:rPr lang="ko-KR" altLang="en-US" sz="2200" dirty="0" smtClean="0"/>
              <a:t>공동의 </a:t>
            </a:r>
            <a:r>
              <a:rPr lang="ko-KR" altLang="en-US" sz="2200" dirty="0" err="1" smtClean="0"/>
              <a:t>결속감</a:t>
            </a:r>
            <a:endParaRPr lang="en-US" altLang="ko-KR" sz="2200" dirty="0" smtClean="0"/>
          </a:p>
          <a:p>
            <a:pPr marL="0" indent="0">
              <a:buNone/>
            </a:pPr>
            <a:endParaRPr lang="en-US" altLang="ko-KR" sz="2200" dirty="0" smtClean="0"/>
          </a:p>
          <a:p>
            <a:pPr marL="0" indent="0">
              <a:buNone/>
            </a:pPr>
            <a:r>
              <a:rPr lang="en-US" altLang="ko-KR" sz="2200" dirty="0" smtClean="0"/>
              <a:t> </a:t>
            </a:r>
            <a:r>
              <a:rPr lang="en-US" altLang="ko-KR" sz="2200" dirty="0" smtClean="0">
                <a:sym typeface="Wingdings" panose="05000000000000000000" pitchFamily="2" charset="2"/>
              </a:rPr>
              <a:t> </a:t>
            </a:r>
            <a:r>
              <a:rPr lang="ko-KR" altLang="en-US" sz="2200" dirty="0" smtClean="0">
                <a:sym typeface="Wingdings" panose="05000000000000000000" pitchFamily="2" charset="2"/>
              </a:rPr>
              <a:t>서로 관계가 단절된 사람들</a:t>
            </a:r>
            <a:endParaRPr lang="en-US" altLang="ko-KR" sz="2200" dirty="0"/>
          </a:p>
        </p:txBody>
      </p:sp>
    </p:spTree>
    <p:extLst>
      <p:ext uri="{BB962C8B-B14F-4D97-AF65-F5344CB8AC3E}">
        <p14:creationId xmlns:p14="http://schemas.microsoft.com/office/powerpoint/2010/main" val="14653331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 b="1" dirty="0" smtClean="0"/>
              <a:t> </a:t>
            </a:r>
            <a:r>
              <a:rPr lang="en-US" altLang="ko-KR" sz="2800" b="1" dirty="0"/>
              <a:t>2</a:t>
            </a:r>
            <a:r>
              <a:rPr lang="en-US" altLang="ko-KR" sz="2800" b="1" dirty="0" smtClean="0"/>
              <a:t>. </a:t>
            </a:r>
            <a:r>
              <a:rPr lang="ko-KR" altLang="en-US" sz="2800" b="1" dirty="0" smtClean="0"/>
              <a:t>공동체의 가치</a:t>
            </a:r>
            <a:endParaRPr lang="ko-KR" altLang="en-US" sz="2800" b="1" dirty="0"/>
          </a:p>
        </p:txBody>
      </p:sp>
      <p:sp>
        <p:nvSpPr>
          <p:cNvPr id="5" name="Rectangle 5"/>
          <p:cNvSpPr txBox="1">
            <a:spLocks noChangeArrowheads="1"/>
          </p:cNvSpPr>
          <p:nvPr/>
        </p:nvSpPr>
        <p:spPr bwMode="auto">
          <a:xfrm>
            <a:off x="457200" y="1600200"/>
            <a:ext cx="5410944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endParaRPr kumimoji="0" lang="en-US" altLang="ko-KR" sz="2000" dirty="0" smtClean="0"/>
          </a:p>
          <a:p>
            <a:r>
              <a:rPr lang="ko-KR" altLang="en-US" sz="2200" b="1" dirty="0" smtClean="0"/>
              <a:t>공동체는 항상 좋은 것인가</a:t>
            </a:r>
            <a:r>
              <a:rPr lang="en-US" altLang="ko-KR" sz="2200" b="1" dirty="0" smtClean="0"/>
              <a:t>?</a:t>
            </a:r>
          </a:p>
          <a:p>
            <a:pPr marL="0" indent="0">
              <a:buNone/>
            </a:pPr>
            <a:r>
              <a:rPr lang="en-US" altLang="ko-KR" sz="2200" dirty="0"/>
              <a:t> </a:t>
            </a:r>
            <a:endParaRPr lang="en-US" altLang="ko-KR" sz="2200" dirty="0" smtClean="0"/>
          </a:p>
          <a:p>
            <a:pPr marL="0" indent="0">
              <a:buNone/>
            </a:pPr>
            <a:r>
              <a:rPr lang="en-US" altLang="ko-KR" sz="2200" dirty="0"/>
              <a:t> </a:t>
            </a:r>
            <a:r>
              <a:rPr lang="en-US" altLang="ko-KR" sz="2200" dirty="0" smtClean="0"/>
              <a:t> - </a:t>
            </a:r>
            <a:r>
              <a:rPr lang="ko-KR" altLang="en-US" sz="2200" dirty="0" smtClean="0"/>
              <a:t>심리</a:t>
            </a:r>
            <a:r>
              <a:rPr lang="en-US" altLang="ko-KR" sz="2200" dirty="0" smtClean="0"/>
              <a:t>: </a:t>
            </a:r>
            <a:r>
              <a:rPr lang="ko-KR" altLang="en-US" sz="2200" dirty="0" smtClean="0"/>
              <a:t>정서적 안정감과 책임감 형성</a:t>
            </a:r>
            <a:endParaRPr lang="en-US" altLang="ko-KR" sz="2200" dirty="0" smtClean="0"/>
          </a:p>
          <a:p>
            <a:pPr marL="0" indent="0">
              <a:buNone/>
            </a:pPr>
            <a:r>
              <a:rPr lang="en-US" altLang="ko-KR" sz="2200" dirty="0"/>
              <a:t> </a:t>
            </a:r>
            <a:r>
              <a:rPr lang="en-US" altLang="ko-KR" sz="2200" dirty="0" smtClean="0"/>
              <a:t> - </a:t>
            </a:r>
            <a:r>
              <a:rPr lang="ko-KR" altLang="en-US" sz="2200" dirty="0" smtClean="0"/>
              <a:t>사회</a:t>
            </a:r>
            <a:r>
              <a:rPr lang="en-US" altLang="ko-KR" sz="2200" dirty="0" smtClean="0"/>
              <a:t>: </a:t>
            </a:r>
            <a:r>
              <a:rPr lang="ko-KR" altLang="en-US" sz="2200" dirty="0" smtClean="0"/>
              <a:t>신뢰에 기반을 둔 서로 돕는 </a:t>
            </a:r>
            <a:endParaRPr lang="en-US" altLang="ko-KR" sz="2200" dirty="0" smtClean="0"/>
          </a:p>
          <a:p>
            <a:pPr marL="0" indent="0">
              <a:buNone/>
            </a:pPr>
            <a:r>
              <a:rPr lang="en-US" altLang="ko-KR" sz="2200" dirty="0"/>
              <a:t> </a:t>
            </a:r>
            <a:r>
              <a:rPr lang="en-US" altLang="ko-KR" sz="2200" dirty="0" smtClean="0"/>
              <a:t>        </a:t>
            </a:r>
            <a:r>
              <a:rPr lang="ko-KR" altLang="en-US" sz="2200" dirty="0" err="1" smtClean="0"/>
              <a:t>연결망</a:t>
            </a:r>
            <a:r>
              <a:rPr lang="ko-KR" altLang="en-US" sz="2200" dirty="0" smtClean="0"/>
              <a:t> 형성</a:t>
            </a:r>
            <a:endParaRPr lang="en-US" altLang="ko-KR" sz="2200" dirty="0" smtClean="0"/>
          </a:p>
          <a:p>
            <a:pPr marL="0" indent="0">
              <a:buNone/>
            </a:pPr>
            <a:r>
              <a:rPr lang="en-US" altLang="ko-KR" sz="2200" dirty="0"/>
              <a:t> </a:t>
            </a:r>
            <a:r>
              <a:rPr lang="en-US" altLang="ko-KR" sz="2200" dirty="0" smtClean="0"/>
              <a:t> - </a:t>
            </a:r>
            <a:r>
              <a:rPr lang="ko-KR" altLang="en-US" sz="2200" dirty="0" smtClean="0"/>
              <a:t>경제</a:t>
            </a:r>
            <a:r>
              <a:rPr lang="en-US" altLang="ko-KR" sz="2200" dirty="0" smtClean="0"/>
              <a:t>: </a:t>
            </a:r>
            <a:r>
              <a:rPr lang="ko-KR" altLang="en-US" sz="2200" dirty="0" err="1" smtClean="0"/>
              <a:t>생활재와</a:t>
            </a:r>
            <a:r>
              <a:rPr lang="ko-KR" altLang="en-US" sz="2200" dirty="0" smtClean="0"/>
              <a:t> 공공재 나눔</a:t>
            </a:r>
            <a:r>
              <a:rPr lang="en-US" altLang="ko-KR" sz="2200" dirty="0" smtClean="0"/>
              <a:t>, </a:t>
            </a:r>
          </a:p>
          <a:p>
            <a:pPr marL="0" indent="0">
              <a:buNone/>
            </a:pPr>
            <a:r>
              <a:rPr lang="en-US" altLang="ko-KR" sz="2200" dirty="0"/>
              <a:t> </a:t>
            </a:r>
            <a:r>
              <a:rPr lang="en-US" altLang="ko-KR" sz="2200" dirty="0" smtClean="0"/>
              <a:t>        </a:t>
            </a:r>
            <a:r>
              <a:rPr lang="ko-KR" altLang="en-US" sz="2200" dirty="0" smtClean="0"/>
              <a:t>공동생산</a:t>
            </a:r>
            <a:endParaRPr lang="en-US" altLang="ko-KR" sz="2200" dirty="0" smtClean="0"/>
          </a:p>
          <a:p>
            <a:pPr marL="0" indent="0">
              <a:buNone/>
            </a:pPr>
            <a:r>
              <a:rPr lang="en-US" altLang="ko-KR" sz="2200" dirty="0"/>
              <a:t> </a:t>
            </a:r>
            <a:r>
              <a:rPr lang="en-US" altLang="ko-KR" sz="2200" dirty="0" smtClean="0"/>
              <a:t> - </a:t>
            </a:r>
            <a:r>
              <a:rPr lang="ko-KR" altLang="en-US" sz="2200" dirty="0" smtClean="0"/>
              <a:t>정치</a:t>
            </a:r>
            <a:r>
              <a:rPr lang="en-US" altLang="ko-KR" sz="2200" dirty="0" smtClean="0"/>
              <a:t>: </a:t>
            </a:r>
            <a:r>
              <a:rPr lang="ko-KR" altLang="en-US" sz="2200" dirty="0" smtClean="0"/>
              <a:t>주체적 해결 역량 형성</a:t>
            </a:r>
            <a:endParaRPr lang="en-US" altLang="ko-KR" sz="2200" dirty="0" smtClean="0"/>
          </a:p>
          <a:p>
            <a:pPr marL="0" indent="0">
              <a:buNone/>
            </a:pPr>
            <a:r>
              <a:rPr lang="en-US" altLang="ko-KR" sz="2200" dirty="0" smtClean="0"/>
              <a:t>  </a:t>
            </a:r>
            <a:r>
              <a:rPr lang="en-US" altLang="ko-KR" sz="2200" dirty="0" smtClean="0">
                <a:sym typeface="Wingdings" panose="05000000000000000000" pitchFamily="2" charset="2"/>
              </a:rPr>
              <a:t> </a:t>
            </a:r>
            <a:r>
              <a:rPr lang="ko-KR" altLang="en-US" sz="2200" dirty="0" smtClean="0">
                <a:sym typeface="Wingdings" panose="05000000000000000000" pitchFamily="2" charset="2"/>
              </a:rPr>
              <a:t>폐쇄성과 </a:t>
            </a:r>
            <a:r>
              <a:rPr lang="ko-KR" altLang="en-US" sz="2200" dirty="0" err="1" smtClean="0">
                <a:sym typeface="Wingdings" panose="05000000000000000000" pitchFamily="2" charset="2"/>
              </a:rPr>
              <a:t>억압성</a:t>
            </a:r>
            <a:endParaRPr lang="en-US" altLang="ko-KR" sz="2200" dirty="0" smtClean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ko-KR" sz="2200" dirty="0" smtClean="0"/>
              <a:t>       </a:t>
            </a:r>
            <a:r>
              <a:rPr lang="ko-KR" altLang="en-US" sz="2200" dirty="0" smtClean="0"/>
              <a:t>개성 표현과 자유 제한</a:t>
            </a:r>
            <a:endParaRPr lang="en-US" altLang="ko-KR" sz="2200" dirty="0" smtClean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6056" y="3863181"/>
            <a:ext cx="3834990" cy="2694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162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 b="1" dirty="0" smtClean="0"/>
              <a:t>공동체의 문제점</a:t>
            </a:r>
            <a:endParaRPr lang="ko-KR" altLang="en-US" sz="2800" b="1" dirty="0"/>
          </a:p>
        </p:txBody>
      </p:sp>
      <p:sp>
        <p:nvSpPr>
          <p:cNvPr id="5" name="Rectangle 5"/>
          <p:cNvSpPr txBox="1">
            <a:spLocks noChangeArrowheads="1"/>
          </p:cNvSpPr>
          <p:nvPr/>
        </p:nvSpPr>
        <p:spPr bwMode="auto">
          <a:xfrm>
            <a:off x="457200" y="1916832"/>
            <a:ext cx="3898776" cy="40324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v"/>
            </a:pPr>
            <a:endParaRPr lang="en-US" altLang="ko-KR" sz="2200" b="1" dirty="0" smtClean="0"/>
          </a:p>
          <a:p>
            <a:pPr>
              <a:buFont typeface="Wingdings" panose="05000000000000000000" pitchFamily="2" charset="2"/>
              <a:buChar char="ü"/>
            </a:pPr>
            <a:r>
              <a:rPr lang="en-US" altLang="ko-KR" sz="2200" dirty="0"/>
              <a:t> </a:t>
            </a:r>
            <a:r>
              <a:rPr lang="ko-KR" altLang="en-US" sz="2200" dirty="0" smtClean="0"/>
              <a:t>개별 가구의 독립성과 </a:t>
            </a:r>
            <a:endParaRPr lang="en-US" altLang="ko-KR" sz="2200" dirty="0" smtClean="0"/>
          </a:p>
          <a:p>
            <a:pPr marL="0" indent="0">
              <a:buNone/>
            </a:pPr>
            <a:r>
              <a:rPr lang="en-US" altLang="ko-KR" sz="2200" dirty="0"/>
              <a:t> </a:t>
            </a:r>
            <a:r>
              <a:rPr lang="en-US" altLang="ko-KR" sz="2200" dirty="0" smtClean="0"/>
              <a:t>  </a:t>
            </a:r>
            <a:r>
              <a:rPr lang="ko-KR" altLang="en-US" sz="2200" dirty="0" smtClean="0"/>
              <a:t>프라이버시 보장</a:t>
            </a:r>
            <a:r>
              <a:rPr lang="en-US" altLang="ko-KR" sz="2200" dirty="0" smtClean="0"/>
              <a:t>X</a:t>
            </a:r>
          </a:p>
          <a:p>
            <a:pPr marL="0" indent="0">
              <a:buNone/>
            </a:pPr>
            <a:endParaRPr lang="en-US" altLang="ko-KR" sz="2200" dirty="0"/>
          </a:p>
          <a:p>
            <a:pPr marL="0" indent="0">
              <a:buNone/>
            </a:pPr>
            <a:r>
              <a:rPr lang="en-US" altLang="ko-KR" sz="2200" dirty="0" smtClean="0"/>
              <a:t> </a:t>
            </a:r>
            <a:r>
              <a:rPr lang="ko-KR" altLang="en-US" sz="2200" dirty="0" smtClean="0"/>
              <a:t>예</a:t>
            </a:r>
            <a:r>
              <a:rPr lang="en-US" altLang="ko-KR" sz="2200" dirty="0" smtClean="0"/>
              <a:t>) </a:t>
            </a:r>
            <a:r>
              <a:rPr lang="ko-KR" altLang="en-US" sz="2200" dirty="0" smtClean="0"/>
              <a:t>주인의 의사와 무관하게 막무가내로 들어오려는 이웃주민</a:t>
            </a:r>
            <a:endParaRPr lang="en-US" altLang="ko-KR" sz="2200" dirty="0" smtClean="0"/>
          </a:p>
          <a:p>
            <a:pPr marL="0" indent="0">
              <a:buNone/>
            </a:pPr>
            <a:endParaRPr lang="en-US" altLang="ko-KR" sz="2200" dirty="0"/>
          </a:p>
          <a:p>
            <a:pPr marL="0" indent="0">
              <a:buNone/>
            </a:pPr>
            <a:r>
              <a:rPr lang="en-US" altLang="ko-KR" sz="2200" dirty="0" smtClean="0"/>
              <a:t>  - </a:t>
            </a:r>
            <a:r>
              <a:rPr lang="ko-KR" altLang="en-US" sz="2200" dirty="0" smtClean="0"/>
              <a:t>일상 행동에 대한 간섭</a:t>
            </a:r>
            <a:endParaRPr lang="en-US" altLang="ko-KR" sz="2200" dirty="0" smtClean="0"/>
          </a:p>
          <a:p>
            <a:pPr marL="0" indent="0">
              <a:buNone/>
            </a:pPr>
            <a:endParaRPr lang="en-US" altLang="ko-KR" sz="2200" dirty="0" smtClean="0"/>
          </a:p>
          <a:p>
            <a:pPr marL="0" indent="0">
              <a:buNone/>
            </a:pPr>
            <a:r>
              <a:rPr lang="en-US" altLang="ko-KR" sz="2200" dirty="0" smtClean="0"/>
              <a:t> </a:t>
            </a:r>
          </a:p>
        </p:txBody>
      </p:sp>
      <p:sp>
        <p:nvSpPr>
          <p:cNvPr id="4" name="아래쪽 리본 3"/>
          <p:cNvSpPr/>
          <p:nvPr/>
        </p:nvSpPr>
        <p:spPr>
          <a:xfrm>
            <a:off x="2843808" y="864967"/>
            <a:ext cx="285752" cy="187765"/>
          </a:xfrm>
          <a:prstGeom prst="ribbon">
            <a:avLst/>
          </a:prstGeom>
          <a:solidFill>
            <a:srgbClr val="7030A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6016" y="1772816"/>
            <a:ext cx="4270622" cy="4477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98705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내용 개체 틀 2"/>
          <p:cNvSpPr>
            <a:spLocks noGrp="1"/>
          </p:cNvSpPr>
          <p:nvPr>
            <p:ph idx="1"/>
          </p:nvPr>
        </p:nvSpPr>
        <p:spPr>
          <a:xfrm>
            <a:off x="571500" y="692696"/>
            <a:ext cx="8001028" cy="5544616"/>
          </a:xfrm>
        </p:spPr>
        <p:txBody>
          <a:bodyPr/>
          <a:lstStyle/>
          <a:p>
            <a:pPr marL="0" indent="0" algn="ctr" eaLnBrk="1" hangingPunct="1">
              <a:buNone/>
            </a:pPr>
            <a:r>
              <a:rPr lang="en-US" altLang="ko-KR" sz="3200" dirty="0" smtClean="0">
                <a:latin typeface="Arial Rounded MT Bold" pitchFamily="34" charset="0"/>
                <a:ea typeface="휴먼모음T" pitchFamily="18" charset="-127"/>
                <a:cs typeface="+mj-cs"/>
              </a:rPr>
              <a:t>3. </a:t>
            </a:r>
            <a:r>
              <a:rPr lang="ko-KR" altLang="en-US" sz="3200" dirty="0" smtClean="0">
                <a:latin typeface="Arial Rounded MT Bold" pitchFamily="34" charset="0"/>
                <a:ea typeface="휴먼모음T" pitchFamily="18" charset="-127"/>
                <a:cs typeface="+mj-cs"/>
              </a:rPr>
              <a:t>대도시 정신적 삶의 특징</a:t>
            </a:r>
            <a:endParaRPr lang="en-US" altLang="ko-KR" sz="3200" dirty="0">
              <a:latin typeface="Arial Rounded MT Bold" pitchFamily="34" charset="0"/>
              <a:ea typeface="휴먼모음T" pitchFamily="18" charset="-127"/>
              <a:cs typeface="+mj-cs"/>
            </a:endParaRPr>
          </a:p>
          <a:p>
            <a:pPr marL="0" indent="0" eaLnBrk="1" hangingPunct="1">
              <a:buNone/>
            </a:pPr>
            <a:r>
              <a:rPr lang="en-US" altLang="ko-KR" sz="3200" dirty="0" smtClean="0">
                <a:latin typeface="Arial Rounded MT Bold" pitchFamily="34" charset="0"/>
                <a:ea typeface="휴먼모음T" pitchFamily="18" charset="-127"/>
                <a:cs typeface="+mj-cs"/>
              </a:rPr>
              <a:t>                                           - </a:t>
            </a:r>
            <a:r>
              <a:rPr lang="ko-KR" altLang="en-US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게오르그</a:t>
            </a:r>
            <a:r>
              <a:rPr lang="ko-KR" alt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ko-KR" altLang="en-US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짐멜</a:t>
            </a:r>
            <a:r>
              <a:rPr lang="ko-KR" alt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en-US" altLang="ko-KR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hangingPunct="1">
              <a:buFont typeface="Wingdings" panose="05000000000000000000" pitchFamily="2" charset="2"/>
              <a:buChar char="u"/>
            </a:pPr>
            <a:endParaRPr lang="en-US" altLang="ko-KR" dirty="0" smtClean="0"/>
          </a:p>
          <a:p>
            <a:pPr eaLnBrk="1" hangingPunct="1">
              <a:buFont typeface="Wingdings" panose="05000000000000000000" pitchFamily="2" charset="2"/>
              <a:buChar char="u"/>
            </a:pPr>
            <a:r>
              <a:rPr lang="en-US" altLang="ko-KR" dirty="0" smtClean="0"/>
              <a:t>“</a:t>
            </a:r>
            <a:r>
              <a:rPr lang="ko-KR" altLang="en-US" dirty="0" smtClean="0"/>
              <a:t>차가운 도시 사람</a:t>
            </a:r>
            <a:r>
              <a:rPr lang="en-US" altLang="ko-KR" dirty="0" smtClean="0"/>
              <a:t>”</a:t>
            </a:r>
          </a:p>
          <a:p>
            <a:pPr marL="0" indent="0" eaLnBrk="1" hangingPunct="1">
              <a:buNone/>
            </a:pPr>
            <a:r>
              <a:rPr lang="en-US" altLang="ko-KR" dirty="0" smtClean="0"/>
              <a:t>   - </a:t>
            </a:r>
            <a:r>
              <a:rPr lang="ko-KR" altLang="en-US" dirty="0" smtClean="0"/>
              <a:t>계산적</a:t>
            </a:r>
            <a:r>
              <a:rPr lang="en-US" altLang="ko-KR" dirty="0" smtClean="0"/>
              <a:t>, </a:t>
            </a:r>
            <a:r>
              <a:rPr lang="ko-KR" altLang="en-US" dirty="0" smtClean="0"/>
              <a:t>합리적인 대응</a:t>
            </a:r>
            <a:r>
              <a:rPr lang="en-US" altLang="ko-KR" dirty="0" smtClean="0"/>
              <a:t> </a:t>
            </a:r>
          </a:p>
          <a:p>
            <a:pPr marL="0" indent="0" eaLnBrk="1" hangingPunct="1">
              <a:buNone/>
            </a:pPr>
            <a:r>
              <a:rPr lang="en-US" altLang="ko-KR" dirty="0" smtClean="0"/>
              <a:t>   - </a:t>
            </a:r>
            <a:r>
              <a:rPr lang="ko-KR" altLang="en-US" dirty="0" smtClean="0"/>
              <a:t>속내 감추기 </a:t>
            </a:r>
            <a:endParaRPr lang="en-US" altLang="ko-KR" dirty="0" smtClean="0"/>
          </a:p>
          <a:p>
            <a:pPr marL="0" indent="0" eaLnBrk="1" hangingPunct="1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 - </a:t>
            </a:r>
            <a:r>
              <a:rPr lang="ko-KR" altLang="en-US" dirty="0" smtClean="0"/>
              <a:t>타인에 대한 무관심 </a:t>
            </a:r>
            <a:r>
              <a:rPr lang="en-US" altLang="ko-KR" dirty="0" smtClean="0"/>
              <a:t>- “</a:t>
            </a:r>
            <a:r>
              <a:rPr lang="ko-KR" altLang="en-US" dirty="0" smtClean="0"/>
              <a:t>차갑고 감정이 없는 사람</a:t>
            </a:r>
            <a:r>
              <a:rPr lang="en-US" altLang="ko-KR" dirty="0" smtClean="0"/>
              <a:t>”</a:t>
            </a:r>
          </a:p>
          <a:p>
            <a:pPr marL="0" indent="0" eaLnBrk="1" hangingPunct="1">
              <a:buNone/>
            </a:pPr>
            <a:endParaRPr lang="en-US" altLang="ko-KR" dirty="0"/>
          </a:p>
          <a:p>
            <a:pPr eaLnBrk="1" hangingPunct="1">
              <a:buFont typeface="Wingdings" panose="05000000000000000000" pitchFamily="2" charset="2"/>
              <a:buChar char="u"/>
            </a:pPr>
            <a:r>
              <a:rPr lang="ko-KR" altLang="en-US" dirty="0" smtClean="0"/>
              <a:t>자유</a:t>
            </a:r>
            <a:endParaRPr lang="en-US" altLang="ko-KR" dirty="0" smtClean="0"/>
          </a:p>
          <a:p>
            <a:pPr marL="0" indent="0" eaLnBrk="1" hangingPunct="1">
              <a:buNone/>
            </a:pPr>
            <a:r>
              <a:rPr lang="en-US" altLang="ko-KR" dirty="0" smtClean="0"/>
              <a:t>   - </a:t>
            </a:r>
            <a:r>
              <a:rPr lang="ko-KR" altLang="en-US" dirty="0" smtClean="0"/>
              <a:t>집단으로부터 행동의 자유</a:t>
            </a:r>
            <a:endParaRPr lang="en-US" altLang="ko-KR" dirty="0" smtClean="0"/>
          </a:p>
          <a:p>
            <a:pPr marL="0" indent="0" eaLnBrk="1" hangingPunct="1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   </a:t>
            </a:r>
            <a:r>
              <a:rPr lang="en-US" altLang="ko-KR" dirty="0" smtClean="0">
                <a:sym typeface="Wingdings" panose="05000000000000000000" pitchFamily="2" charset="2"/>
              </a:rPr>
              <a:t> </a:t>
            </a:r>
            <a:r>
              <a:rPr lang="ko-KR" altLang="en-US" dirty="0" smtClean="0">
                <a:sym typeface="Wingdings" panose="05000000000000000000" pitchFamily="2" charset="2"/>
              </a:rPr>
              <a:t>개성</a:t>
            </a:r>
            <a:r>
              <a:rPr lang="en-US" altLang="ko-KR" dirty="0" smtClean="0">
                <a:sym typeface="Wingdings" panose="05000000000000000000" pitchFamily="2" charset="2"/>
              </a:rPr>
              <a:t>, </a:t>
            </a:r>
            <a:r>
              <a:rPr lang="ko-KR" altLang="en-US" dirty="0" smtClean="0">
                <a:sym typeface="Wingdings" panose="05000000000000000000" pitchFamily="2" charset="2"/>
              </a:rPr>
              <a:t>자신의 독특성을 추구</a:t>
            </a:r>
            <a:endParaRPr lang="en-US" altLang="ko-KR" dirty="0" smtClean="0">
              <a:sym typeface="Wingdings" panose="05000000000000000000" pitchFamily="2" charset="2"/>
            </a:endParaRPr>
          </a:p>
          <a:p>
            <a:pPr marL="0" indent="0" eaLnBrk="1" hangingPunct="1">
              <a:buNone/>
            </a:pP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en-US" altLang="ko-KR" dirty="0" smtClean="0">
                <a:sym typeface="Wingdings" panose="05000000000000000000" pitchFamily="2" charset="2"/>
              </a:rPr>
              <a:t>     </a:t>
            </a:r>
            <a:r>
              <a:rPr lang="ko-KR" altLang="en-US" dirty="0" smtClean="0">
                <a:sym typeface="Wingdings" panose="05000000000000000000" pitchFamily="2" charset="2"/>
              </a:rPr>
              <a:t>자신이 책임지고 할 일이 많아짐</a:t>
            </a:r>
            <a:endParaRPr lang="en-US" altLang="ko-KR" dirty="0" smtClean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ko-KR" altLang="en-US" smtClean="0"/>
              <a:t>미디어와 공동체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28700468"/>
      </p:ext>
    </p:extLst>
  </p:cSld>
  <p:clrMapOvr>
    <a:masterClrMapping/>
  </p:clrMapOvr>
  <p:transition advTm="297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내용 개체 틀 2"/>
          <p:cNvSpPr>
            <a:spLocks noGrp="1"/>
          </p:cNvSpPr>
          <p:nvPr>
            <p:ph idx="1"/>
          </p:nvPr>
        </p:nvSpPr>
        <p:spPr>
          <a:xfrm>
            <a:off x="571486" y="692696"/>
            <a:ext cx="8001028" cy="5593804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u"/>
            </a:pPr>
            <a:r>
              <a:rPr lang="en-US" altLang="ko-K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‘</a:t>
            </a:r>
            <a:r>
              <a:rPr lang="ko-KR" alt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차가운 도시 사람</a:t>
            </a:r>
            <a:r>
              <a:rPr lang="en-US" altLang="ko-K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’</a:t>
            </a:r>
            <a:r>
              <a:rPr lang="ko-KR" alt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이 많아지는 이유</a:t>
            </a:r>
            <a:endParaRPr lang="en-US" altLang="ko-KR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eaLnBrk="1" hangingPunct="1">
              <a:buNone/>
            </a:pPr>
            <a:r>
              <a:rPr lang="en-US" altLang="ko-KR" dirty="0" smtClean="0"/>
              <a:t>   1) </a:t>
            </a:r>
            <a:r>
              <a:rPr lang="ko-KR" altLang="en-US" dirty="0" smtClean="0"/>
              <a:t>업무 추진의 정확성</a:t>
            </a:r>
            <a:r>
              <a:rPr lang="en-US" altLang="ko-KR" dirty="0" smtClean="0"/>
              <a:t>, </a:t>
            </a:r>
            <a:r>
              <a:rPr lang="ko-KR" altLang="en-US" dirty="0" smtClean="0"/>
              <a:t>확실성</a:t>
            </a:r>
            <a:r>
              <a:rPr lang="en-US" altLang="ko-KR" dirty="0" smtClean="0"/>
              <a:t>, </a:t>
            </a:r>
            <a:r>
              <a:rPr lang="ko-KR" altLang="en-US" dirty="0" smtClean="0"/>
              <a:t>계산가능성을 요구하는 도시의 삶</a:t>
            </a:r>
            <a:endParaRPr lang="en-US" altLang="ko-KR" dirty="0" smtClean="0"/>
          </a:p>
          <a:p>
            <a:pPr marL="0" indent="0" eaLnBrk="1" hangingPunct="1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   </a:t>
            </a:r>
            <a:r>
              <a:rPr lang="en-US" altLang="ko-KR" dirty="0" smtClean="0">
                <a:sym typeface="Wingdings" panose="05000000000000000000" pitchFamily="2" charset="2"/>
              </a:rPr>
              <a:t> </a:t>
            </a:r>
            <a:r>
              <a:rPr lang="ko-KR" altLang="en-US" dirty="0" smtClean="0">
                <a:sym typeface="Wingdings" panose="05000000000000000000" pitchFamily="2" charset="2"/>
              </a:rPr>
              <a:t>비합리적</a:t>
            </a:r>
            <a:r>
              <a:rPr lang="en-US" altLang="ko-KR" dirty="0" smtClean="0">
                <a:sym typeface="Wingdings" panose="05000000000000000000" pitchFamily="2" charset="2"/>
              </a:rPr>
              <a:t>, </a:t>
            </a:r>
            <a:r>
              <a:rPr lang="ko-KR" altLang="en-US" dirty="0" smtClean="0">
                <a:sym typeface="Wingdings" panose="05000000000000000000" pitchFamily="2" charset="2"/>
              </a:rPr>
              <a:t>본능적 기질과 성향 배제</a:t>
            </a:r>
            <a:endParaRPr lang="en-US" altLang="ko-KR" dirty="0" smtClean="0">
              <a:sym typeface="Wingdings" panose="05000000000000000000" pitchFamily="2" charset="2"/>
            </a:endParaRPr>
          </a:p>
          <a:p>
            <a:pPr marL="0" indent="0" eaLnBrk="1" hangingPunct="1">
              <a:buNone/>
            </a:pPr>
            <a:r>
              <a:rPr lang="en-US" altLang="ko-K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  <a:p>
            <a:pPr marL="0" indent="0" eaLnBrk="1" hangingPunct="1">
              <a:buNone/>
            </a:pPr>
            <a:r>
              <a:rPr lang="en-US" altLang="ko-K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2) </a:t>
            </a:r>
            <a:r>
              <a:rPr lang="ko-KR" alt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돈 </a:t>
            </a:r>
            <a:r>
              <a:rPr lang="en-US" altLang="ko-K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– </a:t>
            </a:r>
            <a:r>
              <a:rPr lang="ko-KR" alt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평준화 기계</a:t>
            </a:r>
            <a:endParaRPr lang="en-US" altLang="ko-KR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eaLnBrk="1" hangingPunct="1">
              <a:buNone/>
            </a:pPr>
            <a:r>
              <a:rPr lang="ko-KR" altLang="en-US" dirty="0" smtClean="0"/>
              <a:t>    </a:t>
            </a:r>
            <a:r>
              <a:rPr lang="en-US" altLang="ko-KR" dirty="0" smtClean="0"/>
              <a:t>- </a:t>
            </a:r>
            <a:r>
              <a:rPr lang="ko-KR" altLang="en-US" dirty="0" smtClean="0"/>
              <a:t>사물을 돈으로 수치화하여 평가</a:t>
            </a:r>
            <a:endParaRPr lang="en-US" altLang="ko-KR" dirty="0" smtClean="0"/>
          </a:p>
          <a:p>
            <a:pPr marL="0" indent="0" eaLnBrk="1" hangingPunct="1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   </a:t>
            </a:r>
            <a:r>
              <a:rPr lang="en-US" altLang="ko-KR" dirty="0" smtClean="0">
                <a:sym typeface="Wingdings" panose="05000000000000000000" pitchFamily="2" charset="2"/>
              </a:rPr>
              <a:t> </a:t>
            </a:r>
            <a:r>
              <a:rPr lang="ko-KR" altLang="en-US" dirty="0" smtClean="0"/>
              <a:t>사물의 핵심과 고유성</a:t>
            </a:r>
            <a:r>
              <a:rPr lang="en-US" altLang="ko-KR" dirty="0" smtClean="0"/>
              <a:t>, </a:t>
            </a:r>
            <a:r>
              <a:rPr lang="ko-KR" altLang="en-US" dirty="0" smtClean="0"/>
              <a:t>특별한 가치 등을 주목하지 않게 됨</a:t>
            </a:r>
            <a:endParaRPr lang="en-US" altLang="ko-KR" dirty="0" smtClean="0"/>
          </a:p>
          <a:p>
            <a:pPr marL="0" indent="0" eaLnBrk="1" hangingPunct="1">
              <a:buNone/>
            </a:pPr>
            <a:endParaRPr lang="en-US" altLang="ko-K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eaLnBrk="1" hangingPunct="1">
              <a:buNone/>
            </a:pPr>
            <a:r>
              <a:rPr lang="ko-KR" alt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</a:t>
            </a:r>
            <a:r>
              <a:rPr lang="en-US" altLang="ko-K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r>
              <a:rPr lang="en-US" altLang="ko-K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 </a:t>
            </a:r>
            <a:r>
              <a:rPr lang="ko-KR" alt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속내 감추기</a:t>
            </a:r>
            <a:endParaRPr lang="en-US" altLang="ko-KR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eaLnBrk="1" hangingPunct="1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  - </a:t>
            </a:r>
            <a:r>
              <a:rPr lang="ko-KR" altLang="en-US" dirty="0" smtClean="0"/>
              <a:t>무수한 사람들과의 쉴 새 없는 만남에 대해 매번 내밀한 반응을 보여야 한다면</a:t>
            </a:r>
            <a:r>
              <a:rPr lang="en-US" altLang="ko-KR" dirty="0" smtClean="0"/>
              <a:t>, </a:t>
            </a:r>
            <a:r>
              <a:rPr lang="ko-KR" altLang="en-US" dirty="0" smtClean="0"/>
              <a:t>정신적으로 어려운 상태가 될 것</a:t>
            </a:r>
            <a:endParaRPr lang="en-US" altLang="ko-KR" dirty="0" smtClean="0"/>
          </a:p>
          <a:p>
            <a:pPr marL="0" indent="0" eaLnBrk="1" hangingPunct="1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   cf.) </a:t>
            </a:r>
            <a:r>
              <a:rPr lang="ko-KR" altLang="en-US" dirty="0" smtClean="0"/>
              <a:t>소도시의 </a:t>
            </a:r>
            <a:r>
              <a:rPr lang="en-US" altLang="ko-KR" dirty="0" smtClean="0"/>
              <a:t>“</a:t>
            </a:r>
            <a:r>
              <a:rPr lang="ko-KR" altLang="en-US" dirty="0" smtClean="0"/>
              <a:t>정감 있는</a:t>
            </a:r>
            <a:r>
              <a:rPr lang="en-US" altLang="ko-KR" dirty="0" smtClean="0"/>
              <a:t>” </a:t>
            </a:r>
            <a:r>
              <a:rPr lang="ko-KR" altLang="en-US" dirty="0" smtClean="0"/>
              <a:t>가게 주인</a:t>
            </a: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ko-KR" altLang="en-US" smtClean="0"/>
              <a:t>미디어와 공동체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75640855"/>
      </p:ext>
    </p:extLst>
  </p:cSld>
  <p:clrMapOvr>
    <a:masterClrMapping/>
  </p:clrMapOvr>
  <p:transition advTm="297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내용 개체 틀 2"/>
          <p:cNvSpPr>
            <a:spLocks noGrp="1"/>
          </p:cNvSpPr>
          <p:nvPr>
            <p:ph idx="1"/>
          </p:nvPr>
        </p:nvSpPr>
        <p:spPr>
          <a:xfrm>
            <a:off x="571486" y="955626"/>
            <a:ext cx="8001028" cy="4993654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u"/>
            </a:pPr>
            <a:r>
              <a:rPr lang="ko-KR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소도시</a:t>
            </a:r>
            <a:r>
              <a:rPr lang="en-US" altLang="ko-K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ko-KR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농촌 공동체에서의 삶</a:t>
            </a:r>
            <a:endParaRPr lang="en-US" altLang="ko-KR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eaLnBrk="1" hangingPunct="1">
              <a:buNone/>
            </a:pPr>
            <a:endParaRPr lang="en-US" altLang="ko-KR" dirty="0" smtClean="0">
              <a:sym typeface="Wingdings" panose="05000000000000000000" pitchFamily="2" charset="2"/>
            </a:endParaRPr>
          </a:p>
          <a:p>
            <a:pPr marL="0" indent="0" eaLnBrk="1" hangingPunct="1">
              <a:buNone/>
            </a:pPr>
            <a:r>
              <a:rPr lang="en-US" altLang="ko-KR" dirty="0" smtClean="0">
                <a:sym typeface="Wingdings" panose="05000000000000000000" pitchFamily="2" charset="2"/>
              </a:rPr>
              <a:t>   </a:t>
            </a:r>
            <a:r>
              <a:rPr lang="ko-KR" altLang="en-US" dirty="0"/>
              <a:t>개인의 일</a:t>
            </a:r>
            <a:r>
              <a:rPr lang="en-US" altLang="ko-KR" dirty="0"/>
              <a:t>, </a:t>
            </a:r>
            <a:r>
              <a:rPr lang="ko-KR" altLang="en-US" dirty="0"/>
              <a:t>생활양식</a:t>
            </a:r>
            <a:r>
              <a:rPr lang="en-US" altLang="ko-KR" dirty="0"/>
              <a:t>, </a:t>
            </a:r>
            <a:r>
              <a:rPr lang="ko-KR" altLang="en-US" dirty="0" smtClean="0"/>
              <a:t>사고방식에 대한 감시와 간섭</a:t>
            </a:r>
            <a:endParaRPr lang="en-US" altLang="ko-KR" dirty="0"/>
          </a:p>
          <a:p>
            <a:pPr marL="0" indent="0" eaLnBrk="1" hangingPunct="1">
              <a:buNone/>
            </a:pPr>
            <a:r>
              <a:rPr lang="en-US" altLang="ko-KR" dirty="0" smtClean="0"/>
              <a:t>  </a:t>
            </a:r>
            <a:r>
              <a:rPr lang="en-US" altLang="ko-KR" dirty="0" smtClean="0">
                <a:sym typeface="Wingdings" panose="05000000000000000000" pitchFamily="2" charset="2"/>
              </a:rPr>
              <a:t> </a:t>
            </a:r>
            <a:r>
              <a:rPr lang="ko-KR" altLang="en-US" dirty="0" smtClean="0">
                <a:sym typeface="Wingdings" panose="05000000000000000000" pitchFamily="2" charset="2"/>
              </a:rPr>
              <a:t>내부 결속력 높고 폐쇄적인 집단 형성</a:t>
            </a:r>
            <a:endParaRPr lang="en-US" altLang="ko-KR" dirty="0"/>
          </a:p>
          <a:p>
            <a:pPr marL="0" indent="0" eaLnBrk="1" hangingPunct="1">
              <a:buNone/>
            </a:pPr>
            <a:r>
              <a:rPr lang="ko-KR" altLang="en-US" dirty="0" smtClean="0"/>
              <a:t>  </a:t>
            </a:r>
            <a:r>
              <a:rPr lang="en-US" altLang="ko-KR" dirty="0" smtClean="0">
                <a:sym typeface="Wingdings" panose="05000000000000000000" pitchFamily="2" charset="2"/>
              </a:rPr>
              <a:t> </a:t>
            </a:r>
            <a:r>
              <a:rPr lang="ko-KR" altLang="en-US" dirty="0" smtClean="0">
                <a:sym typeface="Wingdings" panose="05000000000000000000" pitchFamily="2" charset="2"/>
              </a:rPr>
              <a:t>개성을 추구하기 어렵고</a:t>
            </a:r>
            <a:r>
              <a:rPr lang="en-US" altLang="ko-KR" dirty="0" smtClean="0">
                <a:sym typeface="Wingdings" panose="05000000000000000000" pitchFamily="2" charset="2"/>
              </a:rPr>
              <a:t>, </a:t>
            </a:r>
            <a:r>
              <a:rPr lang="ko-KR" altLang="en-US" dirty="0" smtClean="0">
                <a:sym typeface="Wingdings" panose="05000000000000000000" pitchFamily="2" charset="2"/>
              </a:rPr>
              <a:t>행동 선택 여지가 좁음</a:t>
            </a:r>
            <a:endParaRPr lang="en-US" altLang="ko-KR" dirty="0" smtClean="0">
              <a:sym typeface="Wingdings" panose="05000000000000000000" pitchFamily="2" charset="2"/>
            </a:endParaRPr>
          </a:p>
          <a:p>
            <a:pPr marL="0" indent="0" eaLnBrk="1" hangingPunct="1">
              <a:buNone/>
            </a:pPr>
            <a:r>
              <a:rPr lang="en-US" altLang="ko-KR" dirty="0" smtClean="0"/>
              <a:t>      “</a:t>
            </a:r>
            <a:r>
              <a:rPr lang="ko-KR" altLang="en-US" dirty="0" smtClean="0"/>
              <a:t>답답함</a:t>
            </a:r>
            <a:r>
              <a:rPr lang="en-US" altLang="ko-KR" dirty="0" smtClean="0"/>
              <a:t>”</a:t>
            </a:r>
          </a:p>
          <a:p>
            <a:pPr marL="0" indent="0" eaLnBrk="1" hangingPunct="1">
              <a:buNone/>
            </a:pPr>
            <a:endParaRPr lang="en-US" altLang="ko-KR" dirty="0"/>
          </a:p>
          <a:p>
            <a:pPr marL="0" indent="0" eaLnBrk="1" hangingPunct="1">
              <a:buNone/>
            </a:pPr>
            <a:r>
              <a:rPr lang="en-US" altLang="ko-KR" dirty="0" smtClean="0"/>
              <a:t>cf.) </a:t>
            </a:r>
            <a:r>
              <a:rPr lang="ko-KR" altLang="en-US" dirty="0" smtClean="0"/>
              <a:t>도시의 삶 </a:t>
            </a:r>
            <a:r>
              <a:rPr lang="en-US" altLang="ko-KR" dirty="0" smtClean="0"/>
              <a:t>- </a:t>
            </a:r>
            <a:r>
              <a:rPr lang="ko-KR" altLang="en-US" dirty="0" smtClean="0"/>
              <a:t>집단의 </a:t>
            </a:r>
            <a:r>
              <a:rPr lang="ko-KR" altLang="en-US" dirty="0" smtClean="0">
                <a:sym typeface="Wingdings" panose="05000000000000000000" pitchFamily="2" charset="2"/>
              </a:rPr>
              <a:t>내적 통일 </a:t>
            </a:r>
            <a:r>
              <a:rPr lang="ko-KR" altLang="en-US" dirty="0" err="1" smtClean="0">
                <a:sym typeface="Wingdings" panose="05000000000000000000" pitchFamily="2" charset="2"/>
              </a:rPr>
              <a:t>느슨해짐</a:t>
            </a:r>
            <a:endParaRPr lang="en-US" altLang="ko-KR" dirty="0" smtClean="0">
              <a:sym typeface="Wingdings" panose="05000000000000000000" pitchFamily="2" charset="2"/>
            </a:endParaRPr>
          </a:p>
          <a:p>
            <a:pPr eaLnBrk="1" hangingPunct="1">
              <a:buFont typeface="Wingdings" panose="05000000000000000000" pitchFamily="2" charset="2"/>
              <a:buChar char="è"/>
            </a:pP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 smtClean="0">
                <a:sym typeface="Wingdings" panose="05000000000000000000" pitchFamily="2" charset="2"/>
              </a:rPr>
              <a:t>행동의 자유</a:t>
            </a:r>
            <a:r>
              <a:rPr lang="en-US" altLang="ko-KR" dirty="0" smtClean="0">
                <a:sym typeface="Wingdings" panose="05000000000000000000" pitchFamily="2" charset="2"/>
              </a:rPr>
              <a:t>, </a:t>
            </a:r>
            <a:r>
              <a:rPr lang="ko-KR" altLang="en-US" dirty="0" smtClean="0">
                <a:sym typeface="Wingdings" panose="05000000000000000000" pitchFamily="2" charset="2"/>
              </a:rPr>
              <a:t>개성과 특수성 획득</a:t>
            </a:r>
            <a:endParaRPr lang="en-US" altLang="ko-KR" dirty="0" smtClean="0">
              <a:sym typeface="Wingdings" panose="05000000000000000000" pitchFamily="2" charset="2"/>
            </a:endParaRPr>
          </a:p>
          <a:p>
            <a:pPr marL="0" indent="0" eaLnBrk="1" hangingPunct="1">
              <a:buNone/>
            </a:pPr>
            <a:r>
              <a:rPr lang="en-US" altLang="ko-KR" dirty="0" smtClean="0">
                <a:sym typeface="Wingdings" panose="05000000000000000000" pitchFamily="2" charset="2"/>
              </a:rPr>
              <a:t>    “</a:t>
            </a:r>
            <a:r>
              <a:rPr lang="ko-KR" altLang="en-US" dirty="0" smtClean="0">
                <a:sym typeface="Wingdings" panose="05000000000000000000" pitchFamily="2" charset="2"/>
              </a:rPr>
              <a:t>외롭고 쓸쓸함</a:t>
            </a:r>
            <a:r>
              <a:rPr lang="en-US" altLang="ko-KR" dirty="0" smtClean="0">
                <a:sym typeface="Wingdings" panose="05000000000000000000" pitchFamily="2" charset="2"/>
              </a:rPr>
              <a:t>”</a:t>
            </a: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ko-KR" altLang="en-US" smtClean="0"/>
              <a:t>미디어와 공동체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54768985"/>
      </p:ext>
    </p:extLst>
  </p:cSld>
  <p:clrMapOvr>
    <a:masterClrMapping/>
  </p:clrMapOvr>
  <p:transition advTm="297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26984</TotalTime>
  <Words>622</Words>
  <Application>Microsoft Office PowerPoint</Application>
  <PresentationFormat>화면 슬라이드 쇼(4:3)</PresentationFormat>
  <Paragraphs>110</Paragraphs>
  <Slides>10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9" baseType="lpstr">
      <vt:lpstr>가는안상수체</vt:lpstr>
      <vt:lpstr>굴림</vt:lpstr>
      <vt:lpstr>맑은 고딕</vt:lpstr>
      <vt:lpstr>안상수2006가는</vt:lpstr>
      <vt:lpstr>휴먼모음T</vt:lpstr>
      <vt:lpstr>Arial</vt:lpstr>
      <vt:lpstr>Arial Rounded MT Bold</vt:lpstr>
      <vt:lpstr>Wingdings</vt:lpstr>
      <vt:lpstr>Office 테마</vt:lpstr>
      <vt:lpstr>  현대사회의 공동체  </vt:lpstr>
      <vt:lpstr> 1. “살기 좋은 동네”의 두 모델</vt:lpstr>
      <vt:lpstr>PowerPoint 프레젠테이션</vt:lpstr>
      <vt:lpstr>PowerPoint 프레젠테이션</vt:lpstr>
      <vt:lpstr> 공동체의 의미</vt:lpstr>
      <vt:lpstr> 2. 공동체의 가치</vt:lpstr>
      <vt:lpstr>공동체의 문제점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커뮤니케이션의 개념과 모델</dc:title>
  <dc:creator>bawimul</dc:creator>
  <cp:lastModifiedBy>Windows 사용자</cp:lastModifiedBy>
  <cp:revision>1157</cp:revision>
  <dcterms:created xsi:type="dcterms:W3CDTF">2009-03-15T10:41:15Z</dcterms:created>
  <dcterms:modified xsi:type="dcterms:W3CDTF">2025-10-06T14:09:24Z</dcterms:modified>
</cp:coreProperties>
</file>