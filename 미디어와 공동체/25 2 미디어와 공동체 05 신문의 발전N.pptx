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408" r:id="rId3"/>
    <p:sldId id="389" r:id="rId4"/>
    <p:sldId id="410" r:id="rId5"/>
    <p:sldId id="440" r:id="rId6"/>
    <p:sldId id="411" r:id="rId7"/>
    <p:sldId id="412" r:id="rId8"/>
    <p:sldId id="413" r:id="rId9"/>
    <p:sldId id="414" r:id="rId10"/>
    <p:sldId id="415" r:id="rId11"/>
    <p:sldId id="442" r:id="rId12"/>
    <p:sldId id="431" r:id="rId13"/>
    <p:sldId id="441" r:id="rId14"/>
  </p:sldIdLst>
  <p:sldSz cx="9144000" cy="6858000" type="screen4x3"/>
  <p:notesSz cx="9144000" cy="6858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2" autoAdjust="0"/>
    <p:restoredTop sz="81462" autoAdjust="0"/>
  </p:normalViewPr>
  <p:slideViewPr>
    <p:cSldViewPr>
      <p:cViewPr varScale="1">
        <p:scale>
          <a:sx n="83" d="100"/>
          <a:sy n="83" d="100"/>
        </p:scale>
        <p:origin x="107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4" d="100"/>
          <a:sy n="74" d="100"/>
        </p:scale>
        <p:origin x="-942" y="-102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FF66CF-CE13-4D5D-B4A2-EEA67534577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567F313C-FEB8-4839-BDF4-834F39CC64E3}">
      <dgm:prSet phldrT="[텍스트]"/>
      <dgm:spPr>
        <a:solidFill>
          <a:srgbClr val="7030A0"/>
        </a:solidFill>
      </dgm:spPr>
      <dgm:t>
        <a:bodyPr/>
        <a:lstStyle/>
        <a:p>
          <a:pPr latinLnBrk="1"/>
          <a:r>
            <a:rPr lang="ko-KR" altLang="en-US" dirty="0" smtClean="0"/>
            <a:t>구전 </a:t>
          </a:r>
          <a:r>
            <a:rPr lang="en-US" altLang="ko-KR" dirty="0" smtClean="0"/>
            <a:t>/ </a:t>
          </a:r>
          <a:r>
            <a:rPr lang="ko-KR" altLang="en-US" dirty="0" smtClean="0"/>
            <a:t>노래</a:t>
          </a:r>
          <a:endParaRPr lang="ko-KR" altLang="en-US" dirty="0"/>
        </a:p>
      </dgm:t>
    </dgm:pt>
    <dgm:pt modelId="{41EF2797-A01B-461B-8464-E3375D7D4CAE}" type="parTrans" cxnId="{B872014D-A08F-4B74-BEE5-FDE84575A1AE}">
      <dgm:prSet/>
      <dgm:spPr/>
      <dgm:t>
        <a:bodyPr/>
        <a:lstStyle/>
        <a:p>
          <a:pPr latinLnBrk="1"/>
          <a:endParaRPr lang="ko-KR" altLang="en-US"/>
        </a:p>
      </dgm:t>
    </dgm:pt>
    <dgm:pt modelId="{BF2E0D28-E2A9-4B27-8C7A-ECAE82199C25}" type="sibTrans" cxnId="{B872014D-A08F-4B74-BEE5-FDE84575A1AE}">
      <dgm:prSet/>
      <dgm:spPr/>
      <dgm:t>
        <a:bodyPr/>
        <a:lstStyle/>
        <a:p>
          <a:pPr latinLnBrk="1"/>
          <a:endParaRPr lang="ko-KR" altLang="en-US"/>
        </a:p>
      </dgm:t>
    </dgm:pt>
    <dgm:pt modelId="{C03F5F19-E1F8-4A3C-90AF-109593FC6004}">
      <dgm:prSet phldrT="[텍스트]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 latinLnBrk="1"/>
          <a:r>
            <a:rPr lang="ko-KR" altLang="en-US" dirty="0" smtClean="0"/>
            <a:t>신문 </a:t>
          </a:r>
          <a:r>
            <a:rPr lang="en-US" altLang="ko-KR" dirty="0" smtClean="0"/>
            <a:t>(</a:t>
          </a:r>
          <a:r>
            <a:rPr lang="ko-KR" altLang="en-US" dirty="0" smtClean="0"/>
            <a:t>종이</a:t>
          </a:r>
          <a:r>
            <a:rPr lang="en-US" altLang="ko-KR" dirty="0" smtClean="0"/>
            <a:t>)</a:t>
          </a:r>
          <a:endParaRPr lang="ko-KR" altLang="en-US" dirty="0"/>
        </a:p>
      </dgm:t>
    </dgm:pt>
    <dgm:pt modelId="{7D9872E5-B2DF-40F9-8689-DF6E01687FBC}" type="parTrans" cxnId="{382E9834-D923-496A-A520-62F680EDB28F}">
      <dgm:prSet/>
      <dgm:spPr/>
      <dgm:t>
        <a:bodyPr/>
        <a:lstStyle/>
        <a:p>
          <a:pPr latinLnBrk="1"/>
          <a:endParaRPr lang="ko-KR" altLang="en-US"/>
        </a:p>
      </dgm:t>
    </dgm:pt>
    <dgm:pt modelId="{AE737673-C9F7-4A64-B5AB-8E174AD3BB82}" type="sibTrans" cxnId="{382E9834-D923-496A-A520-62F680EDB28F}">
      <dgm:prSet/>
      <dgm:spPr/>
      <dgm:t>
        <a:bodyPr/>
        <a:lstStyle/>
        <a:p>
          <a:pPr latinLnBrk="1"/>
          <a:endParaRPr lang="ko-KR" altLang="en-US"/>
        </a:p>
      </dgm:t>
    </dgm:pt>
    <dgm:pt modelId="{EA6B7898-DB32-469B-8CB1-AE376752B847}">
      <dgm:prSet phldrT="[텍스트]"/>
      <dgm:spPr>
        <a:solidFill>
          <a:schemeClr val="accent1">
            <a:lumMod val="50000"/>
          </a:schemeClr>
        </a:solidFill>
      </dgm:spPr>
      <dgm:t>
        <a:bodyPr/>
        <a:lstStyle/>
        <a:p>
          <a:pPr latinLnBrk="1"/>
          <a:r>
            <a:rPr lang="ko-KR" altLang="en-US" dirty="0" smtClean="0"/>
            <a:t>온라인 </a:t>
          </a:r>
          <a:r>
            <a:rPr lang="en-US" altLang="ko-KR" dirty="0" smtClean="0"/>
            <a:t>(PC, </a:t>
          </a:r>
          <a:r>
            <a:rPr lang="ko-KR" altLang="en-US" dirty="0" smtClean="0"/>
            <a:t>스마트폰</a:t>
          </a:r>
          <a:r>
            <a:rPr lang="en-US" altLang="ko-KR" dirty="0" smtClean="0"/>
            <a:t>)</a:t>
          </a:r>
          <a:endParaRPr lang="ko-KR" altLang="en-US" dirty="0"/>
        </a:p>
      </dgm:t>
    </dgm:pt>
    <dgm:pt modelId="{611F7D28-99A3-474D-8242-0FACE6BC00FF}" type="parTrans" cxnId="{DDA50B0F-FFE1-43E4-870D-77F3A60BC3D1}">
      <dgm:prSet/>
      <dgm:spPr/>
      <dgm:t>
        <a:bodyPr/>
        <a:lstStyle/>
        <a:p>
          <a:pPr latinLnBrk="1"/>
          <a:endParaRPr lang="ko-KR" altLang="en-US"/>
        </a:p>
      </dgm:t>
    </dgm:pt>
    <dgm:pt modelId="{AF30BD8F-66B7-4214-88F9-C0087C418428}" type="sibTrans" cxnId="{DDA50B0F-FFE1-43E4-870D-77F3A60BC3D1}">
      <dgm:prSet/>
      <dgm:spPr/>
      <dgm:t>
        <a:bodyPr/>
        <a:lstStyle/>
        <a:p>
          <a:pPr latinLnBrk="1"/>
          <a:endParaRPr lang="ko-KR" altLang="en-US"/>
        </a:p>
      </dgm:t>
    </dgm:pt>
    <dgm:pt modelId="{7D449920-C60E-4D8B-B82D-73D4F3D24522}" type="pres">
      <dgm:prSet presAssocID="{AFFF66CF-CE13-4D5D-B4A2-EEA67534577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A2BFA8E-0D48-434C-9DFC-2DAFB6B1A091}" type="pres">
      <dgm:prSet presAssocID="{567F313C-FEB8-4839-BDF4-834F39CC64E3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3569441-7B46-4C41-94F7-5D58BDF8C469}" type="pres">
      <dgm:prSet presAssocID="{BF2E0D28-E2A9-4B27-8C7A-ECAE82199C25}" presName="sibTrans" presStyleLbl="sibTrans2D1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0643AB7F-A7DF-498A-8498-35A59D50CE08}" type="pres">
      <dgm:prSet presAssocID="{BF2E0D28-E2A9-4B27-8C7A-ECAE82199C25}" presName="connectorText" presStyleLbl="sibTrans2D1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0071402F-D97B-4170-A173-68182AF987B9}" type="pres">
      <dgm:prSet presAssocID="{C03F5F19-E1F8-4A3C-90AF-109593FC6004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DEED165-3723-438B-A4CF-FB99C5C7CB15}" type="pres">
      <dgm:prSet presAssocID="{AE737673-C9F7-4A64-B5AB-8E174AD3BB82}" presName="sibTrans" presStyleLbl="sibTrans2D1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B082EE17-0C85-44DD-9082-81231697A9F5}" type="pres">
      <dgm:prSet presAssocID="{AE737673-C9F7-4A64-B5AB-8E174AD3BB82}" presName="connectorText" presStyleLbl="sibTrans2D1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5C72626C-1675-452E-941D-7E5788D42064}" type="pres">
      <dgm:prSet presAssocID="{EA6B7898-DB32-469B-8CB1-AE376752B847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37DEC173-C663-485D-A64E-0AC8907AC51E}" type="presOf" srcId="{C03F5F19-E1F8-4A3C-90AF-109593FC6004}" destId="{0071402F-D97B-4170-A173-68182AF987B9}" srcOrd="0" destOrd="0" presId="urn:microsoft.com/office/officeart/2005/8/layout/process1"/>
    <dgm:cxn modelId="{AE161980-0531-48E2-B7BE-8583EE15D548}" type="presOf" srcId="{BF2E0D28-E2A9-4B27-8C7A-ECAE82199C25}" destId="{0643AB7F-A7DF-498A-8498-35A59D50CE08}" srcOrd="1" destOrd="0" presId="urn:microsoft.com/office/officeart/2005/8/layout/process1"/>
    <dgm:cxn modelId="{FA26A9EA-F4C8-441E-846E-74FE54813C0A}" type="presOf" srcId="{EA6B7898-DB32-469B-8CB1-AE376752B847}" destId="{5C72626C-1675-452E-941D-7E5788D42064}" srcOrd="0" destOrd="0" presId="urn:microsoft.com/office/officeart/2005/8/layout/process1"/>
    <dgm:cxn modelId="{165759D4-14B5-4578-9ED1-D15CC5639852}" type="presOf" srcId="{AE737673-C9F7-4A64-B5AB-8E174AD3BB82}" destId="{B082EE17-0C85-44DD-9082-81231697A9F5}" srcOrd="1" destOrd="0" presId="urn:microsoft.com/office/officeart/2005/8/layout/process1"/>
    <dgm:cxn modelId="{8BF20324-1B7D-4A34-A016-C61B06C9F622}" type="presOf" srcId="{AFFF66CF-CE13-4D5D-B4A2-EEA67534577B}" destId="{7D449920-C60E-4D8B-B82D-73D4F3D24522}" srcOrd="0" destOrd="0" presId="urn:microsoft.com/office/officeart/2005/8/layout/process1"/>
    <dgm:cxn modelId="{DDA50B0F-FFE1-43E4-870D-77F3A60BC3D1}" srcId="{AFFF66CF-CE13-4D5D-B4A2-EEA67534577B}" destId="{EA6B7898-DB32-469B-8CB1-AE376752B847}" srcOrd="2" destOrd="0" parTransId="{611F7D28-99A3-474D-8242-0FACE6BC00FF}" sibTransId="{AF30BD8F-66B7-4214-88F9-C0087C418428}"/>
    <dgm:cxn modelId="{80F0A23E-B38C-4CC7-A829-42D85DBA293D}" type="presOf" srcId="{BF2E0D28-E2A9-4B27-8C7A-ECAE82199C25}" destId="{93569441-7B46-4C41-94F7-5D58BDF8C469}" srcOrd="0" destOrd="0" presId="urn:microsoft.com/office/officeart/2005/8/layout/process1"/>
    <dgm:cxn modelId="{B872014D-A08F-4B74-BEE5-FDE84575A1AE}" srcId="{AFFF66CF-CE13-4D5D-B4A2-EEA67534577B}" destId="{567F313C-FEB8-4839-BDF4-834F39CC64E3}" srcOrd="0" destOrd="0" parTransId="{41EF2797-A01B-461B-8464-E3375D7D4CAE}" sibTransId="{BF2E0D28-E2A9-4B27-8C7A-ECAE82199C25}"/>
    <dgm:cxn modelId="{436F84A1-46F9-4F2D-B628-78B5E50312BB}" type="presOf" srcId="{AE737673-C9F7-4A64-B5AB-8E174AD3BB82}" destId="{4DEED165-3723-438B-A4CF-FB99C5C7CB15}" srcOrd="0" destOrd="0" presId="urn:microsoft.com/office/officeart/2005/8/layout/process1"/>
    <dgm:cxn modelId="{382E9834-D923-496A-A520-62F680EDB28F}" srcId="{AFFF66CF-CE13-4D5D-B4A2-EEA67534577B}" destId="{C03F5F19-E1F8-4A3C-90AF-109593FC6004}" srcOrd="1" destOrd="0" parTransId="{7D9872E5-B2DF-40F9-8689-DF6E01687FBC}" sibTransId="{AE737673-C9F7-4A64-B5AB-8E174AD3BB82}"/>
    <dgm:cxn modelId="{EC1AB46D-7B6E-42AA-98D7-E95D466D973D}" type="presOf" srcId="{567F313C-FEB8-4839-BDF4-834F39CC64E3}" destId="{AA2BFA8E-0D48-434C-9DFC-2DAFB6B1A091}" srcOrd="0" destOrd="0" presId="urn:microsoft.com/office/officeart/2005/8/layout/process1"/>
    <dgm:cxn modelId="{1EEF5711-9279-406F-AD6E-97A82EC347A3}" type="presParOf" srcId="{7D449920-C60E-4D8B-B82D-73D4F3D24522}" destId="{AA2BFA8E-0D48-434C-9DFC-2DAFB6B1A091}" srcOrd="0" destOrd="0" presId="urn:microsoft.com/office/officeart/2005/8/layout/process1"/>
    <dgm:cxn modelId="{14B62E3C-7D9D-4282-97F6-1972D3EABD11}" type="presParOf" srcId="{7D449920-C60E-4D8B-B82D-73D4F3D24522}" destId="{93569441-7B46-4C41-94F7-5D58BDF8C469}" srcOrd="1" destOrd="0" presId="urn:microsoft.com/office/officeart/2005/8/layout/process1"/>
    <dgm:cxn modelId="{6434691B-D1AC-4122-ABFB-8A2E6A795BCB}" type="presParOf" srcId="{93569441-7B46-4C41-94F7-5D58BDF8C469}" destId="{0643AB7F-A7DF-498A-8498-35A59D50CE08}" srcOrd="0" destOrd="0" presId="urn:microsoft.com/office/officeart/2005/8/layout/process1"/>
    <dgm:cxn modelId="{7D2BE67E-C68E-4CC8-A538-9B94D1004575}" type="presParOf" srcId="{7D449920-C60E-4D8B-B82D-73D4F3D24522}" destId="{0071402F-D97B-4170-A173-68182AF987B9}" srcOrd="2" destOrd="0" presId="urn:microsoft.com/office/officeart/2005/8/layout/process1"/>
    <dgm:cxn modelId="{D06F62DF-8884-47F4-8618-A2A48EE6E5B8}" type="presParOf" srcId="{7D449920-C60E-4D8B-B82D-73D4F3D24522}" destId="{4DEED165-3723-438B-A4CF-FB99C5C7CB15}" srcOrd="3" destOrd="0" presId="urn:microsoft.com/office/officeart/2005/8/layout/process1"/>
    <dgm:cxn modelId="{F8C8764F-B0C2-4119-A12A-0CF48B3CA12B}" type="presParOf" srcId="{4DEED165-3723-438B-A4CF-FB99C5C7CB15}" destId="{B082EE17-0C85-44DD-9082-81231697A9F5}" srcOrd="0" destOrd="0" presId="urn:microsoft.com/office/officeart/2005/8/layout/process1"/>
    <dgm:cxn modelId="{3B22AAAD-EAF4-4DCE-ABD6-58B980416E4F}" type="presParOf" srcId="{7D449920-C60E-4D8B-B82D-73D4F3D24522}" destId="{5C72626C-1675-452E-941D-7E5788D4206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2BFA8E-0D48-434C-9DFC-2DAFB6B1A091}">
      <dsp:nvSpPr>
        <dsp:cNvPr id="0" name=""/>
        <dsp:cNvSpPr/>
      </dsp:nvSpPr>
      <dsp:spPr>
        <a:xfrm>
          <a:off x="5357" y="1551582"/>
          <a:ext cx="1601390" cy="960834"/>
        </a:xfrm>
        <a:prstGeom prst="roundRect">
          <a:avLst>
            <a:gd name="adj" fmla="val 10000"/>
          </a:avLst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/>
            <a:t>구전 </a:t>
          </a:r>
          <a:r>
            <a:rPr lang="en-US" altLang="ko-KR" sz="1800" kern="1200" dirty="0" smtClean="0"/>
            <a:t>/ </a:t>
          </a:r>
          <a:r>
            <a:rPr lang="ko-KR" altLang="en-US" sz="1800" kern="1200" dirty="0" smtClean="0"/>
            <a:t>노래</a:t>
          </a:r>
          <a:endParaRPr lang="ko-KR" altLang="en-US" sz="1800" kern="1200" dirty="0"/>
        </a:p>
      </dsp:txBody>
      <dsp:txXfrm>
        <a:off x="33499" y="1579724"/>
        <a:ext cx="1545106" cy="904550"/>
      </dsp:txXfrm>
    </dsp:sp>
    <dsp:sp modelId="{93569441-7B46-4C41-94F7-5D58BDF8C469}">
      <dsp:nvSpPr>
        <dsp:cNvPr id="0" name=""/>
        <dsp:cNvSpPr/>
      </dsp:nvSpPr>
      <dsp:spPr>
        <a:xfrm>
          <a:off x="1766887" y="1833427"/>
          <a:ext cx="339494" cy="3971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100" kern="1200"/>
        </a:p>
      </dsp:txBody>
      <dsp:txXfrm>
        <a:off x="1766887" y="1912856"/>
        <a:ext cx="237646" cy="238286"/>
      </dsp:txXfrm>
    </dsp:sp>
    <dsp:sp modelId="{0071402F-D97B-4170-A173-68182AF987B9}">
      <dsp:nvSpPr>
        <dsp:cNvPr id="0" name=""/>
        <dsp:cNvSpPr/>
      </dsp:nvSpPr>
      <dsp:spPr>
        <a:xfrm>
          <a:off x="2247304" y="1551582"/>
          <a:ext cx="1601390" cy="960834"/>
        </a:xfrm>
        <a:prstGeom prst="roundRect">
          <a:avLst>
            <a:gd name="adj" fmla="val 10000"/>
          </a:avLst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/>
            <a:t>신문 </a:t>
          </a:r>
          <a:r>
            <a:rPr lang="en-US" altLang="ko-KR" sz="1800" kern="1200" dirty="0" smtClean="0"/>
            <a:t>(</a:t>
          </a:r>
          <a:r>
            <a:rPr lang="ko-KR" altLang="en-US" sz="1800" kern="1200" dirty="0" smtClean="0"/>
            <a:t>종이</a:t>
          </a:r>
          <a:r>
            <a:rPr lang="en-US" altLang="ko-KR" sz="1800" kern="1200" dirty="0" smtClean="0"/>
            <a:t>)</a:t>
          </a:r>
          <a:endParaRPr lang="ko-KR" altLang="en-US" sz="1800" kern="1200" dirty="0"/>
        </a:p>
      </dsp:txBody>
      <dsp:txXfrm>
        <a:off x="2275446" y="1579724"/>
        <a:ext cx="1545106" cy="904550"/>
      </dsp:txXfrm>
    </dsp:sp>
    <dsp:sp modelId="{4DEED165-3723-438B-A4CF-FB99C5C7CB15}">
      <dsp:nvSpPr>
        <dsp:cNvPr id="0" name=""/>
        <dsp:cNvSpPr/>
      </dsp:nvSpPr>
      <dsp:spPr>
        <a:xfrm>
          <a:off x="4008834" y="1833427"/>
          <a:ext cx="339494" cy="3971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100" kern="1200"/>
        </a:p>
      </dsp:txBody>
      <dsp:txXfrm>
        <a:off x="4008834" y="1912856"/>
        <a:ext cx="237646" cy="238286"/>
      </dsp:txXfrm>
    </dsp:sp>
    <dsp:sp modelId="{5C72626C-1675-452E-941D-7E5788D42064}">
      <dsp:nvSpPr>
        <dsp:cNvPr id="0" name=""/>
        <dsp:cNvSpPr/>
      </dsp:nvSpPr>
      <dsp:spPr>
        <a:xfrm>
          <a:off x="4489251" y="1551582"/>
          <a:ext cx="1601390" cy="960834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/>
            <a:t>온라인 </a:t>
          </a:r>
          <a:r>
            <a:rPr lang="en-US" altLang="ko-KR" sz="1800" kern="1200" dirty="0" smtClean="0"/>
            <a:t>(PC, </a:t>
          </a:r>
          <a:r>
            <a:rPr lang="ko-KR" altLang="en-US" sz="1800" kern="1200" dirty="0" smtClean="0"/>
            <a:t>스마트폰</a:t>
          </a:r>
          <a:r>
            <a:rPr lang="en-US" altLang="ko-KR" sz="1800" kern="1200" dirty="0" smtClean="0"/>
            <a:t>)</a:t>
          </a:r>
          <a:endParaRPr lang="ko-KR" altLang="en-US" sz="1800" kern="1200" dirty="0"/>
        </a:p>
      </dsp:txBody>
      <dsp:txXfrm>
        <a:off x="4517393" y="1579724"/>
        <a:ext cx="1545106" cy="904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8D371-AB36-448C-A9B3-0FE2A5CD332F}" type="datetimeFigureOut">
              <a:rPr lang="ko-KR" altLang="en-US" smtClean="0"/>
              <a:pPr/>
              <a:t>2025-09-29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BFB53-EAA6-4F99-808C-591C218867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68C417F-F973-452D-AA14-33E34B2B6958}" type="datetimeFigureOut">
              <a:rPr lang="ko-KR" altLang="en-US"/>
              <a:pPr>
                <a:defRPr/>
              </a:pPr>
              <a:t>2025-09-29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0B0025B-6956-463F-B696-8ED2A7BD3F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872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악타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푸블리카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악타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디우르나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588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뉴스의 역사</a:t>
            </a:r>
            <a:r>
              <a:rPr lang="en-US" altLang="ko-KR" dirty="0" smtClean="0"/>
              <a:t>&gt; 258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323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ko-KR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Öffentlichkeit.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021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1668</a:t>
            </a:r>
            <a:r>
              <a:rPr lang="ko-KR" altLang="en-US" dirty="0" smtClean="0"/>
              <a:t>년 런던의 </a:t>
            </a:r>
            <a:r>
              <a:rPr lang="ko-KR" altLang="en-US" smtClean="0"/>
              <a:t>커피하우스 모습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392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1844</a:t>
            </a:r>
            <a:r>
              <a:rPr lang="ko-KR" altLang="en-US" dirty="0" smtClean="0"/>
              <a:t>년 모스 유선통신</a:t>
            </a:r>
            <a:r>
              <a:rPr lang="en-US" altLang="ko-KR" dirty="0" smtClean="0"/>
              <a:t>/</a:t>
            </a:r>
            <a:r>
              <a:rPr lang="ko-KR" altLang="en-US" dirty="0" smtClean="0"/>
              <a:t>전보 개발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835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가는안상수체" pitchFamily="2" charset="-127"/>
                <a:ea typeface="가는안상수체" pitchFamily="2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가는안상수체" pitchFamily="2" charset="-127"/>
                <a:ea typeface="가는안상수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857248"/>
          </a:xfrm>
        </p:spPr>
        <p:txBody>
          <a:bodyPr/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+mn-ea"/>
                <a:ea typeface="+mn-ea"/>
              </a:defRPr>
            </a:lvl1pPr>
            <a:lvl2pPr>
              <a:defRPr sz="20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1"/>
          </p:nvPr>
        </p:nvSpPr>
        <p:spPr>
          <a:xfrm>
            <a:off x="0" y="0"/>
            <a:ext cx="9144000" cy="428625"/>
          </a:xfrm>
          <a:noFill/>
          <a:ln>
            <a:noFill/>
          </a:ln>
        </p:spPr>
        <p:txBody>
          <a:bodyPr/>
          <a:lstStyle>
            <a:lvl1pPr>
              <a:defRPr sz="1400">
                <a:latin typeface="+mn-ea"/>
                <a:ea typeface="+mn-ea"/>
              </a:defRPr>
            </a:lvl1pPr>
            <a:lvl2pPr algn="l">
              <a:buNone/>
              <a:defRPr sz="16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2"/>
          </p:nvPr>
        </p:nvSpPr>
        <p:spPr>
          <a:xfrm>
            <a:off x="0" y="6286500"/>
            <a:ext cx="9144000" cy="571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 txBox="1">
            <a:spLocks/>
          </p:cNvSpPr>
          <p:nvPr userDrawn="1"/>
        </p:nvSpPr>
        <p:spPr>
          <a:xfrm>
            <a:off x="0" y="6286500"/>
            <a:ext cx="9144000" cy="571500"/>
          </a:xfrm>
          <a:prstGeom prst="rect">
            <a:avLst/>
          </a:prstGeom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Dongduk</a:t>
            </a:r>
            <a:r>
              <a:rPr kumimoji="0" lang="en-US" altLang="ko-KR" sz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 Women's University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Graduate School of Fashion</a:t>
            </a:r>
            <a:endParaRPr kumimoji="0" lang="ko-KR" altLang="en-US" sz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안상수2006가는" pitchFamily="18" charset="-127"/>
                <a:ea typeface="안상수2006가는" pitchFamily="18" charset="-127"/>
              </a:defRPr>
            </a:lvl1pPr>
            <a:lvl2pPr>
              <a:defRPr sz="2400">
                <a:latin typeface="안상수2006가는" pitchFamily="18" charset="-127"/>
                <a:ea typeface="안상수2006가는" pitchFamily="18" charset="-127"/>
              </a:defRPr>
            </a:lvl2pPr>
            <a:lvl3pPr>
              <a:defRPr sz="2000">
                <a:latin typeface="안상수2006가는" pitchFamily="18" charset="-127"/>
                <a:ea typeface="안상수2006가는" pitchFamily="18" charset="-127"/>
              </a:defRPr>
            </a:lvl3pPr>
            <a:lvl4pPr>
              <a:defRPr sz="1800">
                <a:latin typeface="안상수2006가는" pitchFamily="18" charset="-127"/>
                <a:ea typeface="안상수2006가는" pitchFamily="18" charset="-127"/>
              </a:defRPr>
            </a:lvl4pPr>
            <a:lvl5pPr>
              <a:defRPr sz="1800">
                <a:latin typeface="안상수2006가는" pitchFamily="18" charset="-127"/>
                <a:ea typeface="안상수2006가는" pitchFamily="18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가는안상수체" pitchFamily="2" charset="-127"/>
                <a:ea typeface="가는안상수체" pitchFamily="2" charset="-127"/>
              </a:defRPr>
            </a:lvl1pPr>
            <a:lvl2pPr>
              <a:defRPr sz="2400">
                <a:latin typeface="가는안상수체" pitchFamily="2" charset="-127"/>
                <a:ea typeface="가는안상수체" pitchFamily="2" charset="-127"/>
              </a:defRPr>
            </a:lvl2pPr>
            <a:lvl3pPr>
              <a:defRPr sz="2000">
                <a:latin typeface="가는안상수체" pitchFamily="2" charset="-127"/>
                <a:ea typeface="가는안상수체" pitchFamily="2" charset="-127"/>
              </a:defRPr>
            </a:lvl3pPr>
            <a:lvl4pPr>
              <a:defRPr sz="1800">
                <a:latin typeface="가는안상수체" pitchFamily="2" charset="-127"/>
                <a:ea typeface="가는안상수체" pitchFamily="2" charset="-127"/>
              </a:defRPr>
            </a:lvl4pPr>
            <a:lvl5pPr>
              <a:defRPr sz="1800">
                <a:latin typeface="가는안상수체" pitchFamily="2" charset="-127"/>
                <a:ea typeface="가는안상수체" pitchFamily="2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731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50825"/>
            <a:ext cx="9056688" cy="62071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85800" y="1295400"/>
            <a:ext cx="3810000" cy="48006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48006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699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500063"/>
            <a:ext cx="8229600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0" y="6215063"/>
            <a:ext cx="9144000" cy="642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3" r:id="rId3"/>
    <p:sldLayoutId id="2147483814" r:id="rId4"/>
    <p:sldLayoutId id="2147483815" r:id="rId5"/>
    <p:sldLayoutId id="2147483816" r:id="rId6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ea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ctrTitle"/>
          </p:nvPr>
        </p:nvSpPr>
        <p:spPr>
          <a:xfrm>
            <a:off x="571472" y="1857364"/>
            <a:ext cx="8001000" cy="1571625"/>
          </a:xfrm>
        </p:spPr>
        <p:txBody>
          <a:bodyPr/>
          <a:lstStyle/>
          <a:p>
            <a:pPr>
              <a:defRPr/>
            </a:pPr>
            <a:r>
              <a:rPr lang="en-US" altLang="ko-KR" sz="3200" dirty="0" smtClean="0"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altLang="ko-KR" sz="3200" dirty="0" smtClean="0">
                <a:latin typeface="안상수2006가는" pitchFamily="18" charset="-127"/>
                <a:ea typeface="안상수2006가는" pitchFamily="18" charset="-127"/>
              </a:rPr>
            </a:br>
            <a:r>
              <a:rPr lang="en-US" altLang="ko-KR" sz="3200" dirty="0" smtClean="0"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altLang="ko-KR" sz="3200" dirty="0" smtClean="0">
                <a:latin typeface="안상수2006가는" pitchFamily="18" charset="-127"/>
                <a:ea typeface="안상수2006가는" pitchFamily="18" charset="-127"/>
              </a:rPr>
            </a:br>
            <a:r>
              <a:rPr lang="en-US" altLang="ko-KR" sz="3200" dirty="0" smtClean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3200" dirty="0" smtClean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</a:br>
            <a:r>
              <a:rPr lang="ko-KR" altLang="en-US" sz="32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+mj-ea"/>
                <a:ea typeface="+mj-ea"/>
              </a:rPr>
              <a:t>신문의 발전</a:t>
            </a:r>
            <a:r>
              <a:rPr lang="en-US" altLang="ko-KR" sz="4000" dirty="0" smtClean="0"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altLang="ko-KR" sz="4000" dirty="0" smtClean="0">
                <a:latin typeface="안상수2006가는" pitchFamily="18" charset="-127"/>
                <a:ea typeface="안상수2006가는" pitchFamily="18" charset="-127"/>
              </a:rPr>
            </a:b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  <a:latin typeface="안상수2006가는" pitchFamily="18" charset="-127"/>
                <a:ea typeface="안상수2006가는" pitchFamily="18" charset="-127"/>
              </a:rPr>
            </a:br>
            <a:endParaRPr lang="ko-KR" altLang="en-US" dirty="0" smtClean="0">
              <a:solidFill>
                <a:schemeClr val="bg1">
                  <a:lumMod val="65000"/>
                </a:schemeClr>
              </a:solidFill>
              <a:latin typeface="안상수2006가는" pitchFamily="18" charset="-127"/>
              <a:ea typeface="안상수2006가는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857250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Arial Rounded MT Bold" pitchFamily="34" charset="0"/>
                <a:ea typeface="휴먼모음T" pitchFamily="18" charset="-127"/>
              </a:rPr>
              <a:t>1</a:t>
            </a:r>
            <a:r>
              <a:rPr lang="en-US" altLang="ko-KR" dirty="0" smtClean="0">
                <a:latin typeface="Arial Rounded MT Bold" pitchFamily="34" charset="0"/>
                <a:ea typeface="휴먼모음T" pitchFamily="18" charset="-127"/>
              </a:rPr>
              <a:t>. “</a:t>
            </a:r>
            <a:r>
              <a:rPr lang="ko-KR" altLang="en-US" dirty="0" smtClean="0">
                <a:latin typeface="Arial Rounded MT Bold" pitchFamily="34" charset="0"/>
                <a:ea typeface="휴먼모음T" pitchFamily="18" charset="-127"/>
              </a:rPr>
              <a:t>신기한 것을 찾는 광란의 욕망</a:t>
            </a:r>
            <a:r>
              <a:rPr lang="en-US" altLang="ko-KR" dirty="0" smtClean="0">
                <a:latin typeface="Arial Rounded MT Bold" pitchFamily="34" charset="0"/>
                <a:ea typeface="휴먼모음T" pitchFamily="18" charset="-127"/>
              </a:rPr>
              <a:t>”</a:t>
            </a:r>
            <a:endParaRPr lang="en-US" altLang="ko-KR" b="1" dirty="0" smtClean="0"/>
          </a:p>
        </p:txBody>
      </p:sp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571500" y="1571630"/>
            <a:ext cx="8001028" cy="4572014"/>
          </a:xfrm>
        </p:spPr>
        <p:txBody>
          <a:bodyPr/>
          <a:lstStyle/>
          <a:p>
            <a:pPr eaLnBrk="1" hangingPunct="1">
              <a:buFontTx/>
              <a:buChar char="-"/>
            </a:pPr>
            <a:r>
              <a:rPr lang="en-US" altLang="ko-KR" dirty="0" smtClean="0"/>
              <a:t>“</a:t>
            </a:r>
            <a:r>
              <a:rPr lang="ko-KR" altLang="en-US" dirty="0" smtClean="0"/>
              <a:t>가정에서는 부인과 아이들이 먹을 것을 기다리고 있는데 비열한 남자들은 커피하우스에 나와 새로운 소식을 듣고 정치 얘기나 하면서 소일함에 따라 수많은 가정에 심각한 폐해를 끼치고 있다</a:t>
            </a:r>
            <a:r>
              <a:rPr lang="en-US" altLang="ko-KR" dirty="0"/>
              <a:t>” (1712</a:t>
            </a:r>
            <a:r>
              <a:rPr lang="ko-KR" altLang="en-US" dirty="0"/>
              <a:t>년 </a:t>
            </a:r>
            <a:r>
              <a:rPr lang="en-US" altLang="ko-KR" i="1" dirty="0"/>
              <a:t>British Mercury </a:t>
            </a:r>
            <a:r>
              <a:rPr lang="en-US" altLang="ko-KR" dirty="0" smtClean="0"/>
              <a:t>)</a:t>
            </a:r>
          </a:p>
          <a:p>
            <a:pPr eaLnBrk="1" hangingPunct="1">
              <a:buFontTx/>
              <a:buChar char="-"/>
            </a:pPr>
            <a:endParaRPr lang="en-US" altLang="ko-KR" dirty="0"/>
          </a:p>
          <a:p>
            <a:pPr eaLnBrk="1" hangingPunct="1">
              <a:buFontTx/>
              <a:buChar char="-"/>
            </a:pPr>
            <a:r>
              <a:rPr lang="en-US" altLang="ko-KR" dirty="0" smtClean="0"/>
              <a:t>“</a:t>
            </a:r>
            <a:r>
              <a:rPr lang="ko-KR" altLang="en-US" dirty="0" smtClean="0"/>
              <a:t>사람들은 특별한 직업이 없는 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자신의 대부분의 시간을 뭔가 새로운 것에 대해 이야기하고 듣는데 보내고 있다</a:t>
            </a:r>
            <a:r>
              <a:rPr lang="en-US" altLang="ko-KR" dirty="0" smtClean="0"/>
              <a:t>.”</a:t>
            </a:r>
          </a:p>
          <a:p>
            <a:pPr marL="0" indent="0" eaLnBrk="1" hangingPunct="1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(1857</a:t>
            </a:r>
            <a:r>
              <a:rPr lang="ko-KR" altLang="en-US" dirty="0" smtClean="0"/>
              <a:t>년 남아프리카 </a:t>
            </a:r>
            <a:r>
              <a:rPr lang="ko-KR" altLang="en-US" dirty="0" err="1" smtClean="0"/>
              <a:t>줄루</a:t>
            </a:r>
            <a:r>
              <a:rPr lang="ko-KR" altLang="en-US" dirty="0" smtClean="0"/>
              <a:t> </a:t>
            </a:r>
            <a:r>
              <a:rPr lang="ko-KR" altLang="en-US" smtClean="0"/>
              <a:t>족 선교사</a:t>
            </a:r>
            <a:r>
              <a:rPr lang="en-US" altLang="ko-KR" dirty="0" smtClean="0"/>
              <a:t>)</a:t>
            </a:r>
          </a:p>
          <a:p>
            <a:pPr marL="0" indent="0" eaLnBrk="1" hangingPunct="1">
              <a:buNone/>
            </a:pPr>
            <a:endParaRPr lang="en-US" altLang="ko-KR" dirty="0" smtClean="0"/>
          </a:p>
          <a:p>
            <a:pPr eaLnBrk="1" hangingPunct="1">
              <a:buFontTx/>
              <a:buChar char="-"/>
            </a:pPr>
            <a:r>
              <a:rPr lang="en-US" altLang="ko-KR" dirty="0" smtClean="0"/>
              <a:t>“</a:t>
            </a:r>
            <a:r>
              <a:rPr lang="ko-KR" altLang="en-US" dirty="0" smtClean="0"/>
              <a:t>알고 싶어하는 목마른 욕구</a:t>
            </a:r>
            <a:r>
              <a:rPr lang="en-US" altLang="ko-KR" dirty="0" smtClean="0"/>
              <a:t>”</a:t>
            </a:r>
            <a:r>
              <a:rPr lang="ko-KR" altLang="en-US" dirty="0" smtClean="0"/>
              <a:t>를 충족시키기 위해 뉴스를 전한다 </a:t>
            </a:r>
            <a:r>
              <a:rPr lang="en-US" altLang="ko-KR" dirty="0" smtClean="0"/>
              <a:t>(1548</a:t>
            </a:r>
            <a:r>
              <a:rPr lang="ko-KR" altLang="en-US" dirty="0" smtClean="0"/>
              <a:t>년 한 </a:t>
            </a:r>
            <a:r>
              <a:rPr lang="ko-KR" altLang="en-US" dirty="0" err="1" smtClean="0"/>
              <a:t>뉴스북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3247362"/>
      </p:ext>
    </p:extLst>
  </p:cSld>
  <p:clrMapOvr>
    <a:masterClrMapping/>
  </p:clrMapOvr>
  <p:transition advTm="297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857250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+mj-lt"/>
                <a:ea typeface="휴먼모음T" pitchFamily="18" charset="-127"/>
              </a:rPr>
              <a:t>2</a:t>
            </a:r>
            <a:r>
              <a:rPr lang="en-US" altLang="ko-KR" dirty="0" smtClean="0">
                <a:latin typeface="+mj-lt"/>
                <a:ea typeface="휴먼모음T" pitchFamily="18" charset="-127"/>
              </a:rPr>
              <a:t>. </a:t>
            </a:r>
            <a:r>
              <a:rPr lang="ko-KR" altLang="en-US" dirty="0" smtClean="0">
                <a:latin typeface="+mj-lt"/>
                <a:ea typeface="휴먼모음T" pitchFamily="18" charset="-127"/>
              </a:rPr>
              <a:t>신문</a:t>
            </a:r>
            <a:endParaRPr lang="en-US" altLang="ko-KR" b="1" dirty="0" smtClean="0">
              <a:latin typeface="+mj-lt"/>
            </a:endParaRPr>
          </a:p>
        </p:txBody>
      </p:sp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914697" y="1714486"/>
            <a:ext cx="7602638" cy="4572014"/>
          </a:xfrm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신문지를 매체로 하는 언론</a:t>
            </a:r>
            <a:r>
              <a:rPr lang="en-US" altLang="ko-KR" dirty="0" smtClean="0"/>
              <a:t>(</a:t>
            </a:r>
            <a:r>
              <a:rPr lang="ko-KR" altLang="en-US" dirty="0" smtClean="0"/>
              <a:t>사회기관</a:t>
            </a:r>
            <a:r>
              <a:rPr lang="en-US" altLang="ko-KR" dirty="0" smtClean="0"/>
              <a:t>)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뉴스나 정보를 문자와 그림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사진으로 가공</a:t>
            </a:r>
            <a:r>
              <a:rPr lang="en-US" altLang="ko-KR" dirty="0" smtClean="0"/>
              <a:t>,</a:t>
            </a:r>
            <a:r>
              <a:rPr lang="ko-KR" altLang="en-US" dirty="0" smtClean="0"/>
              <a:t> 편집해 독자에게 정기적으로 제공하는 인쇄물</a:t>
            </a:r>
            <a:endParaRPr lang="en-US" altLang="ko-KR" dirty="0" smtClean="0"/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新聞 </a:t>
            </a:r>
            <a:r>
              <a:rPr lang="en-US" altLang="ko-KR" dirty="0" smtClean="0"/>
              <a:t>= ‘</a:t>
            </a:r>
            <a:r>
              <a:rPr lang="ko-KR" altLang="en-US" dirty="0" smtClean="0"/>
              <a:t>새로운 소식을 듣는다</a:t>
            </a:r>
            <a:r>
              <a:rPr lang="en-US" altLang="ko-KR" dirty="0" smtClean="0"/>
              <a:t>’</a:t>
            </a:r>
          </a:p>
          <a:p>
            <a:pPr marL="457200" indent="-457200">
              <a:lnSpc>
                <a:spcPct val="125000"/>
              </a:lnSpc>
              <a:buNone/>
            </a:pPr>
            <a:r>
              <a:rPr lang="en-US" altLang="ko-KR" dirty="0" smtClean="0"/>
              <a:t> 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aphicFrame>
        <p:nvGraphicFramePr>
          <p:cNvPr id="5" name="다이어그램 4"/>
          <p:cNvGraphicFramePr/>
          <p:nvPr>
            <p:extLst>
              <p:ext uri="{D42A27DB-BD31-4B8C-83A1-F6EECF244321}">
                <p14:modId xmlns:p14="http://schemas.microsoft.com/office/powerpoint/2010/main" val="1891783859"/>
              </p:ext>
            </p:extLst>
          </p:nvPr>
        </p:nvGraphicFramePr>
        <p:xfrm>
          <a:off x="1495396" y="263691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1" name="그룹 10"/>
          <p:cNvGrpSpPr/>
          <p:nvPr/>
        </p:nvGrpSpPr>
        <p:grpSpPr>
          <a:xfrm>
            <a:off x="4716016" y="5237714"/>
            <a:ext cx="1601390" cy="960834"/>
            <a:chOff x="4489251" y="1551582"/>
            <a:chExt cx="1601390" cy="960834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4489251" y="1551582"/>
              <a:ext cx="1601390" cy="960834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모서리가 둥근 직사각형 4"/>
            <p:cNvSpPr txBox="1"/>
            <p:nvPr/>
          </p:nvSpPr>
          <p:spPr>
            <a:xfrm>
              <a:off x="4517393" y="1579724"/>
              <a:ext cx="1545106" cy="904550"/>
            </a:xfrm>
            <a:prstGeom prst="rect">
              <a:avLst/>
            </a:prstGeom>
            <a:solidFill>
              <a:srgbClr val="C00000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800" kern="1200" dirty="0" smtClean="0"/>
                <a:t>방송 </a:t>
              </a:r>
              <a:r>
                <a:rPr lang="en-US" altLang="ko-KR" sz="1800" kern="1200" dirty="0" smtClean="0"/>
                <a:t>(</a:t>
              </a:r>
              <a:r>
                <a:rPr lang="ko-KR" altLang="en-US" sz="1800" kern="1200" dirty="0" smtClean="0"/>
                <a:t>라디오</a:t>
              </a:r>
              <a:r>
                <a:rPr lang="en-US" altLang="ko-KR" sz="1800" kern="1200" dirty="0" smtClean="0"/>
                <a:t>, TV)</a:t>
              </a:r>
              <a:endParaRPr lang="ko-KR" altLang="en-US" sz="1800" kern="1200" dirty="0"/>
            </a:p>
          </p:txBody>
        </p:sp>
      </p:grpSp>
      <p:cxnSp>
        <p:nvCxnSpPr>
          <p:cNvPr id="7" name="꺾인 연결선 6"/>
          <p:cNvCxnSpPr/>
          <p:nvPr/>
        </p:nvCxnSpPr>
        <p:spPr>
          <a:xfrm rot="16200000" flipH="1">
            <a:off x="4088618" y="5160102"/>
            <a:ext cx="706874" cy="604206"/>
          </a:xfrm>
          <a:prstGeom prst="bentConnector3">
            <a:avLst>
              <a:gd name="adj1" fmla="val 98699"/>
            </a:avLst>
          </a:prstGeom>
          <a:ln w="38100"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/>
          <p:cNvGrpSpPr/>
          <p:nvPr/>
        </p:nvGrpSpPr>
        <p:grpSpPr>
          <a:xfrm>
            <a:off x="6569467" y="5578691"/>
            <a:ext cx="819247" cy="397144"/>
            <a:chOff x="4008834" y="1833427"/>
            <a:chExt cx="339494" cy="397144"/>
          </a:xfrm>
        </p:grpSpPr>
        <p:sp>
          <p:nvSpPr>
            <p:cNvPr id="19" name="오른쪽 화살표 18"/>
            <p:cNvSpPr/>
            <p:nvPr/>
          </p:nvSpPr>
          <p:spPr>
            <a:xfrm>
              <a:off x="4008834" y="1833427"/>
              <a:ext cx="339494" cy="39714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오른쪽 화살표 4"/>
            <p:cNvSpPr txBox="1"/>
            <p:nvPr/>
          </p:nvSpPr>
          <p:spPr>
            <a:xfrm>
              <a:off x="4008834" y="1912856"/>
              <a:ext cx="237646" cy="2382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889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100" kern="1200"/>
            </a:p>
          </p:txBody>
        </p:sp>
      </p:grpSp>
      <p:cxnSp>
        <p:nvCxnSpPr>
          <p:cNvPr id="21" name="꺾인 연결선 20"/>
          <p:cNvCxnSpPr/>
          <p:nvPr/>
        </p:nvCxnSpPr>
        <p:spPr>
          <a:xfrm flipV="1">
            <a:off x="6321101" y="5108767"/>
            <a:ext cx="572369" cy="446249"/>
          </a:xfrm>
          <a:prstGeom prst="bentConnector3">
            <a:avLst>
              <a:gd name="adj1" fmla="val 100746"/>
            </a:avLst>
          </a:prstGeom>
          <a:ln w="38100"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휴먼모음T" pitchFamily="18" charset="-127"/>
              </a:rPr>
              <a:t>3</a:t>
            </a:r>
            <a:r>
              <a:rPr lang="en-US" altLang="ko-KR" dirty="0" smtClean="0">
                <a:ea typeface="휴먼모음T" pitchFamily="18" charset="-127"/>
              </a:rPr>
              <a:t>. </a:t>
            </a:r>
            <a:r>
              <a:rPr lang="ko-KR" altLang="en-US" dirty="0">
                <a:ea typeface="휴먼모음T" pitchFamily="18" charset="-127"/>
              </a:rPr>
              <a:t>세계 신문의 역사</a:t>
            </a:r>
            <a:endParaRPr lang="ko-KR" altLang="en-US" sz="3200" dirty="0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638" y="1772816"/>
            <a:ext cx="8183562" cy="43231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 smtClean="0"/>
              <a:t>1</a:t>
            </a:r>
            <a:r>
              <a:rPr lang="en-US" altLang="ko-KR" b="1" dirty="0"/>
              <a:t>) </a:t>
            </a:r>
            <a:r>
              <a:rPr lang="ko-KR" altLang="en-US" b="1" dirty="0"/>
              <a:t>근대 이전의 뉴스 전달 매체 </a:t>
            </a:r>
          </a:p>
          <a:p>
            <a:pPr marL="0" indent="0">
              <a:buNone/>
            </a:pPr>
            <a:r>
              <a:rPr lang="ko-KR" altLang="en-US" dirty="0"/>
              <a:t>       </a:t>
            </a:r>
          </a:p>
          <a:p>
            <a:pPr marL="0" indent="0">
              <a:buNone/>
            </a:pPr>
            <a:r>
              <a:rPr lang="ko-KR" altLang="en-US" dirty="0"/>
              <a:t>   </a:t>
            </a:r>
            <a:r>
              <a:rPr lang="en-US" altLang="ko-KR" sz="2200" dirty="0"/>
              <a:t>· </a:t>
            </a:r>
            <a:r>
              <a:rPr lang="en-US" altLang="ko-KR" sz="2200" dirty="0" err="1" smtClean="0"/>
              <a:t>Acta</a:t>
            </a:r>
            <a:r>
              <a:rPr lang="en-US" altLang="ko-KR" sz="2200" dirty="0" smtClean="0"/>
              <a:t> </a:t>
            </a:r>
            <a:r>
              <a:rPr lang="en-US" altLang="ko-KR" sz="2200" dirty="0" err="1" smtClean="0"/>
              <a:t>Publica</a:t>
            </a:r>
            <a:r>
              <a:rPr lang="en-US" altLang="ko-KR" sz="2200" dirty="0" smtClean="0"/>
              <a:t>, 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· </a:t>
            </a:r>
            <a:r>
              <a:rPr lang="en-US" altLang="ko-KR" sz="2200" dirty="0" err="1" smtClean="0"/>
              <a:t>Acta</a:t>
            </a:r>
            <a:r>
              <a:rPr lang="en-US" altLang="ko-KR" sz="2200" dirty="0" smtClean="0"/>
              <a:t> </a:t>
            </a:r>
            <a:r>
              <a:rPr lang="en-US" altLang="ko-KR" sz="2200" dirty="0" err="1" smtClean="0"/>
              <a:t>Diurna</a:t>
            </a:r>
            <a:r>
              <a:rPr lang="en-US" altLang="ko-KR" sz="2200" dirty="0" smtClean="0"/>
              <a:t> </a:t>
            </a:r>
            <a:r>
              <a:rPr lang="en-US" altLang="ko-KR" sz="2200" dirty="0" err="1" smtClean="0"/>
              <a:t>Populi</a:t>
            </a:r>
            <a:r>
              <a:rPr lang="en-US" altLang="ko-KR" sz="2200" dirty="0" smtClean="0"/>
              <a:t> </a:t>
            </a:r>
            <a:r>
              <a:rPr lang="en-US" altLang="ko-KR" sz="2200" dirty="0" smtClean="0"/>
              <a:t>Romani</a:t>
            </a:r>
            <a:r>
              <a:rPr lang="en-US" altLang="ko-KR" sz="2200" dirty="0" smtClean="0"/>
              <a:t>, 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 smtClean="0"/>
              <a:t>   </a:t>
            </a:r>
            <a:r>
              <a:rPr lang="en-US" altLang="ko-KR" sz="2200" dirty="0"/>
              <a:t>·</a:t>
            </a:r>
            <a:r>
              <a:rPr lang="en-US" altLang="ko-KR" sz="2200" dirty="0" smtClean="0"/>
              <a:t> </a:t>
            </a:r>
            <a:r>
              <a:rPr lang="ko-KR" altLang="en-US" sz="2200" dirty="0" err="1" smtClean="0"/>
              <a:t>저보</a:t>
            </a:r>
            <a:r>
              <a:rPr lang="en-US" altLang="ko-KR" sz="2200" dirty="0"/>
              <a:t>(</a:t>
            </a:r>
            <a:r>
              <a:rPr lang="ko-KR" altLang="en-US" sz="2200" dirty="0" err="1"/>
              <a:t>邸報</a:t>
            </a:r>
            <a:r>
              <a:rPr lang="en-US" altLang="ko-KR" sz="2200" dirty="0"/>
              <a:t>) </a:t>
            </a:r>
            <a:r>
              <a:rPr lang="en-US" altLang="ko-KR" sz="2200" dirty="0" smtClean="0"/>
              <a:t>/ </a:t>
            </a:r>
            <a:r>
              <a:rPr lang="ko-KR" altLang="en-US" sz="2200" dirty="0" smtClean="0"/>
              <a:t>朝報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 smtClean="0"/>
              <a:t>      </a:t>
            </a:r>
            <a:r>
              <a:rPr lang="en-US" altLang="ko-KR" sz="2200" dirty="0"/>
              <a:t>(</a:t>
            </a:r>
            <a:r>
              <a:rPr lang="ko-KR" altLang="en-US" sz="2200" dirty="0"/>
              <a:t>약 </a:t>
            </a:r>
            <a:r>
              <a:rPr lang="en-US" altLang="ko-KR" sz="2200" dirty="0"/>
              <a:t>B.C. 100</a:t>
            </a:r>
            <a:r>
              <a:rPr lang="ko-KR" altLang="en-US" sz="2200" dirty="0"/>
              <a:t>년 경</a:t>
            </a:r>
            <a:r>
              <a:rPr lang="en-US" altLang="ko-KR" sz="2200" dirty="0"/>
              <a:t>) 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/>
            </a:r>
            <a:br>
              <a:rPr lang="en-US" altLang="ko-KR" sz="2200" dirty="0"/>
            </a:br>
            <a:r>
              <a:rPr lang="en-US" altLang="ko-KR" sz="2200" dirty="0" smtClean="0"/>
              <a:t>  · </a:t>
            </a:r>
            <a:r>
              <a:rPr lang="ko-KR" altLang="en-US" sz="2200" dirty="0" err="1"/>
              <a:t>음유시인의</a:t>
            </a:r>
            <a:r>
              <a:rPr lang="ko-KR" altLang="en-US" sz="2200" dirty="0"/>
              <a:t> </a:t>
            </a:r>
            <a:r>
              <a:rPr lang="ko-KR" altLang="en-US" sz="2200" dirty="0" err="1"/>
              <a:t>뉴스발라드</a:t>
            </a:r>
            <a:r>
              <a:rPr lang="ko-KR" altLang="en-US" sz="2200" dirty="0"/>
              <a:t> </a:t>
            </a:r>
          </a:p>
          <a:p>
            <a:pPr marL="0" indent="0">
              <a:buNone/>
            </a:pPr>
            <a:r>
              <a:rPr lang="ko-KR" altLang="en-US" sz="2200" dirty="0"/>
              <a:t>       </a:t>
            </a:r>
            <a:r>
              <a:rPr lang="en-US" altLang="ko-KR" sz="2200" dirty="0"/>
              <a:t>-&gt; </a:t>
            </a:r>
            <a:r>
              <a:rPr lang="ko-KR" altLang="en-US" sz="2200" dirty="0"/>
              <a:t>뉴스 </a:t>
            </a:r>
            <a:r>
              <a:rPr lang="ko-KR" altLang="en-US" sz="2200" dirty="0" smtClean="0"/>
              <a:t>발라드</a:t>
            </a:r>
            <a:r>
              <a:rPr lang="en-US" altLang="ko-KR" sz="2200" dirty="0" smtClean="0"/>
              <a:t>(news ballad)</a:t>
            </a:r>
            <a:r>
              <a:rPr lang="en-US" altLang="ko-KR" sz="2200" dirty="0"/>
              <a:t>  </a:t>
            </a:r>
          </a:p>
          <a:p>
            <a:pPr marL="0" indent="0">
              <a:buNone/>
            </a:pPr>
            <a:r>
              <a:rPr lang="en-US" altLang="ko-KR" sz="2200" dirty="0" smtClean="0"/>
              <a:t>           </a:t>
            </a:r>
            <a:r>
              <a:rPr lang="ko-KR" altLang="en-US" sz="2200" dirty="0"/>
              <a:t>뉴스 레터</a:t>
            </a:r>
            <a:r>
              <a:rPr lang="en-US" altLang="ko-KR" sz="2200" dirty="0"/>
              <a:t>, </a:t>
            </a:r>
            <a:r>
              <a:rPr lang="ko-KR" altLang="en-US" sz="2200" dirty="0"/>
              <a:t>뉴스 북 </a:t>
            </a:r>
          </a:p>
        </p:txBody>
      </p:sp>
      <p:pic>
        <p:nvPicPr>
          <p:cNvPr id="126980" name="Picture 4" descr="괴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7" r="10657" b="3526"/>
          <a:stretch>
            <a:fillRect/>
          </a:stretch>
        </p:blipFill>
        <p:spPr bwMode="auto">
          <a:xfrm>
            <a:off x="5220072" y="1389438"/>
            <a:ext cx="3384376" cy="4829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981" name="Picture 5" descr="newsballa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8" y="7893050"/>
            <a:ext cx="1393825" cy="185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39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4859" y="3861048"/>
            <a:ext cx="3143200" cy="504057"/>
          </a:xfrm>
        </p:spPr>
        <p:txBody>
          <a:bodyPr/>
          <a:lstStyle/>
          <a:p>
            <a:pPr marL="0" indent="0"/>
            <a:r>
              <a:rPr lang="en-US" altLang="ko-KR" sz="2000" dirty="0" smtClean="0"/>
              <a:t>1884</a:t>
            </a:r>
            <a:r>
              <a:rPr lang="ko-KR" altLang="en-US" sz="2000" dirty="0" smtClean="0"/>
              <a:t>년 발행된 </a:t>
            </a:r>
            <a:r>
              <a:rPr lang="ko-KR" altLang="en-US" sz="2000" dirty="0" err="1" smtClean="0"/>
              <a:t>조보</a:t>
            </a:r>
            <a:endParaRPr lang="en-US" altLang="ko-KR" sz="2000" dirty="0"/>
          </a:p>
        </p:txBody>
      </p:sp>
      <p:pic>
        <p:nvPicPr>
          <p:cNvPr id="2050" name="Picture 2" descr="https://post-phinf.pstatic.net/MjAxNzA2MzBfMTEx/MDAxNDk4ODA3NTgxMTgw.lvPQewP17axJ4OOS59AQ7FgwO_WEVdVdFv7k8g-ev7wg.2Js9KSFzVgWAYG3dkheWJx71BsNYkBl7F3TJSAx1i3Ug.JPEG/PS01001001011-013546-000-0001.jpg?type=w12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89" y="188640"/>
            <a:ext cx="6815608" cy="3419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 1577년 민간인쇄 &lt;조보&gt; 실물.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188382"/>
            <a:ext cx="3954016" cy="296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63688" y="5517232"/>
            <a:ext cx="328721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kumimoji="0" lang="en-US" altLang="ko-KR" sz="2000" dirty="0" smtClean="0"/>
              <a:t>1577</a:t>
            </a:r>
            <a:r>
              <a:rPr kumimoji="0" lang="ko-KR" altLang="en-US" sz="2000" dirty="0" smtClean="0"/>
              <a:t>년 </a:t>
            </a:r>
            <a:r>
              <a:rPr kumimoji="0" lang="ko-KR" altLang="en-US" sz="2000" dirty="0" err="1" smtClean="0"/>
              <a:t>민간인쇄</a:t>
            </a:r>
            <a:r>
              <a:rPr kumimoji="0" lang="ko-KR" altLang="en-US" sz="2000" dirty="0" smtClean="0"/>
              <a:t> </a:t>
            </a:r>
            <a:r>
              <a:rPr kumimoji="0" lang="ko-KR" altLang="en-US" sz="2000" dirty="0" err="1" smtClean="0"/>
              <a:t>조보</a:t>
            </a:r>
            <a:endParaRPr kumimoji="0"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05646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0688" y="1312863"/>
            <a:ext cx="4722812" cy="4800600"/>
          </a:xfrm>
        </p:spPr>
        <p:txBody>
          <a:bodyPr/>
          <a:lstStyle/>
          <a:p>
            <a:pPr marL="0" indent="0"/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⁂ 1588</a:t>
            </a:r>
            <a:r>
              <a:rPr lang="ko-KR" altLang="en-US" sz="2400" dirty="0"/>
              <a:t>년 영국의 뉴스 발라드 </a:t>
            </a:r>
          </a:p>
          <a:p>
            <a:pPr marL="0" indent="0"/>
            <a:endParaRPr lang="ko-KR" altLang="en-US" sz="2400" dirty="0"/>
          </a:p>
          <a:p>
            <a:pPr marL="0" indent="0">
              <a:buNone/>
            </a:pPr>
            <a:r>
              <a:rPr lang="ko-KR" altLang="en-US" sz="2200" dirty="0"/>
              <a:t>우리 군함의 최고 선장이 진격하니</a:t>
            </a:r>
            <a:r>
              <a:rPr lang="en-US" altLang="ko-KR" sz="2200" dirty="0"/>
              <a:t>, </a:t>
            </a:r>
          </a:p>
          <a:p>
            <a:pPr marL="0" indent="0">
              <a:buNone/>
            </a:pPr>
            <a:r>
              <a:rPr lang="ko-KR" altLang="en-US" sz="2200" dirty="0"/>
              <a:t>적장 </a:t>
            </a:r>
            <a:r>
              <a:rPr lang="ko-KR" altLang="en-US" sz="2200" dirty="0" err="1"/>
              <a:t>휴고</a:t>
            </a:r>
            <a:r>
              <a:rPr lang="ko-KR" altLang="en-US" sz="2200" dirty="0"/>
              <a:t> 데 </a:t>
            </a:r>
            <a:r>
              <a:rPr lang="ko-KR" altLang="en-US" sz="2200" dirty="0" err="1"/>
              <a:t>몬칼도는</a:t>
            </a:r>
            <a:r>
              <a:rPr lang="ko-KR" altLang="en-US" sz="2200" dirty="0"/>
              <a:t> </a:t>
            </a:r>
          </a:p>
          <a:p>
            <a:pPr marL="0" indent="0">
              <a:buNone/>
            </a:pPr>
            <a:r>
              <a:rPr lang="ko-KR" altLang="en-US" sz="2200" dirty="0"/>
              <a:t>이 전투에서 목숨을 잃었네</a:t>
            </a:r>
            <a:r>
              <a:rPr lang="en-US" altLang="ko-KR" sz="2200" dirty="0"/>
              <a:t>. </a:t>
            </a:r>
          </a:p>
          <a:p>
            <a:pPr marL="0" indent="0">
              <a:buNone/>
            </a:pPr>
            <a:r>
              <a:rPr lang="ko-KR" altLang="en-US" sz="2200" dirty="0"/>
              <a:t>위대한 함대를 지휘하던 장군이여</a:t>
            </a:r>
            <a:r>
              <a:rPr lang="en-US" altLang="ko-KR" sz="2200" dirty="0"/>
              <a:t>, </a:t>
            </a:r>
          </a:p>
          <a:p>
            <a:pPr marL="0" indent="0">
              <a:buNone/>
            </a:pPr>
            <a:r>
              <a:rPr lang="ko-KR" altLang="en-US" sz="2200" dirty="0"/>
              <a:t>한 방의 탄알이 강렬하게 </a:t>
            </a:r>
          </a:p>
          <a:p>
            <a:pPr marL="0" indent="0">
              <a:buNone/>
            </a:pPr>
            <a:r>
              <a:rPr lang="ko-KR" altLang="en-US" sz="2200" dirty="0"/>
              <a:t>그의 머리를 뚫고 지나갔네 </a:t>
            </a:r>
            <a:r>
              <a:rPr lang="en-US" altLang="ko-KR" sz="2200" dirty="0"/>
              <a:t>....</a:t>
            </a:r>
            <a:r>
              <a:rPr lang="en-US" altLang="ko-KR" sz="2400" dirty="0"/>
              <a:t> </a:t>
            </a:r>
          </a:p>
        </p:txBody>
      </p:sp>
      <p:pic>
        <p:nvPicPr>
          <p:cNvPr id="128004" name="Picture 4" descr="newsballad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3500" y="1208088"/>
            <a:ext cx="3868738" cy="51577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428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ko-KR" sz="2400" b="1" dirty="0" smtClean="0"/>
              <a:t>2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근대적 신문의 등장 </a:t>
            </a:r>
          </a:p>
          <a:p>
            <a:pPr>
              <a:lnSpc>
                <a:spcPct val="80000"/>
              </a:lnSpc>
            </a:pPr>
            <a:endParaRPr lang="ko-KR" altLang="en-US" sz="24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ko-KR" sz="2400" dirty="0" smtClean="0"/>
              <a:t>• </a:t>
            </a:r>
            <a:r>
              <a:rPr lang="ko-KR" altLang="en-US" sz="2400" dirty="0"/>
              <a:t>등장의 </a:t>
            </a:r>
            <a:r>
              <a:rPr lang="ko-KR" altLang="en-US" sz="2400" dirty="0" smtClean="0"/>
              <a:t>배경 </a:t>
            </a:r>
            <a:endParaRPr lang="ko-KR" altLang="en-US" sz="2400" dirty="0"/>
          </a:p>
          <a:p>
            <a:pPr marL="0" indent="0">
              <a:lnSpc>
                <a:spcPct val="80000"/>
              </a:lnSpc>
              <a:buNone/>
            </a:pPr>
            <a:r>
              <a:rPr lang="ko-KR" altLang="en-US" sz="2400" dirty="0" smtClean="0"/>
              <a:t> </a:t>
            </a:r>
            <a:r>
              <a:rPr lang="ko-KR" altLang="en-US" sz="2400" dirty="0"/>
              <a:t>   </a:t>
            </a:r>
            <a:r>
              <a:rPr lang="en-US" altLang="ko-KR" sz="2400" dirty="0"/>
              <a:t>: </a:t>
            </a:r>
            <a:r>
              <a:rPr lang="ko-KR" altLang="en-US" sz="2400" dirty="0"/>
              <a:t>인쇄술의 발달</a:t>
            </a:r>
            <a:r>
              <a:rPr lang="en-US" altLang="ko-KR" sz="2400" dirty="0"/>
              <a:t>, </a:t>
            </a:r>
            <a:r>
              <a:rPr lang="ko-KR" altLang="en-US" sz="2400" dirty="0"/>
              <a:t>교통</a:t>
            </a:r>
            <a:r>
              <a:rPr lang="en-US" altLang="ko-KR" sz="2400" dirty="0"/>
              <a:t>, </a:t>
            </a:r>
            <a:r>
              <a:rPr lang="ko-KR" altLang="en-US" sz="2400" dirty="0"/>
              <a:t>통신의 발달</a:t>
            </a:r>
            <a:r>
              <a:rPr lang="en-US" altLang="ko-KR" sz="2400" dirty="0"/>
              <a:t>, </a:t>
            </a:r>
            <a:endParaRPr lang="en-US" altLang="ko-KR" sz="24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ko-KR" altLang="en-US" sz="2400" dirty="0" smtClean="0"/>
              <a:t>경제적 </a:t>
            </a:r>
            <a:r>
              <a:rPr lang="ko-KR" altLang="en-US" sz="2400" dirty="0"/>
              <a:t>성장</a:t>
            </a:r>
            <a:r>
              <a:rPr lang="en-US" altLang="ko-KR" sz="2400" dirty="0"/>
              <a:t>, </a:t>
            </a:r>
            <a:r>
              <a:rPr lang="ko-KR" altLang="en-US" sz="2400" dirty="0" smtClean="0"/>
              <a:t>도시화</a:t>
            </a:r>
            <a:r>
              <a:rPr lang="en-US" altLang="ko-KR" sz="2400" dirty="0"/>
              <a:t>, </a:t>
            </a:r>
            <a:r>
              <a:rPr lang="ko-KR" altLang="en-US" sz="2400" dirty="0"/>
              <a:t>언론의 자유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ko-KR" altLang="en-US" sz="2400" dirty="0"/>
              <a:t>    </a:t>
            </a:r>
            <a:r>
              <a:rPr lang="ko-KR" altLang="en-US" sz="2400" dirty="0" smtClean="0"/>
              <a:t> </a:t>
            </a:r>
            <a:endParaRPr lang="en-US" altLang="ko-KR" sz="24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ko-KR" altLang="en-US" sz="2400" dirty="0"/>
              <a:t>  </a:t>
            </a:r>
            <a:r>
              <a:rPr lang="ko-KR" altLang="ko-KR" sz="2400" dirty="0"/>
              <a:t>※</a:t>
            </a:r>
            <a:r>
              <a:rPr lang="en-US" altLang="ko-KR" sz="2400" dirty="0"/>
              <a:t> </a:t>
            </a:r>
            <a:r>
              <a:rPr lang="ko-KR" altLang="en-US" sz="2400" dirty="0"/>
              <a:t>최초의 </a:t>
            </a:r>
            <a:r>
              <a:rPr lang="ko-KR" altLang="en-US" sz="2400" dirty="0" smtClean="0"/>
              <a:t>신문</a:t>
            </a:r>
            <a:r>
              <a:rPr lang="en-US" altLang="ko-KR" sz="2400" dirty="0"/>
              <a:t>: </a:t>
            </a:r>
            <a:endParaRPr lang="en-US" altLang="ko-KR" sz="24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en-US" altLang="ko-KR" sz="2400" dirty="0"/>
              <a:t> </a:t>
            </a:r>
            <a:r>
              <a:rPr lang="ko-KR" altLang="en-US" sz="2400" dirty="0" smtClean="0"/>
              <a:t>   *</a:t>
            </a:r>
            <a:r>
              <a:rPr lang="ko-KR" altLang="en-US" sz="2400" dirty="0"/>
              <a:t> </a:t>
            </a:r>
            <a:r>
              <a:rPr lang="en-US" altLang="ko-KR" sz="2400" dirty="0"/>
              <a:t>1609 </a:t>
            </a:r>
            <a:r>
              <a:rPr lang="en-US" altLang="ko-KR" sz="2400" i="1" dirty="0"/>
              <a:t>Aviso Relation </a:t>
            </a:r>
            <a:r>
              <a:rPr lang="en-US" altLang="ko-KR" sz="2400" i="1" dirty="0" err="1"/>
              <a:t>oder</a:t>
            </a:r>
            <a:r>
              <a:rPr lang="en-US" altLang="ko-KR" sz="2400" i="1" dirty="0"/>
              <a:t> </a:t>
            </a:r>
            <a:r>
              <a:rPr lang="en-US" altLang="ko-KR" sz="2400" i="1" dirty="0" err="1"/>
              <a:t>Zeitung</a:t>
            </a:r>
            <a:r>
              <a:rPr lang="en-US" altLang="ko-KR" sz="2400" dirty="0"/>
              <a:t>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/>
              <a:t>      1</a:t>
            </a:r>
            <a:r>
              <a:rPr lang="ko-KR" altLang="en-US" sz="2400" dirty="0"/>
              <a:t>월 </a:t>
            </a:r>
            <a:r>
              <a:rPr lang="en-US" altLang="ko-KR" sz="2400" dirty="0"/>
              <a:t>4</a:t>
            </a:r>
            <a:r>
              <a:rPr lang="ko-KR" altLang="en-US" sz="2400" dirty="0"/>
              <a:t>일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쾰른</a:t>
            </a:r>
            <a:r>
              <a:rPr lang="ko-KR" altLang="en-US" sz="2400" dirty="0"/>
              <a:t> 발</a:t>
            </a:r>
            <a:r>
              <a:rPr lang="en-US" altLang="ko-KR" sz="2400" dirty="0"/>
              <a:t>.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ko-KR" sz="2400" dirty="0" smtClean="0"/>
              <a:t>       </a:t>
            </a:r>
            <a:r>
              <a:rPr lang="ko-KR" altLang="en-US" sz="2400" dirty="0"/>
              <a:t>암스테르담에서 전하기를</a:t>
            </a:r>
            <a:r>
              <a:rPr lang="en-US" altLang="ko-KR" sz="2400" dirty="0"/>
              <a:t>, </a:t>
            </a:r>
            <a:r>
              <a:rPr lang="ko-KR" altLang="en-US" sz="2400" dirty="0"/>
              <a:t>천둥과 번개를 동반한 폭우가 쏟아지고</a:t>
            </a:r>
            <a:r>
              <a:rPr lang="en-US" altLang="ko-KR" sz="2400" dirty="0"/>
              <a:t>, </a:t>
            </a:r>
            <a:r>
              <a:rPr lang="ko-KR" altLang="en-US" sz="2400" dirty="0"/>
              <a:t>설탕 수백 상자와 수천 </a:t>
            </a:r>
            <a:r>
              <a:rPr lang="ko-KR" altLang="en-US" sz="2400" dirty="0" err="1"/>
              <a:t>레알을</a:t>
            </a:r>
            <a:r>
              <a:rPr lang="ko-KR" altLang="en-US" sz="2400" dirty="0"/>
              <a:t> 실은 배가 좌초되었다고 한다</a:t>
            </a:r>
            <a:r>
              <a:rPr lang="en-US" altLang="ko-KR" sz="2400" dirty="0"/>
              <a:t>.... </a:t>
            </a:r>
            <a:endParaRPr lang="en-US" altLang="ko-KR" sz="24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- </a:t>
            </a:r>
            <a:r>
              <a:rPr lang="ko-KR" altLang="en-US" dirty="0" smtClean="0"/>
              <a:t>독일 </a:t>
            </a:r>
            <a:r>
              <a:rPr lang="ko-KR" altLang="en-US" dirty="0" err="1" smtClean="0"/>
              <a:t>스트라스부르크에서</a:t>
            </a:r>
            <a:r>
              <a:rPr lang="ko-KR" altLang="en-US" dirty="0" smtClean="0"/>
              <a:t> 발간</a:t>
            </a:r>
            <a:endParaRPr lang="en-US" altLang="ko-KR" sz="2400" dirty="0"/>
          </a:p>
        </p:txBody>
      </p:sp>
      <p:pic>
        <p:nvPicPr>
          <p:cNvPr id="1026" name="Picture 2" descr="https://upload.wikimedia.org/wikipedia/de/thumb/e/e8/Aviso_Relation_oder_Zeitung_1609_Titelblatt_%28Gottfried_Wilhelm_Leibniz_Bibliothek%29.jpg/800px-Aviso_Relation_oder_Zeitung_1609_Titelblatt_%28Gottfried_Wilhelm_Leibniz_Bibliothek%2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340768"/>
            <a:ext cx="2071023" cy="260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7232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3675" y="992186"/>
            <a:ext cx="5026025" cy="5029101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ko-KR" b="1" dirty="0" smtClean="0"/>
              <a:t> 3</a:t>
            </a:r>
            <a:r>
              <a:rPr lang="en-US" altLang="ko-KR" b="1" dirty="0"/>
              <a:t>) 18</a:t>
            </a:r>
            <a:r>
              <a:rPr lang="ko-KR" altLang="en-US" b="1" dirty="0"/>
              <a:t>세기 </a:t>
            </a:r>
            <a:r>
              <a:rPr lang="ko-KR" altLang="en-US" b="1" dirty="0" err="1"/>
              <a:t>공론장과</a:t>
            </a:r>
            <a:r>
              <a:rPr lang="ko-KR" altLang="en-US" b="1" dirty="0"/>
              <a:t> 근대 신문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ko-KR" altLang="en-US" sz="2000" dirty="0"/>
              <a:t/>
            </a:r>
            <a:br>
              <a:rPr lang="ko-KR" altLang="en-US" sz="2000" dirty="0"/>
            </a:br>
            <a:r>
              <a:rPr lang="ko-KR" altLang="en-US" sz="2000" dirty="0" smtClean="0"/>
              <a:t>   </a:t>
            </a:r>
            <a:r>
              <a:rPr lang="ko-KR" altLang="en-US" sz="2200" dirty="0" err="1" smtClean="0"/>
              <a:t>공론장</a:t>
            </a:r>
            <a:r>
              <a:rPr lang="ko-KR" altLang="en-US" sz="2200" dirty="0" smtClean="0"/>
              <a:t> </a:t>
            </a:r>
            <a:r>
              <a:rPr lang="en-US" altLang="ko-KR" sz="2200" dirty="0"/>
              <a:t>(</a:t>
            </a:r>
            <a:r>
              <a:rPr lang="ko-KR" altLang="en-US" sz="2200" dirty="0" err="1"/>
              <a:t>공공영역</a:t>
            </a:r>
            <a:r>
              <a:rPr lang="en-US" altLang="ko-KR" sz="2200" dirty="0"/>
              <a:t>: public sphere) (</a:t>
            </a:r>
            <a:r>
              <a:rPr lang="en-US" altLang="ko-KR" sz="2200" dirty="0" err="1"/>
              <a:t>Habermas</a:t>
            </a:r>
            <a:r>
              <a:rPr lang="en-US" altLang="ko-KR" sz="2200" dirty="0"/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ko-KR" sz="2200" dirty="0"/>
              <a:t>   : </a:t>
            </a:r>
            <a:r>
              <a:rPr lang="ko-KR" altLang="en-US" sz="2200" dirty="0"/>
              <a:t>사적 개인들이 모여 공적 문제를 논의하는 장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ko-KR" altLang="en-US" sz="2200" dirty="0"/>
              <a:t> </a:t>
            </a:r>
            <a:r>
              <a:rPr lang="en-US" altLang="ko-KR" sz="2200" dirty="0"/>
              <a:t>- </a:t>
            </a:r>
            <a:r>
              <a:rPr lang="ko-KR" altLang="en-US" sz="2200" dirty="0"/>
              <a:t>카페</a:t>
            </a:r>
            <a:r>
              <a:rPr lang="en-US" altLang="ko-KR" sz="2200" dirty="0"/>
              <a:t>, </a:t>
            </a:r>
            <a:r>
              <a:rPr lang="ko-KR" altLang="en-US" sz="2200" dirty="0" err="1"/>
              <a:t>커피하우스</a:t>
            </a:r>
            <a:r>
              <a:rPr lang="ko-KR" altLang="en-US" sz="2200" dirty="0"/>
              <a:t> </a:t>
            </a:r>
            <a:r>
              <a:rPr lang="en-US" altLang="ko-KR" sz="2200" dirty="0"/>
              <a:t>+ </a:t>
            </a:r>
            <a:r>
              <a:rPr lang="ko-KR" altLang="en-US" sz="2200" dirty="0"/>
              <a:t>신문 </a:t>
            </a:r>
            <a:r>
              <a:rPr lang="en-US" altLang="ko-KR" sz="2200" dirty="0"/>
              <a:t>(18c </a:t>
            </a:r>
            <a:r>
              <a:rPr lang="ko-KR" altLang="en-US" sz="2200" dirty="0"/>
              <a:t>유럽</a:t>
            </a:r>
            <a:r>
              <a:rPr lang="en-US" altLang="ko-KR" sz="2200" dirty="0"/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ko-KR" sz="2200" dirty="0"/>
              <a:t>  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ko-KR" sz="2200" dirty="0"/>
              <a:t>   ※ </a:t>
            </a:r>
            <a:r>
              <a:rPr lang="ko-KR" altLang="en-US" sz="2200" dirty="0"/>
              <a:t>신문의 역할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ko-KR" altLang="en-US" sz="2200" dirty="0" smtClean="0"/>
              <a:t> </a:t>
            </a:r>
            <a:r>
              <a:rPr lang="ko-KR" altLang="en-US" sz="2200" dirty="0"/>
              <a:t> </a:t>
            </a:r>
            <a:r>
              <a:rPr lang="en-US" altLang="ko-KR" sz="2200" dirty="0"/>
              <a:t>: </a:t>
            </a:r>
            <a:r>
              <a:rPr lang="ko-KR" altLang="en-US" sz="2200" dirty="0"/>
              <a:t>왕의 조치와 의회의 결의에 대한 </a:t>
            </a:r>
            <a:endParaRPr lang="en-US" altLang="ko-KR" sz="2200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</a:t>
            </a:r>
            <a:r>
              <a:rPr lang="ko-KR" altLang="en-US" sz="2200" dirty="0" smtClean="0"/>
              <a:t>항시적 비판과 </a:t>
            </a:r>
            <a:r>
              <a:rPr lang="ko-KR" altLang="en-US" sz="2200" dirty="0" smtClean="0"/>
              <a:t>감시 </a:t>
            </a:r>
            <a:endParaRPr lang="ko-KR" altLang="en-US" sz="2200" dirty="0"/>
          </a:p>
          <a:p>
            <a:pPr marL="0" indent="0">
              <a:lnSpc>
                <a:spcPct val="90000"/>
              </a:lnSpc>
              <a:buNone/>
            </a:pPr>
            <a:r>
              <a:rPr lang="ko-KR" altLang="en-US" sz="2200" dirty="0"/>
              <a:t>  </a:t>
            </a:r>
            <a:r>
              <a:rPr lang="en-US" altLang="ko-KR" sz="2200" dirty="0" smtClean="0">
                <a:sym typeface="Wingdings" panose="05000000000000000000" pitchFamily="2" charset="2"/>
              </a:rPr>
              <a:t></a:t>
            </a:r>
            <a:r>
              <a:rPr lang="en-US" altLang="ko-KR" sz="2200" dirty="0" smtClean="0"/>
              <a:t> </a:t>
            </a:r>
            <a:r>
              <a:rPr lang="ko-KR" altLang="en-US" sz="2200" dirty="0"/>
              <a:t>공권력의 성격 변화</a:t>
            </a:r>
            <a:r>
              <a:rPr lang="en-US" altLang="ko-KR" sz="2200" dirty="0"/>
              <a:t>: </a:t>
            </a:r>
            <a:endParaRPr lang="en-US" altLang="ko-KR" sz="2200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               </a:t>
            </a:r>
            <a:r>
              <a:rPr lang="ko-KR" altLang="en-US" sz="2200" dirty="0" err="1" smtClean="0"/>
              <a:t>공적임</a:t>
            </a:r>
            <a:r>
              <a:rPr lang="ko-KR" altLang="en-US" sz="2200" dirty="0" smtClean="0"/>
              <a:t> </a:t>
            </a:r>
            <a:r>
              <a:rPr lang="en-US" altLang="ko-KR" sz="2200" dirty="0"/>
              <a:t>+ </a:t>
            </a:r>
            <a:r>
              <a:rPr lang="ko-KR" altLang="en-US" sz="2200" dirty="0" err="1"/>
              <a:t>공개성</a:t>
            </a:r>
            <a:r>
              <a:rPr lang="ko-KR" altLang="en-US" sz="2200" dirty="0"/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ko-KR" altLang="en-US" sz="2200" dirty="0"/>
              <a:t> </a:t>
            </a:r>
            <a:r>
              <a:rPr lang="ko-KR" altLang="en-US" sz="2200" dirty="0" smtClean="0"/>
              <a:t> </a:t>
            </a:r>
            <a:r>
              <a:rPr lang="en-US" altLang="ko-KR" sz="2200" dirty="0" smtClean="0">
                <a:sym typeface="Wingdings" panose="05000000000000000000" pitchFamily="2" charset="2"/>
              </a:rPr>
              <a:t></a:t>
            </a:r>
            <a:r>
              <a:rPr lang="en-US" altLang="ko-KR" sz="2200" dirty="0" smtClean="0"/>
              <a:t> </a:t>
            </a:r>
            <a:r>
              <a:rPr lang="ko-KR" altLang="en-US" sz="2200" dirty="0"/>
              <a:t>의회</a:t>
            </a:r>
            <a:r>
              <a:rPr lang="en-US" altLang="ko-KR" sz="2200" dirty="0"/>
              <a:t>, </a:t>
            </a:r>
            <a:r>
              <a:rPr lang="ko-KR" altLang="en-US" sz="2200" dirty="0"/>
              <a:t>여론에 점점 더 반응적인 됨</a:t>
            </a:r>
            <a:r>
              <a:rPr lang="en-US" altLang="ko-KR" sz="2200" dirty="0"/>
              <a:t>. </a:t>
            </a:r>
          </a:p>
        </p:txBody>
      </p:sp>
      <p:pic>
        <p:nvPicPr>
          <p:cNvPr id="130052" name="Picture 4" descr="가제트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lum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5" t="3625" r="5704" b="8749"/>
          <a:stretch>
            <a:fillRect/>
          </a:stretch>
        </p:blipFill>
        <p:spPr>
          <a:xfrm>
            <a:off x="5580112" y="548680"/>
            <a:ext cx="2981883" cy="418087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해 3"/>
          <p:cNvSpPr/>
          <p:nvPr/>
        </p:nvSpPr>
        <p:spPr>
          <a:xfrm>
            <a:off x="251520" y="1700808"/>
            <a:ext cx="214314" cy="214314"/>
          </a:xfrm>
          <a:prstGeom prst="sun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41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2" name="Picture 4" descr="07-매현-커피하우스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871538"/>
            <a:ext cx="8877300" cy="4943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5626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altLang="ko-KR" sz="2400" dirty="0">
                <a:solidFill>
                  <a:srgbClr val="282828"/>
                </a:solidFill>
                <a:latin typeface="Times New Roman"/>
              </a:rPr>
              <a:t> </a:t>
            </a:r>
            <a:r>
              <a:rPr lang="en-US" altLang="ko-KR" sz="2400" b="1" dirty="0" smtClean="0">
                <a:solidFill>
                  <a:srgbClr val="282828"/>
                </a:solidFill>
              </a:rPr>
              <a:t>4</a:t>
            </a:r>
            <a:r>
              <a:rPr lang="en-US" altLang="ko-KR" sz="2400" b="1" dirty="0">
                <a:solidFill>
                  <a:srgbClr val="282828"/>
                </a:solidFill>
              </a:rPr>
              <a:t>) </a:t>
            </a:r>
            <a:r>
              <a:rPr lang="ko-KR" altLang="en-US" sz="2400" b="1" dirty="0" err="1">
                <a:solidFill>
                  <a:srgbClr val="282828"/>
                </a:solidFill>
              </a:rPr>
              <a:t>대중지의</a:t>
            </a:r>
            <a:r>
              <a:rPr lang="ko-KR" altLang="en-US" sz="2400" b="1" dirty="0">
                <a:solidFill>
                  <a:srgbClr val="282828"/>
                </a:solidFill>
              </a:rPr>
              <a:t> 출현</a:t>
            </a:r>
            <a:r>
              <a:rPr lang="ko-KR" altLang="en-US" sz="2400" b="1" dirty="0">
                <a:solidFill>
                  <a:srgbClr val="1B372D"/>
                </a:solidFill>
              </a:rPr>
              <a:t> </a:t>
            </a:r>
          </a:p>
          <a:p>
            <a:pPr algn="just">
              <a:lnSpc>
                <a:spcPct val="90000"/>
              </a:lnSpc>
            </a:pPr>
            <a:endParaRPr lang="ko-KR" altLang="en-US" sz="2200" dirty="0">
              <a:solidFill>
                <a:srgbClr val="282828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>
                <a:solidFill>
                  <a:srgbClr val="282828"/>
                </a:solidFill>
                <a:latin typeface="Times New Roman"/>
              </a:rPr>
              <a:t>·</a:t>
            </a:r>
            <a:r>
              <a:rPr lang="en-US" altLang="ko-KR" sz="2200" dirty="0">
                <a:solidFill>
                  <a:srgbClr val="282828"/>
                </a:solidFill>
              </a:rPr>
              <a:t> </a:t>
            </a:r>
            <a:r>
              <a:rPr lang="ko-KR" altLang="en-US" sz="2200" dirty="0">
                <a:solidFill>
                  <a:srgbClr val="282828"/>
                </a:solidFill>
              </a:rPr>
              <a:t>등장 배경</a:t>
            </a:r>
            <a:r>
              <a:rPr lang="en-US" altLang="ko-KR" sz="2200" dirty="0">
                <a:solidFill>
                  <a:srgbClr val="282828"/>
                </a:solidFill>
              </a:rPr>
              <a:t>: </a:t>
            </a:r>
            <a:r>
              <a:rPr lang="ko-KR" altLang="en-US" sz="2200" dirty="0">
                <a:solidFill>
                  <a:srgbClr val="282828"/>
                </a:solidFill>
              </a:rPr>
              <a:t>산업화</a:t>
            </a:r>
            <a:r>
              <a:rPr lang="en-US" altLang="ko-KR" sz="2200" dirty="0">
                <a:solidFill>
                  <a:srgbClr val="282828"/>
                </a:solidFill>
              </a:rPr>
              <a:t>, </a:t>
            </a:r>
            <a:r>
              <a:rPr lang="ko-KR" altLang="en-US" sz="2200" dirty="0">
                <a:solidFill>
                  <a:srgbClr val="282828"/>
                </a:solidFill>
              </a:rPr>
              <a:t>도시화의 진전</a:t>
            </a:r>
            <a:r>
              <a:rPr lang="en-US" altLang="ko-KR" sz="2200" dirty="0">
                <a:solidFill>
                  <a:srgbClr val="282828"/>
                </a:solidFill>
              </a:rPr>
              <a:t>, </a:t>
            </a:r>
            <a:r>
              <a:rPr lang="ko-KR" altLang="en-US" sz="2200" dirty="0">
                <a:solidFill>
                  <a:srgbClr val="282828"/>
                </a:solidFill>
              </a:rPr>
              <a:t>언론 자유 증대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ko-KR" altLang="en-US" sz="2200" dirty="0" smtClean="0">
                <a:solidFill>
                  <a:srgbClr val="282828"/>
                </a:solidFill>
              </a:rPr>
              <a:t>  </a:t>
            </a:r>
            <a:r>
              <a:rPr lang="ko-KR" altLang="en-US" sz="2200" dirty="0" err="1">
                <a:solidFill>
                  <a:srgbClr val="282828"/>
                </a:solidFill>
              </a:rPr>
              <a:t>문자해독능력</a:t>
            </a:r>
            <a:r>
              <a:rPr lang="ko-KR" altLang="en-US" sz="2200" dirty="0">
                <a:solidFill>
                  <a:srgbClr val="282828"/>
                </a:solidFill>
              </a:rPr>
              <a:t> 향상</a:t>
            </a:r>
            <a:r>
              <a:rPr lang="en-US" altLang="ko-KR" sz="2200" dirty="0">
                <a:solidFill>
                  <a:srgbClr val="282828"/>
                </a:solidFill>
              </a:rPr>
              <a:t>, </a:t>
            </a:r>
            <a:r>
              <a:rPr lang="ko-KR" altLang="en-US" sz="2200" dirty="0">
                <a:solidFill>
                  <a:srgbClr val="282828"/>
                </a:solidFill>
              </a:rPr>
              <a:t>인쇄술의 발달</a:t>
            </a:r>
            <a:r>
              <a:rPr lang="en-US" altLang="ko-KR" sz="2200" dirty="0">
                <a:solidFill>
                  <a:srgbClr val="282828"/>
                </a:solidFill>
              </a:rPr>
              <a:t>, </a:t>
            </a:r>
            <a:r>
              <a:rPr lang="ko-KR" altLang="en-US" sz="2200" dirty="0">
                <a:solidFill>
                  <a:srgbClr val="282828"/>
                </a:solidFill>
              </a:rPr>
              <a:t>교통</a:t>
            </a:r>
            <a:r>
              <a:rPr lang="en-US" altLang="ko-KR" sz="2200" dirty="0">
                <a:solidFill>
                  <a:srgbClr val="282828"/>
                </a:solidFill>
              </a:rPr>
              <a:t>,</a:t>
            </a:r>
            <a:r>
              <a:rPr lang="ko-KR" altLang="en-US" sz="2200" dirty="0">
                <a:solidFill>
                  <a:srgbClr val="282828"/>
                </a:solidFill>
              </a:rPr>
              <a:t>통신의 발달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 smtClean="0">
                <a:solidFill>
                  <a:srgbClr val="282828"/>
                </a:solidFill>
                <a:latin typeface="Times New Roman"/>
              </a:rPr>
              <a:t> </a:t>
            </a:r>
            <a:r>
              <a:rPr lang="en-US" altLang="ko-KR" sz="2200" dirty="0">
                <a:solidFill>
                  <a:srgbClr val="282828"/>
                </a:solidFill>
                <a:latin typeface="Times New Roman"/>
              </a:rPr>
              <a:t>   </a:t>
            </a:r>
            <a:r>
              <a:rPr lang="en-US" altLang="ko-KR" sz="2200" dirty="0">
                <a:solidFill>
                  <a:srgbClr val="282828"/>
                </a:solidFill>
              </a:rPr>
              <a:t>- 1833</a:t>
            </a:r>
            <a:r>
              <a:rPr lang="ko-KR" altLang="en-US" sz="2200" dirty="0">
                <a:solidFill>
                  <a:srgbClr val="282828"/>
                </a:solidFill>
              </a:rPr>
              <a:t>년 </a:t>
            </a:r>
            <a:r>
              <a:rPr lang="en-US" altLang="ko-KR" sz="2200" i="1" dirty="0">
                <a:solidFill>
                  <a:srgbClr val="282828"/>
                </a:solidFill>
              </a:rPr>
              <a:t>New York Sun</a:t>
            </a:r>
            <a:r>
              <a:rPr lang="en-US" altLang="ko-KR" sz="2200" dirty="0">
                <a:solidFill>
                  <a:srgbClr val="282828"/>
                </a:solidFill>
              </a:rPr>
              <a:t> </a:t>
            </a:r>
          </a:p>
          <a:p>
            <a:pPr algn="just">
              <a:lnSpc>
                <a:spcPct val="90000"/>
              </a:lnSpc>
            </a:pPr>
            <a:endParaRPr lang="ko-KR" altLang="en-US" sz="2200" dirty="0">
              <a:solidFill>
                <a:srgbClr val="282828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>
                <a:solidFill>
                  <a:srgbClr val="282828"/>
                </a:solidFill>
                <a:latin typeface="Times New Roman"/>
              </a:rPr>
              <a:t>·</a:t>
            </a:r>
            <a:r>
              <a:rPr lang="en-US" altLang="ko-KR" sz="2200" dirty="0">
                <a:solidFill>
                  <a:srgbClr val="282828"/>
                </a:solidFill>
              </a:rPr>
              <a:t> </a:t>
            </a:r>
            <a:r>
              <a:rPr lang="ko-KR" altLang="en-US" sz="2200" dirty="0">
                <a:solidFill>
                  <a:srgbClr val="282828"/>
                </a:solidFill>
              </a:rPr>
              <a:t>황색 저널리즘</a:t>
            </a:r>
            <a:r>
              <a:rPr lang="en-US" altLang="ko-KR" sz="2200" dirty="0">
                <a:solidFill>
                  <a:srgbClr val="282828"/>
                </a:solidFill>
              </a:rPr>
              <a:t>(Yellow Journalism)</a:t>
            </a:r>
            <a:r>
              <a:rPr lang="en-US" altLang="ko-KR" sz="2200" dirty="0">
                <a:solidFill>
                  <a:srgbClr val="282828"/>
                </a:solidFill>
                <a:latin typeface="Times New Roman"/>
              </a:rPr>
              <a:t> </a:t>
            </a:r>
            <a:r>
              <a:rPr lang="en-US" altLang="ko-KR" sz="2200" dirty="0">
                <a:solidFill>
                  <a:srgbClr val="282828"/>
                </a:solidFill>
              </a:rPr>
              <a:t>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>
                <a:solidFill>
                  <a:srgbClr val="282828"/>
                </a:solidFill>
                <a:latin typeface="Times New Roman"/>
              </a:rPr>
              <a:t>    </a:t>
            </a:r>
            <a:r>
              <a:rPr lang="en-US" altLang="ko-KR" sz="2200" dirty="0">
                <a:solidFill>
                  <a:srgbClr val="282828"/>
                </a:solidFill>
              </a:rPr>
              <a:t>: </a:t>
            </a:r>
            <a:r>
              <a:rPr lang="ko-KR" altLang="en-US" sz="2200" dirty="0" smtClean="0">
                <a:solidFill>
                  <a:srgbClr val="282828"/>
                </a:solidFill>
              </a:rPr>
              <a:t>섹스와 폭력</a:t>
            </a:r>
            <a:r>
              <a:rPr lang="en-US" altLang="ko-KR" sz="2200" dirty="0" smtClean="0">
                <a:solidFill>
                  <a:srgbClr val="282828"/>
                </a:solidFill>
              </a:rPr>
              <a:t>, </a:t>
            </a:r>
            <a:r>
              <a:rPr lang="ko-KR" altLang="en-US" sz="2200" dirty="0" smtClean="0">
                <a:solidFill>
                  <a:srgbClr val="282828"/>
                </a:solidFill>
              </a:rPr>
              <a:t>진기한 이야기</a:t>
            </a:r>
            <a:r>
              <a:rPr lang="en-US" altLang="ko-KR" sz="2200" dirty="0" smtClean="0">
                <a:solidFill>
                  <a:srgbClr val="282828"/>
                </a:solidFill>
              </a:rPr>
              <a:t>, </a:t>
            </a:r>
            <a:r>
              <a:rPr lang="ko-KR" altLang="en-US" sz="2200" dirty="0" smtClean="0">
                <a:solidFill>
                  <a:srgbClr val="282828"/>
                </a:solidFill>
              </a:rPr>
              <a:t>미담 기사 등 흥미 </a:t>
            </a:r>
            <a:r>
              <a:rPr lang="ko-KR" altLang="en-US" sz="2200" dirty="0">
                <a:solidFill>
                  <a:srgbClr val="282828"/>
                </a:solidFill>
              </a:rPr>
              <a:t>위주의 </a:t>
            </a:r>
            <a:r>
              <a:rPr lang="ko-KR" altLang="en-US" sz="2200" dirty="0" smtClean="0">
                <a:solidFill>
                  <a:srgbClr val="282828"/>
                </a:solidFill>
              </a:rPr>
              <a:t>뉴스를 전하는 신문 </a:t>
            </a:r>
            <a:endParaRPr lang="en-US" altLang="ko-KR" sz="2200" dirty="0" smtClean="0">
              <a:solidFill>
                <a:srgbClr val="282828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 smtClean="0">
                <a:solidFill>
                  <a:srgbClr val="282828"/>
                </a:solidFill>
                <a:latin typeface="Times New Roman"/>
              </a:rPr>
              <a:t>  </a:t>
            </a:r>
            <a:r>
              <a:rPr lang="en-US" altLang="ko-KR" sz="2200" dirty="0">
                <a:solidFill>
                  <a:srgbClr val="282828"/>
                </a:solidFill>
                <a:latin typeface="Times New Roman"/>
              </a:rPr>
              <a:t> </a:t>
            </a:r>
            <a:r>
              <a:rPr lang="en-US" altLang="ko-KR" sz="2200" dirty="0">
                <a:solidFill>
                  <a:srgbClr val="282828"/>
                </a:solidFill>
              </a:rPr>
              <a:t>-</a:t>
            </a:r>
            <a:r>
              <a:rPr lang="en-US" altLang="ko-KR" sz="2200" dirty="0">
                <a:solidFill>
                  <a:srgbClr val="282828"/>
                </a:solidFill>
                <a:latin typeface="Times New Roman"/>
              </a:rPr>
              <a:t> </a:t>
            </a:r>
            <a:r>
              <a:rPr lang="en-US" altLang="ko-KR" sz="2200" dirty="0">
                <a:solidFill>
                  <a:srgbClr val="282828"/>
                </a:solidFill>
              </a:rPr>
              <a:t> </a:t>
            </a:r>
            <a:r>
              <a:rPr lang="en-US" altLang="ko-KR" sz="2200" i="1" dirty="0">
                <a:solidFill>
                  <a:srgbClr val="282828"/>
                </a:solidFill>
              </a:rPr>
              <a:t>New York World</a:t>
            </a:r>
            <a:r>
              <a:rPr lang="en-US" altLang="ko-KR" sz="2200" dirty="0">
                <a:solidFill>
                  <a:srgbClr val="282828"/>
                </a:solidFill>
                <a:latin typeface="Times New Roman"/>
              </a:rPr>
              <a:t> </a:t>
            </a:r>
            <a:r>
              <a:rPr lang="en-US" altLang="ko-KR" sz="2200" dirty="0">
                <a:solidFill>
                  <a:srgbClr val="282828"/>
                </a:solidFill>
              </a:rPr>
              <a:t> </a:t>
            </a:r>
            <a:r>
              <a:rPr lang="en-US" altLang="ko-KR" sz="2200" dirty="0" smtClean="0">
                <a:solidFill>
                  <a:srgbClr val="282828"/>
                </a:solidFill>
                <a:sym typeface="Wingdings" panose="05000000000000000000" pitchFamily="2" charset="2"/>
              </a:rPr>
              <a:t></a:t>
            </a:r>
            <a:r>
              <a:rPr lang="en-US" altLang="ko-KR" sz="2200" dirty="0" smtClean="0">
                <a:solidFill>
                  <a:srgbClr val="282828"/>
                </a:solidFill>
              </a:rPr>
              <a:t> </a:t>
            </a:r>
            <a:r>
              <a:rPr lang="en-US" altLang="ko-KR" sz="2200" i="1" dirty="0">
                <a:solidFill>
                  <a:srgbClr val="282828"/>
                </a:solidFill>
              </a:rPr>
              <a:t>New York Journal</a:t>
            </a:r>
            <a:r>
              <a:rPr lang="en-US" altLang="ko-KR" sz="2200" dirty="0">
                <a:solidFill>
                  <a:srgbClr val="282828"/>
                </a:solidFill>
              </a:rPr>
              <a:t> </a:t>
            </a:r>
            <a:r>
              <a:rPr lang="ko-KR" altLang="en-US" sz="2200" dirty="0">
                <a:solidFill>
                  <a:srgbClr val="282828"/>
                </a:solidFill>
              </a:rPr>
              <a:t>의 </a:t>
            </a:r>
            <a:r>
              <a:rPr lang="ko-KR" altLang="en-US" sz="2200" dirty="0" smtClean="0">
                <a:solidFill>
                  <a:srgbClr val="282828"/>
                </a:solidFill>
              </a:rPr>
              <a:t>경쟁</a:t>
            </a:r>
            <a:endParaRPr lang="en-US" altLang="ko-KR" sz="2200" dirty="0" smtClean="0">
              <a:solidFill>
                <a:srgbClr val="282828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 smtClean="0">
                <a:solidFill>
                  <a:srgbClr val="282828"/>
                </a:solidFill>
              </a:rPr>
              <a:t>  - </a:t>
            </a:r>
            <a:r>
              <a:rPr lang="ko-KR" altLang="en-US" sz="2200" dirty="0" smtClean="0">
                <a:solidFill>
                  <a:srgbClr val="282828"/>
                </a:solidFill>
              </a:rPr>
              <a:t>상업주의적 선정적 언론의 대명사</a:t>
            </a:r>
            <a:endParaRPr lang="en-US" altLang="ko-KR" sz="2200" dirty="0">
              <a:solidFill>
                <a:srgbClr val="282828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 smtClean="0">
                <a:solidFill>
                  <a:srgbClr val="282828"/>
                </a:solidFill>
              </a:rPr>
              <a:t>  - </a:t>
            </a:r>
            <a:r>
              <a:rPr lang="ko-KR" altLang="en-US" sz="2200" dirty="0" smtClean="0">
                <a:solidFill>
                  <a:srgbClr val="282828"/>
                </a:solidFill>
              </a:rPr>
              <a:t>저널리즘에 활기와 생동감을 불어넣음</a:t>
            </a:r>
            <a:endParaRPr lang="en-US" altLang="ko-KR" sz="2200" dirty="0" smtClean="0">
              <a:solidFill>
                <a:srgbClr val="282828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>
                <a:solidFill>
                  <a:srgbClr val="282828"/>
                </a:solidFill>
              </a:rPr>
              <a:t> </a:t>
            </a:r>
            <a:r>
              <a:rPr lang="en-US" altLang="ko-KR" sz="2200" dirty="0" smtClean="0">
                <a:solidFill>
                  <a:srgbClr val="282828"/>
                </a:solidFill>
              </a:rPr>
              <a:t>     </a:t>
            </a:r>
            <a:r>
              <a:rPr lang="ko-KR" altLang="en-US" sz="2200" dirty="0" smtClean="0">
                <a:solidFill>
                  <a:srgbClr val="282828"/>
                </a:solidFill>
              </a:rPr>
              <a:t>빈민층 옹호와 권력 비리 폭로</a:t>
            </a:r>
            <a:endParaRPr lang="en-US" altLang="ko-KR" sz="2200" dirty="0" smtClean="0">
              <a:solidFill>
                <a:srgbClr val="282828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 smtClean="0">
                <a:solidFill>
                  <a:srgbClr val="282828"/>
                </a:solidFill>
              </a:rPr>
              <a:t>      </a:t>
            </a:r>
            <a:r>
              <a:rPr lang="ko-KR" altLang="en-US" sz="2200" dirty="0" smtClean="0">
                <a:solidFill>
                  <a:srgbClr val="282828"/>
                </a:solidFill>
              </a:rPr>
              <a:t>사진과</a:t>
            </a:r>
            <a:r>
              <a:rPr lang="en-US" altLang="ko-KR" sz="2200" dirty="0" smtClean="0">
                <a:solidFill>
                  <a:srgbClr val="282828"/>
                </a:solidFill>
              </a:rPr>
              <a:t> </a:t>
            </a:r>
            <a:r>
              <a:rPr lang="ko-KR" altLang="en-US" sz="2200" dirty="0" smtClean="0">
                <a:solidFill>
                  <a:srgbClr val="282828"/>
                </a:solidFill>
              </a:rPr>
              <a:t>그래픽을 중시하는 </a:t>
            </a:r>
            <a:r>
              <a:rPr lang="ko-KR" altLang="en-US" sz="2200" dirty="0" err="1" smtClean="0">
                <a:solidFill>
                  <a:srgbClr val="282828"/>
                </a:solidFill>
              </a:rPr>
              <a:t>편집양식</a:t>
            </a:r>
            <a:r>
              <a:rPr lang="ko-KR" altLang="en-US" sz="2200" dirty="0" smtClean="0">
                <a:solidFill>
                  <a:srgbClr val="282828"/>
                </a:solidFill>
              </a:rPr>
              <a:t> 확립</a:t>
            </a:r>
            <a:endParaRPr lang="en-US" altLang="ko-KR" sz="2200" dirty="0">
              <a:solidFill>
                <a:srgbClr val="282828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>
                <a:solidFill>
                  <a:srgbClr val="282828"/>
                </a:solidFill>
              </a:rPr>
              <a:t>    </a:t>
            </a:r>
            <a:r>
              <a:rPr lang="en-US" altLang="ko-KR" sz="2400" dirty="0">
                <a:solidFill>
                  <a:srgbClr val="282828"/>
                </a:solidFill>
                <a:latin typeface="Times New Roman"/>
              </a:rPr>
              <a:t>      </a:t>
            </a:r>
            <a:r>
              <a:rPr lang="en-US" altLang="ko-KR" sz="2000" dirty="0">
                <a:solidFill>
                  <a:srgbClr val="282828"/>
                </a:solidFill>
                <a:latin typeface="Times New Roman"/>
              </a:rPr>
              <a:t> </a:t>
            </a:r>
            <a:endParaRPr lang="en-US" altLang="ko-KR" sz="2000" dirty="0">
              <a:solidFill>
                <a:srgbClr val="282828"/>
              </a:solidFill>
            </a:endParaRPr>
          </a:p>
        </p:txBody>
      </p:sp>
      <p:sp>
        <p:nvSpPr>
          <p:cNvPr id="3" name="해 2"/>
          <p:cNvSpPr/>
          <p:nvPr/>
        </p:nvSpPr>
        <p:spPr>
          <a:xfrm>
            <a:off x="464778" y="3284984"/>
            <a:ext cx="214314" cy="214314"/>
          </a:xfrm>
          <a:prstGeom prst="sun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950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00063"/>
            <a:ext cx="6275040" cy="917575"/>
          </a:xfrm>
        </p:spPr>
        <p:txBody>
          <a:bodyPr/>
          <a:lstStyle/>
          <a:p>
            <a:r>
              <a:rPr lang="en-US" altLang="ko-KR" sz="2400" b="1" dirty="0" smtClean="0"/>
              <a:t>      &lt;</a:t>
            </a:r>
            <a:r>
              <a:rPr lang="ko-KR" altLang="en-US" sz="2400" b="1" dirty="0" smtClean="0"/>
              <a:t>뉴욕 월드</a:t>
            </a:r>
            <a:r>
              <a:rPr lang="en-US" altLang="ko-KR" sz="2400" b="1" dirty="0" smtClean="0"/>
              <a:t>&gt;</a:t>
            </a:r>
            <a:r>
              <a:rPr lang="ko-KR" altLang="en-US" sz="2400" b="1" dirty="0" smtClean="0"/>
              <a:t>의 </a:t>
            </a:r>
            <a:r>
              <a:rPr lang="ko-KR" altLang="en-US" sz="2400" b="1" dirty="0" err="1" smtClean="0"/>
              <a:t>선정주의적</a:t>
            </a:r>
            <a:r>
              <a:rPr lang="ko-KR" altLang="en-US" sz="2400" b="1" dirty="0" smtClean="0"/>
              <a:t> 보도 사례</a:t>
            </a:r>
            <a:endParaRPr lang="ko-KR" altLang="en-US" sz="2400" b="1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414" y="1567505"/>
            <a:ext cx="3599652" cy="4525963"/>
          </a:xfrm>
        </p:spPr>
      </p:pic>
      <p:pic>
        <p:nvPicPr>
          <p:cNvPr id="1026" name="Picture 2" descr="https://upload.wikimedia.org/wikipedia/commons/e/e8/World9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67239"/>
            <a:ext cx="3597028" cy="472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달 7"/>
          <p:cNvSpPr/>
          <p:nvPr/>
        </p:nvSpPr>
        <p:spPr>
          <a:xfrm>
            <a:off x="1115616" y="908720"/>
            <a:ext cx="142876" cy="214314"/>
          </a:xfrm>
          <a:prstGeom prst="moon">
            <a:avLst/>
          </a:prstGeom>
          <a:solidFill>
            <a:srgbClr val="FF0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34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smtClean="0"/>
              <a:t>뉴욕 저널의 </a:t>
            </a:r>
            <a:r>
              <a:rPr lang="ko-KR" altLang="en-US" sz="2400" b="1" dirty="0" err="1" smtClean="0"/>
              <a:t>옐로우</a:t>
            </a:r>
            <a:r>
              <a:rPr lang="ko-KR" altLang="en-US" sz="2400" b="1" dirty="0" smtClean="0"/>
              <a:t> 키드</a:t>
            </a:r>
            <a:endParaRPr lang="ko-KR" altLang="en-US" sz="2400" b="1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5705" y="1600200"/>
            <a:ext cx="6592590" cy="4525963"/>
          </a:xfrm>
          <a:prstGeom prst="rect">
            <a:avLst/>
          </a:prstGeom>
        </p:spPr>
      </p:pic>
      <p:sp>
        <p:nvSpPr>
          <p:cNvPr id="5" name="달 4"/>
          <p:cNvSpPr/>
          <p:nvPr/>
        </p:nvSpPr>
        <p:spPr>
          <a:xfrm>
            <a:off x="2699792" y="851693"/>
            <a:ext cx="142876" cy="214314"/>
          </a:xfrm>
          <a:prstGeom prst="moon">
            <a:avLst/>
          </a:prstGeom>
          <a:solidFill>
            <a:srgbClr val="FF0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206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980728"/>
            <a:ext cx="7848872" cy="5145435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ko-KR" sz="2200" dirty="0" smtClean="0">
                <a:solidFill>
                  <a:srgbClr val="2828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20</a:t>
            </a:r>
            <a:r>
              <a:rPr lang="ko-KR" altLang="en-US" sz="2200" dirty="0" smtClean="0">
                <a:solidFill>
                  <a:srgbClr val="2828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세기 초 책임 있는 언론</a:t>
            </a:r>
            <a:r>
              <a:rPr lang="en-US" altLang="ko-KR" sz="2200" dirty="0" smtClean="0">
                <a:solidFill>
                  <a:srgbClr val="2828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(responsible journalism)</a:t>
            </a:r>
            <a:r>
              <a:rPr lang="ko-KR" altLang="en-US" sz="2200" dirty="0" smtClean="0">
                <a:solidFill>
                  <a:srgbClr val="2828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의 부상</a:t>
            </a:r>
            <a:r>
              <a:rPr lang="en-US" altLang="ko-KR" sz="2200" dirty="0" smtClean="0">
                <a:solidFill>
                  <a:srgbClr val="2828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lang="en-US" altLang="ko-KR" sz="2200" dirty="0" smtClean="0">
                <a:solidFill>
                  <a:srgbClr val="282828"/>
                </a:solidFill>
                <a:latin typeface="Times New Roman"/>
              </a:rPr>
              <a:t> - </a:t>
            </a:r>
            <a:r>
              <a:rPr lang="ko-KR" altLang="en-US" sz="2200" dirty="0" smtClean="0">
                <a:solidFill>
                  <a:srgbClr val="282828"/>
                </a:solidFill>
                <a:latin typeface="Times New Roman"/>
              </a:rPr>
              <a:t>민주주의 구현을 위해 사회에 </a:t>
            </a:r>
            <a:r>
              <a:rPr lang="ko-KR" altLang="en-US" sz="2200" dirty="0" err="1" smtClean="0">
                <a:solidFill>
                  <a:srgbClr val="282828"/>
                </a:solidFill>
                <a:latin typeface="Times New Roman"/>
              </a:rPr>
              <a:t>책임있는</a:t>
            </a:r>
            <a:r>
              <a:rPr lang="ko-KR" altLang="en-US" sz="2200" dirty="0" smtClean="0">
                <a:solidFill>
                  <a:srgbClr val="282828"/>
                </a:solidFill>
                <a:latin typeface="Times New Roman"/>
              </a:rPr>
              <a:t> 보도를 해야 한다는 인식 형성</a:t>
            </a:r>
            <a:endParaRPr lang="en-US" altLang="ko-KR" sz="2200" dirty="0" smtClean="0">
              <a:solidFill>
                <a:srgbClr val="282828"/>
              </a:solidFill>
              <a:latin typeface="Times New Roman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lang="en-US" altLang="ko-KR" sz="2200" dirty="0" smtClean="0">
                <a:solidFill>
                  <a:srgbClr val="282828"/>
                </a:solidFill>
                <a:latin typeface="Times New Roman"/>
              </a:rPr>
              <a:t> - </a:t>
            </a:r>
            <a:r>
              <a:rPr lang="ko-KR" altLang="en-US" sz="2200" dirty="0" smtClean="0">
                <a:solidFill>
                  <a:srgbClr val="282828"/>
                </a:solidFill>
                <a:latin typeface="Times New Roman"/>
              </a:rPr>
              <a:t>선정적인 보도를 반성하고</a:t>
            </a:r>
            <a:r>
              <a:rPr lang="en-US" altLang="ko-KR" sz="2200" dirty="0" smtClean="0">
                <a:solidFill>
                  <a:srgbClr val="282828"/>
                </a:solidFill>
                <a:latin typeface="Times New Roman"/>
              </a:rPr>
              <a:t>, </a:t>
            </a:r>
            <a:r>
              <a:rPr lang="ko-KR" altLang="en-US" sz="2200" dirty="0" smtClean="0">
                <a:solidFill>
                  <a:srgbClr val="282828"/>
                </a:solidFill>
                <a:latin typeface="Times New Roman"/>
              </a:rPr>
              <a:t>권력 감시</a:t>
            </a:r>
            <a:r>
              <a:rPr lang="en-US" altLang="ko-KR" sz="2200" dirty="0" smtClean="0">
                <a:solidFill>
                  <a:srgbClr val="282828"/>
                </a:solidFill>
                <a:latin typeface="Times New Roman"/>
              </a:rPr>
              <a:t>, </a:t>
            </a:r>
            <a:r>
              <a:rPr lang="ko-KR" altLang="en-US" sz="2200" dirty="0" smtClean="0">
                <a:solidFill>
                  <a:srgbClr val="282828"/>
                </a:solidFill>
                <a:latin typeface="Times New Roman"/>
              </a:rPr>
              <a:t>객관적인 보도</a:t>
            </a:r>
            <a:r>
              <a:rPr lang="en-US" altLang="ko-KR" sz="2200" dirty="0" smtClean="0">
                <a:solidFill>
                  <a:srgbClr val="282828"/>
                </a:solidFill>
                <a:latin typeface="Times New Roman"/>
              </a:rPr>
              <a:t>, </a:t>
            </a:r>
            <a:r>
              <a:rPr lang="ko-KR" altLang="en-US" sz="2200" dirty="0" smtClean="0">
                <a:solidFill>
                  <a:srgbClr val="282828"/>
                </a:solidFill>
                <a:latin typeface="Times New Roman"/>
              </a:rPr>
              <a:t>상업적 이해관계로부터 독립</a:t>
            </a:r>
            <a:r>
              <a:rPr lang="en-US" altLang="ko-KR" sz="2200" dirty="0" smtClean="0">
                <a:solidFill>
                  <a:srgbClr val="282828"/>
                </a:solidFill>
                <a:latin typeface="Times New Roman"/>
              </a:rPr>
              <a:t>, </a:t>
            </a:r>
            <a:r>
              <a:rPr lang="ko-KR" altLang="en-US" sz="2200" dirty="0" smtClean="0">
                <a:solidFill>
                  <a:srgbClr val="282828"/>
                </a:solidFill>
                <a:latin typeface="Times New Roman"/>
              </a:rPr>
              <a:t>탐사 보도 등을 추구</a:t>
            </a:r>
            <a:endParaRPr lang="en-US" altLang="ko-KR" sz="2200" dirty="0" smtClean="0">
              <a:solidFill>
                <a:srgbClr val="282828"/>
              </a:solidFill>
              <a:latin typeface="Times New Roman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 smtClean="0">
                <a:solidFill>
                  <a:srgbClr val="282828"/>
                </a:solidFill>
                <a:latin typeface="Times New Roman"/>
              </a:rPr>
              <a:t>  </a:t>
            </a:r>
            <a:r>
              <a:rPr lang="ko-KR" altLang="en-US" sz="2200" dirty="0" smtClean="0">
                <a:solidFill>
                  <a:srgbClr val="282828"/>
                </a:solidFill>
                <a:latin typeface="Times New Roman"/>
              </a:rPr>
              <a:t>예</a:t>
            </a:r>
            <a:r>
              <a:rPr lang="en-US" altLang="ko-KR" sz="2200" dirty="0" smtClean="0">
                <a:solidFill>
                  <a:srgbClr val="282828"/>
                </a:solidFill>
                <a:latin typeface="Times New Roman"/>
              </a:rPr>
              <a:t>) &lt;</a:t>
            </a:r>
            <a:r>
              <a:rPr lang="ko-KR" altLang="en-US" sz="2200" dirty="0" err="1" smtClean="0">
                <a:solidFill>
                  <a:srgbClr val="282828"/>
                </a:solidFill>
                <a:latin typeface="Times New Roman"/>
              </a:rPr>
              <a:t>뉴욕타임즈</a:t>
            </a:r>
            <a:r>
              <a:rPr lang="en-US" altLang="ko-KR" sz="2200" dirty="0" smtClean="0">
                <a:solidFill>
                  <a:srgbClr val="282828"/>
                </a:solidFill>
                <a:latin typeface="Times New Roman"/>
              </a:rPr>
              <a:t>&gt;, &lt;</a:t>
            </a:r>
            <a:r>
              <a:rPr lang="ko-KR" altLang="en-US" sz="2200" dirty="0" smtClean="0">
                <a:solidFill>
                  <a:srgbClr val="282828"/>
                </a:solidFill>
                <a:latin typeface="Times New Roman"/>
              </a:rPr>
              <a:t>시카고 트리뷴</a:t>
            </a:r>
            <a:r>
              <a:rPr lang="en-US" altLang="ko-KR" sz="2200" dirty="0" smtClean="0">
                <a:solidFill>
                  <a:srgbClr val="282828"/>
                </a:solidFill>
                <a:latin typeface="Times New Roman"/>
              </a:rPr>
              <a:t>&gt;, &lt;</a:t>
            </a:r>
            <a:r>
              <a:rPr lang="ko-KR" altLang="en-US" sz="2200" dirty="0" smtClean="0">
                <a:solidFill>
                  <a:srgbClr val="282828"/>
                </a:solidFill>
                <a:latin typeface="Times New Roman"/>
              </a:rPr>
              <a:t>워싱턴 포스트</a:t>
            </a:r>
            <a:r>
              <a:rPr lang="en-US" altLang="ko-KR" sz="2200" dirty="0" smtClean="0">
                <a:solidFill>
                  <a:srgbClr val="282828"/>
                </a:solidFill>
                <a:latin typeface="Times New Roman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605215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14153</TotalTime>
  <Words>324</Words>
  <Application>Microsoft Office PowerPoint</Application>
  <PresentationFormat>화면 슬라이드 쇼(4:3)</PresentationFormat>
  <Paragraphs>96</Paragraphs>
  <Slides>13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가는안상수체</vt:lpstr>
      <vt:lpstr>굴림</vt:lpstr>
      <vt:lpstr>맑은 고딕</vt:lpstr>
      <vt:lpstr>안상수2006가는</vt:lpstr>
      <vt:lpstr>휴먼모음T</vt:lpstr>
      <vt:lpstr>Arial</vt:lpstr>
      <vt:lpstr>Arial Rounded MT Bold</vt:lpstr>
      <vt:lpstr>Times New Roman</vt:lpstr>
      <vt:lpstr>Wingdings</vt:lpstr>
      <vt:lpstr>Office 테마</vt:lpstr>
      <vt:lpstr>   신문의 발전  </vt:lpstr>
      <vt:lpstr>1. “신기한 것을 찾는 광란의 욕망”</vt:lpstr>
      <vt:lpstr>2. 신문</vt:lpstr>
      <vt:lpstr>3. 세계 신문의 역사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     &lt;뉴욕 월드&gt;의 선정주의적 보도 사례</vt:lpstr>
      <vt:lpstr>뉴욕 저널의 옐로우 키드</vt:lpstr>
      <vt:lpstr>PowerPoint 프레젠테이션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미디어 효과이론</dc:title>
  <dc:creator>이범준</dc:creator>
  <cp:lastModifiedBy>Windows 사용자</cp:lastModifiedBy>
  <cp:revision>802</cp:revision>
  <dcterms:created xsi:type="dcterms:W3CDTF">2009-03-15T10:41:15Z</dcterms:created>
  <dcterms:modified xsi:type="dcterms:W3CDTF">2025-09-29T11:48:44Z</dcterms:modified>
</cp:coreProperties>
</file>